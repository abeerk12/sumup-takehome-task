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7" r:id="rId4"/>
    <p:sldId id="278" r:id="rId5"/>
    <p:sldId id="272" r:id="rId6"/>
    <p:sldId id="273" r:id="rId7"/>
    <p:sldId id="275" r:id="rId8"/>
    <p:sldId id="27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6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687783-6B5A-47F2-BB4A-FB9CE2D206D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D4427A-0F80-4077-B7B0-B684EF428F5A}">
      <dgm:prSet/>
      <dgm:spPr/>
      <dgm:t>
        <a:bodyPr/>
        <a:lstStyle/>
        <a:p>
          <a:r>
            <a:rPr lang="en-US" dirty="0"/>
            <a:t>Operate in quarterly cycles with clear targets on 7-day recontact rate, FCR, CSAT (where available), cost per interaction, channel mix and SLA adherence.</a:t>
          </a:r>
        </a:p>
      </dgm:t>
    </dgm:pt>
    <dgm:pt modelId="{36710384-9BD6-4A57-A8E5-7A496A8EDD32}" type="parTrans" cxnId="{FB2F7879-C9B1-4985-9DAF-9204A4FB148F}">
      <dgm:prSet/>
      <dgm:spPr/>
      <dgm:t>
        <a:bodyPr/>
        <a:lstStyle/>
        <a:p>
          <a:endParaRPr lang="en-US"/>
        </a:p>
      </dgm:t>
    </dgm:pt>
    <dgm:pt modelId="{8988EAD1-E03D-4408-B26D-FD962053CE57}" type="sibTrans" cxnId="{FB2F7879-C9B1-4985-9DAF-9204A4FB148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837B913F-287E-4444-A2F6-9BECEFD1073B}">
      <dgm:prSet/>
      <dgm:spPr/>
      <dgm:t>
        <a:bodyPr/>
        <a:lstStyle/>
        <a:p>
          <a:r>
            <a:rPr lang="en-US"/>
            <a:t>Slice performance by country, channel, product, provider, skill and language so we can see where specific teams or flows need attention.</a:t>
          </a:r>
        </a:p>
      </dgm:t>
    </dgm:pt>
    <dgm:pt modelId="{788B7D00-6BE7-442A-9406-ED7D150EFD0D}" type="parTrans" cxnId="{AD12E126-22A7-432A-8B46-A8FED3AE483B}">
      <dgm:prSet/>
      <dgm:spPr/>
      <dgm:t>
        <a:bodyPr/>
        <a:lstStyle/>
        <a:p>
          <a:endParaRPr lang="en-US"/>
        </a:p>
      </dgm:t>
    </dgm:pt>
    <dgm:pt modelId="{C070E9B7-0CAB-4172-A0A7-1B9320D86EFE}" type="sibTrans" cxnId="{AD12E126-22A7-432A-8B46-A8FED3AE483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0784927-17FE-4B80-AFB8-78A2D43203F2}">
      <dgm:prSet/>
      <dgm:spPr/>
      <dgm:t>
        <a:bodyPr/>
        <a:lstStyle/>
        <a:p>
          <a:r>
            <a:rPr lang="en-US" dirty="0"/>
            <a:t>Use a standard review pack (like the Dec 2024 views) each quarter to track trends in quality, demand and cost consistently across markets.</a:t>
          </a:r>
        </a:p>
      </dgm:t>
    </dgm:pt>
    <dgm:pt modelId="{90450F50-7E63-4479-B2C4-7013EB129045}" type="parTrans" cxnId="{6B1D4D19-D89F-4237-9982-9DE796674D0F}">
      <dgm:prSet/>
      <dgm:spPr/>
      <dgm:t>
        <a:bodyPr/>
        <a:lstStyle/>
        <a:p>
          <a:endParaRPr lang="en-US"/>
        </a:p>
      </dgm:t>
    </dgm:pt>
    <dgm:pt modelId="{9F396114-DFF6-469D-AF83-7188820CC458}" type="sibTrans" cxnId="{6B1D4D19-D89F-4237-9982-9DE796674D0F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C611992-4AE5-4A89-9D13-5800B750CC9E}" type="pres">
      <dgm:prSet presAssocID="{95687783-6B5A-47F2-BB4A-FB9CE2D206D5}" presName="Name0" presStyleCnt="0">
        <dgm:presLayoutVars>
          <dgm:animLvl val="lvl"/>
          <dgm:resizeHandles val="exact"/>
        </dgm:presLayoutVars>
      </dgm:prSet>
      <dgm:spPr/>
    </dgm:pt>
    <dgm:pt modelId="{77E80DDE-BAAD-4518-B14A-33894536D1FF}" type="pres">
      <dgm:prSet presAssocID="{CCD4427A-0F80-4077-B7B0-B684EF428F5A}" presName="compositeNode" presStyleCnt="0">
        <dgm:presLayoutVars>
          <dgm:bulletEnabled val="1"/>
        </dgm:presLayoutVars>
      </dgm:prSet>
      <dgm:spPr/>
    </dgm:pt>
    <dgm:pt modelId="{678E9B16-CD25-4D0D-AD6C-E6FB3ACFA890}" type="pres">
      <dgm:prSet presAssocID="{CCD4427A-0F80-4077-B7B0-B684EF428F5A}" presName="bgRect" presStyleLbl="alignNode1" presStyleIdx="0" presStyleCnt="3"/>
      <dgm:spPr/>
    </dgm:pt>
    <dgm:pt modelId="{7EB5D795-D478-42AA-97B4-F3D973DC36AB}" type="pres">
      <dgm:prSet presAssocID="{8988EAD1-E03D-4408-B26D-FD962053CE5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2C8048D-675D-4FD9-9E99-C5617500A6D5}" type="pres">
      <dgm:prSet presAssocID="{CCD4427A-0F80-4077-B7B0-B684EF428F5A}" presName="nodeRect" presStyleLbl="alignNode1" presStyleIdx="0" presStyleCnt="3">
        <dgm:presLayoutVars>
          <dgm:bulletEnabled val="1"/>
        </dgm:presLayoutVars>
      </dgm:prSet>
      <dgm:spPr/>
    </dgm:pt>
    <dgm:pt modelId="{A35D81D4-2F78-433B-AA58-92BAE657C0C0}" type="pres">
      <dgm:prSet presAssocID="{8988EAD1-E03D-4408-B26D-FD962053CE57}" presName="sibTrans" presStyleCnt="0"/>
      <dgm:spPr/>
    </dgm:pt>
    <dgm:pt modelId="{1537151E-25BB-49A9-853F-350BDE0A9851}" type="pres">
      <dgm:prSet presAssocID="{837B913F-287E-4444-A2F6-9BECEFD1073B}" presName="compositeNode" presStyleCnt="0">
        <dgm:presLayoutVars>
          <dgm:bulletEnabled val="1"/>
        </dgm:presLayoutVars>
      </dgm:prSet>
      <dgm:spPr/>
    </dgm:pt>
    <dgm:pt modelId="{E8CB352A-10BA-4131-BA7C-A80A314D9F0E}" type="pres">
      <dgm:prSet presAssocID="{837B913F-287E-4444-A2F6-9BECEFD1073B}" presName="bgRect" presStyleLbl="alignNode1" presStyleIdx="1" presStyleCnt="3"/>
      <dgm:spPr/>
    </dgm:pt>
    <dgm:pt modelId="{8F1BF23C-7468-4F1E-9349-520DDF1F1B58}" type="pres">
      <dgm:prSet presAssocID="{C070E9B7-0CAB-4172-A0A7-1B9320D86EF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14E0FBB2-A375-4AD4-9548-3216D478B361}" type="pres">
      <dgm:prSet presAssocID="{837B913F-287E-4444-A2F6-9BECEFD1073B}" presName="nodeRect" presStyleLbl="alignNode1" presStyleIdx="1" presStyleCnt="3">
        <dgm:presLayoutVars>
          <dgm:bulletEnabled val="1"/>
        </dgm:presLayoutVars>
      </dgm:prSet>
      <dgm:spPr/>
    </dgm:pt>
    <dgm:pt modelId="{55164ADA-065D-4E0F-8A26-3BA0C21EC330}" type="pres">
      <dgm:prSet presAssocID="{C070E9B7-0CAB-4172-A0A7-1B9320D86EFE}" presName="sibTrans" presStyleCnt="0"/>
      <dgm:spPr/>
    </dgm:pt>
    <dgm:pt modelId="{891BEEBE-74CE-46C5-A242-FEDFF6114193}" type="pres">
      <dgm:prSet presAssocID="{F0784927-17FE-4B80-AFB8-78A2D43203F2}" presName="compositeNode" presStyleCnt="0">
        <dgm:presLayoutVars>
          <dgm:bulletEnabled val="1"/>
        </dgm:presLayoutVars>
      </dgm:prSet>
      <dgm:spPr/>
    </dgm:pt>
    <dgm:pt modelId="{6C7C49EB-D220-49FE-B475-664F0C20934A}" type="pres">
      <dgm:prSet presAssocID="{F0784927-17FE-4B80-AFB8-78A2D43203F2}" presName="bgRect" presStyleLbl="alignNode1" presStyleIdx="2" presStyleCnt="3"/>
      <dgm:spPr/>
    </dgm:pt>
    <dgm:pt modelId="{33A2CF63-2239-4EE4-98EA-0B4AB1131FF9}" type="pres">
      <dgm:prSet presAssocID="{9F396114-DFF6-469D-AF83-7188820CC458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20DAE829-F80A-4D1A-A3B1-8998EB186DB4}" type="pres">
      <dgm:prSet presAssocID="{F0784927-17FE-4B80-AFB8-78A2D43203F2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A8D1F02-DDA6-4607-861B-74DE8B47BB4B}" type="presOf" srcId="{F0784927-17FE-4B80-AFB8-78A2D43203F2}" destId="{6C7C49EB-D220-49FE-B475-664F0C20934A}" srcOrd="0" destOrd="0" presId="urn:microsoft.com/office/officeart/2016/7/layout/LinearBlockProcessNumbered"/>
    <dgm:cxn modelId="{3629E311-7B64-4E45-8CFA-120C68BC9088}" type="presOf" srcId="{CCD4427A-0F80-4077-B7B0-B684EF428F5A}" destId="{678E9B16-CD25-4D0D-AD6C-E6FB3ACFA890}" srcOrd="0" destOrd="0" presId="urn:microsoft.com/office/officeart/2016/7/layout/LinearBlockProcessNumbered"/>
    <dgm:cxn modelId="{6B1D4D19-D89F-4237-9982-9DE796674D0F}" srcId="{95687783-6B5A-47F2-BB4A-FB9CE2D206D5}" destId="{F0784927-17FE-4B80-AFB8-78A2D43203F2}" srcOrd="2" destOrd="0" parTransId="{90450F50-7E63-4479-B2C4-7013EB129045}" sibTransId="{9F396114-DFF6-469D-AF83-7188820CC458}"/>
    <dgm:cxn modelId="{674BFD25-1A1D-4E6E-9151-569549C8CE2C}" type="presOf" srcId="{CCD4427A-0F80-4077-B7B0-B684EF428F5A}" destId="{82C8048D-675D-4FD9-9E99-C5617500A6D5}" srcOrd="1" destOrd="0" presId="urn:microsoft.com/office/officeart/2016/7/layout/LinearBlockProcessNumbered"/>
    <dgm:cxn modelId="{AD12E126-22A7-432A-8B46-A8FED3AE483B}" srcId="{95687783-6B5A-47F2-BB4A-FB9CE2D206D5}" destId="{837B913F-287E-4444-A2F6-9BECEFD1073B}" srcOrd="1" destOrd="0" parTransId="{788B7D00-6BE7-442A-9406-ED7D150EFD0D}" sibTransId="{C070E9B7-0CAB-4172-A0A7-1B9320D86EFE}"/>
    <dgm:cxn modelId="{F151EF31-5774-4D4E-8563-045DF552FB47}" type="presOf" srcId="{95687783-6B5A-47F2-BB4A-FB9CE2D206D5}" destId="{5C611992-4AE5-4A89-9D13-5800B750CC9E}" srcOrd="0" destOrd="0" presId="urn:microsoft.com/office/officeart/2016/7/layout/LinearBlockProcessNumbered"/>
    <dgm:cxn modelId="{184DA840-9E1D-40AF-8973-3DEE7D5DC404}" type="presOf" srcId="{9F396114-DFF6-469D-AF83-7188820CC458}" destId="{33A2CF63-2239-4EE4-98EA-0B4AB1131FF9}" srcOrd="0" destOrd="0" presId="urn:microsoft.com/office/officeart/2016/7/layout/LinearBlockProcessNumbered"/>
    <dgm:cxn modelId="{3394025F-9B00-461F-B55C-D78519593637}" type="presOf" srcId="{8988EAD1-E03D-4408-B26D-FD962053CE57}" destId="{7EB5D795-D478-42AA-97B4-F3D973DC36AB}" srcOrd="0" destOrd="0" presId="urn:microsoft.com/office/officeart/2016/7/layout/LinearBlockProcessNumbered"/>
    <dgm:cxn modelId="{65A3CA6E-7867-42B8-BA8C-17536782DFB9}" type="presOf" srcId="{F0784927-17FE-4B80-AFB8-78A2D43203F2}" destId="{20DAE829-F80A-4D1A-A3B1-8998EB186DB4}" srcOrd="1" destOrd="0" presId="urn:microsoft.com/office/officeart/2016/7/layout/LinearBlockProcessNumbered"/>
    <dgm:cxn modelId="{90B13750-2C31-4373-86CD-2FA1955E9C2F}" type="presOf" srcId="{C070E9B7-0CAB-4172-A0A7-1B9320D86EFE}" destId="{8F1BF23C-7468-4F1E-9349-520DDF1F1B58}" srcOrd="0" destOrd="0" presId="urn:microsoft.com/office/officeart/2016/7/layout/LinearBlockProcessNumbered"/>
    <dgm:cxn modelId="{FB2F7879-C9B1-4985-9DAF-9204A4FB148F}" srcId="{95687783-6B5A-47F2-BB4A-FB9CE2D206D5}" destId="{CCD4427A-0F80-4077-B7B0-B684EF428F5A}" srcOrd="0" destOrd="0" parTransId="{36710384-9BD6-4A57-A8E5-7A496A8EDD32}" sibTransId="{8988EAD1-E03D-4408-B26D-FD962053CE57}"/>
    <dgm:cxn modelId="{88357AB9-8ABD-40B1-9325-ACD74D4C9272}" type="presOf" srcId="{837B913F-287E-4444-A2F6-9BECEFD1073B}" destId="{E8CB352A-10BA-4131-BA7C-A80A314D9F0E}" srcOrd="0" destOrd="0" presId="urn:microsoft.com/office/officeart/2016/7/layout/LinearBlockProcessNumbered"/>
    <dgm:cxn modelId="{2C3D61F9-FBD7-4885-8239-AB85C871C709}" type="presOf" srcId="{837B913F-287E-4444-A2F6-9BECEFD1073B}" destId="{14E0FBB2-A375-4AD4-9548-3216D478B361}" srcOrd="1" destOrd="0" presId="urn:microsoft.com/office/officeart/2016/7/layout/LinearBlockProcessNumbered"/>
    <dgm:cxn modelId="{1398A799-5E08-41B2-996D-D158AC1BD5FF}" type="presParOf" srcId="{5C611992-4AE5-4A89-9D13-5800B750CC9E}" destId="{77E80DDE-BAAD-4518-B14A-33894536D1FF}" srcOrd="0" destOrd="0" presId="urn:microsoft.com/office/officeart/2016/7/layout/LinearBlockProcessNumbered"/>
    <dgm:cxn modelId="{1747C4DC-8889-44A9-8010-718D1972F511}" type="presParOf" srcId="{77E80DDE-BAAD-4518-B14A-33894536D1FF}" destId="{678E9B16-CD25-4D0D-AD6C-E6FB3ACFA890}" srcOrd="0" destOrd="0" presId="urn:microsoft.com/office/officeart/2016/7/layout/LinearBlockProcessNumbered"/>
    <dgm:cxn modelId="{9887A813-659C-4448-A4F9-9D4A0E502E0E}" type="presParOf" srcId="{77E80DDE-BAAD-4518-B14A-33894536D1FF}" destId="{7EB5D795-D478-42AA-97B4-F3D973DC36AB}" srcOrd="1" destOrd="0" presId="urn:microsoft.com/office/officeart/2016/7/layout/LinearBlockProcessNumbered"/>
    <dgm:cxn modelId="{BC2C5F1E-6D33-4EF4-9633-52086E88B99C}" type="presParOf" srcId="{77E80DDE-BAAD-4518-B14A-33894536D1FF}" destId="{82C8048D-675D-4FD9-9E99-C5617500A6D5}" srcOrd="2" destOrd="0" presId="urn:microsoft.com/office/officeart/2016/7/layout/LinearBlockProcessNumbered"/>
    <dgm:cxn modelId="{1789835A-A737-47EC-AB9A-935A0C2F59E1}" type="presParOf" srcId="{5C611992-4AE5-4A89-9D13-5800B750CC9E}" destId="{A35D81D4-2F78-433B-AA58-92BAE657C0C0}" srcOrd="1" destOrd="0" presId="urn:microsoft.com/office/officeart/2016/7/layout/LinearBlockProcessNumbered"/>
    <dgm:cxn modelId="{9AED04F1-E447-46D3-A9B0-3A4F262005BA}" type="presParOf" srcId="{5C611992-4AE5-4A89-9D13-5800B750CC9E}" destId="{1537151E-25BB-49A9-853F-350BDE0A9851}" srcOrd="2" destOrd="0" presId="urn:microsoft.com/office/officeart/2016/7/layout/LinearBlockProcessNumbered"/>
    <dgm:cxn modelId="{96248822-5697-45B3-BD8A-D400FC2D243E}" type="presParOf" srcId="{1537151E-25BB-49A9-853F-350BDE0A9851}" destId="{E8CB352A-10BA-4131-BA7C-A80A314D9F0E}" srcOrd="0" destOrd="0" presId="urn:microsoft.com/office/officeart/2016/7/layout/LinearBlockProcessNumbered"/>
    <dgm:cxn modelId="{B4DD91A3-845D-4ED4-B09F-35A4C32F0084}" type="presParOf" srcId="{1537151E-25BB-49A9-853F-350BDE0A9851}" destId="{8F1BF23C-7468-4F1E-9349-520DDF1F1B58}" srcOrd="1" destOrd="0" presId="urn:microsoft.com/office/officeart/2016/7/layout/LinearBlockProcessNumbered"/>
    <dgm:cxn modelId="{3019B719-6C96-4F07-A273-A902D61DDEFB}" type="presParOf" srcId="{1537151E-25BB-49A9-853F-350BDE0A9851}" destId="{14E0FBB2-A375-4AD4-9548-3216D478B361}" srcOrd="2" destOrd="0" presId="urn:microsoft.com/office/officeart/2016/7/layout/LinearBlockProcessNumbered"/>
    <dgm:cxn modelId="{A9E03D6A-05CD-4268-814A-593DB3B04CF6}" type="presParOf" srcId="{5C611992-4AE5-4A89-9D13-5800B750CC9E}" destId="{55164ADA-065D-4E0F-8A26-3BA0C21EC330}" srcOrd="3" destOrd="0" presId="urn:microsoft.com/office/officeart/2016/7/layout/LinearBlockProcessNumbered"/>
    <dgm:cxn modelId="{A908DB3A-6530-4E9B-9418-40409AD30E4E}" type="presParOf" srcId="{5C611992-4AE5-4A89-9D13-5800B750CC9E}" destId="{891BEEBE-74CE-46C5-A242-FEDFF6114193}" srcOrd="4" destOrd="0" presId="urn:microsoft.com/office/officeart/2016/7/layout/LinearBlockProcessNumbered"/>
    <dgm:cxn modelId="{C25C83F6-9B23-4730-8211-89BADE6B0728}" type="presParOf" srcId="{891BEEBE-74CE-46C5-A242-FEDFF6114193}" destId="{6C7C49EB-D220-49FE-B475-664F0C20934A}" srcOrd="0" destOrd="0" presId="urn:microsoft.com/office/officeart/2016/7/layout/LinearBlockProcessNumbered"/>
    <dgm:cxn modelId="{4BD37B74-421D-4393-87A0-70D6AC152B36}" type="presParOf" srcId="{891BEEBE-74CE-46C5-A242-FEDFF6114193}" destId="{33A2CF63-2239-4EE4-98EA-0B4AB1131FF9}" srcOrd="1" destOrd="0" presId="urn:microsoft.com/office/officeart/2016/7/layout/LinearBlockProcessNumbered"/>
    <dgm:cxn modelId="{03E7D658-C30A-43A2-924E-330E7D607CE9}" type="presParOf" srcId="{891BEEBE-74CE-46C5-A242-FEDFF6114193}" destId="{20DAE829-F80A-4D1A-A3B1-8998EB186DB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5B35FD-1F5B-4A4F-B6DF-5AA9765731E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2770599-3F91-4AFB-A79D-261B2A94831E}">
      <dgm:prSet/>
      <dgm:spPr/>
      <dgm:t>
        <a:bodyPr/>
        <a:lstStyle/>
        <a:p>
          <a:r>
            <a:rPr lang="en-US"/>
            <a:t>Quarterly Business Review: Director Merchant Care, country ops, analytics and product agree priorities and targets based on quality, demand and cost insights.</a:t>
          </a:r>
        </a:p>
      </dgm:t>
    </dgm:pt>
    <dgm:pt modelId="{B761C8DA-AD40-439C-B4AE-D442A1FB4D5D}" type="parTrans" cxnId="{83580A87-69BA-4866-813E-62A9A8BA4151}">
      <dgm:prSet/>
      <dgm:spPr/>
      <dgm:t>
        <a:bodyPr/>
        <a:lstStyle/>
        <a:p>
          <a:endParaRPr lang="en-US"/>
        </a:p>
      </dgm:t>
    </dgm:pt>
    <dgm:pt modelId="{E9D1FE37-DBC7-4954-A05B-FF80BA3229F4}" type="sibTrans" cxnId="{83580A87-69BA-4866-813E-62A9A8BA4151}">
      <dgm:prSet/>
      <dgm:spPr/>
      <dgm:t>
        <a:bodyPr/>
        <a:lstStyle/>
        <a:p>
          <a:endParaRPr lang="en-US"/>
        </a:p>
      </dgm:t>
    </dgm:pt>
    <dgm:pt modelId="{09327FD3-6ADE-4112-8E3A-46E66661837E}">
      <dgm:prSet/>
      <dgm:spPr/>
      <dgm:t>
        <a:bodyPr/>
        <a:lstStyle/>
        <a:p>
          <a:r>
            <a:rPr lang="en-US"/>
            <a:t>Monthly Channel/Provider Review: ops leads and vendor managers deep dive into underperforming channels/providers and define actions (training, scripts, routing).</a:t>
          </a:r>
        </a:p>
      </dgm:t>
    </dgm:pt>
    <dgm:pt modelId="{046BD36D-C274-43CB-BA93-C0A80F4D8B36}" type="parTrans" cxnId="{E426C7B7-3153-4309-9D38-F9266B9F940B}">
      <dgm:prSet/>
      <dgm:spPr/>
      <dgm:t>
        <a:bodyPr/>
        <a:lstStyle/>
        <a:p>
          <a:endParaRPr lang="en-US"/>
        </a:p>
      </dgm:t>
    </dgm:pt>
    <dgm:pt modelId="{ACEFF18E-28C6-45F0-ADFB-11403FB3D33C}" type="sibTrans" cxnId="{E426C7B7-3153-4309-9D38-F9266B9F940B}">
      <dgm:prSet/>
      <dgm:spPr/>
      <dgm:t>
        <a:bodyPr/>
        <a:lstStyle/>
        <a:p>
          <a:endParaRPr lang="en-US"/>
        </a:p>
      </dgm:t>
    </dgm:pt>
    <dgm:pt modelId="{D078BEA7-6A79-4426-9400-D7EDEEA7DEAF}">
      <dgm:prSet/>
      <dgm:spPr/>
      <dgm:t>
        <a:bodyPr/>
        <a:lstStyle/>
        <a:p>
          <a:r>
            <a:rPr lang="en-US"/>
            <a:t>Weekly Ops Huddles by skill/language: team leads review live KPIs (SLA, queues, recontact spikes) and trigger coaching or short-term process fixes.</a:t>
          </a:r>
        </a:p>
      </dgm:t>
    </dgm:pt>
    <dgm:pt modelId="{81F82A09-2DDB-4B3E-AFDE-1F601137AB14}" type="parTrans" cxnId="{A66591ED-91A0-4CF7-9DDE-1E2BAC9DBD39}">
      <dgm:prSet/>
      <dgm:spPr/>
      <dgm:t>
        <a:bodyPr/>
        <a:lstStyle/>
        <a:p>
          <a:endParaRPr lang="en-US"/>
        </a:p>
      </dgm:t>
    </dgm:pt>
    <dgm:pt modelId="{11CADB92-C166-43C5-B16D-0D56AD0787CA}" type="sibTrans" cxnId="{A66591ED-91A0-4CF7-9DDE-1E2BAC9DBD39}">
      <dgm:prSet/>
      <dgm:spPr/>
      <dgm:t>
        <a:bodyPr/>
        <a:lstStyle/>
        <a:p>
          <a:endParaRPr lang="en-US"/>
        </a:p>
      </dgm:t>
    </dgm:pt>
    <dgm:pt modelId="{582B98E0-334F-42AC-9B47-4026D29A2172}">
      <dgm:prSet/>
      <dgm:spPr/>
      <dgm:t>
        <a:bodyPr/>
        <a:lstStyle/>
        <a:p>
          <a:r>
            <a:rPr lang="en-US"/>
            <a:t>Analytics: owns data model, dashboards and deep dives; Product/CX: owns self-service and product changes; Workforce Management: owns staffing vs channel strategy.</a:t>
          </a:r>
        </a:p>
      </dgm:t>
    </dgm:pt>
    <dgm:pt modelId="{03C74217-0179-44E5-A32C-3CBF2EA397E8}" type="parTrans" cxnId="{7C61D55F-6C3D-401E-8CAD-30F36D422DEE}">
      <dgm:prSet/>
      <dgm:spPr/>
      <dgm:t>
        <a:bodyPr/>
        <a:lstStyle/>
        <a:p>
          <a:endParaRPr lang="en-US"/>
        </a:p>
      </dgm:t>
    </dgm:pt>
    <dgm:pt modelId="{704B345A-7E4C-4EA2-A102-B49C463BA860}" type="sibTrans" cxnId="{7C61D55F-6C3D-401E-8CAD-30F36D422DEE}">
      <dgm:prSet/>
      <dgm:spPr/>
      <dgm:t>
        <a:bodyPr/>
        <a:lstStyle/>
        <a:p>
          <a:endParaRPr lang="en-US"/>
        </a:p>
      </dgm:t>
    </dgm:pt>
    <dgm:pt modelId="{14143EC2-A54F-4638-A6BA-4244861992C7}" type="pres">
      <dgm:prSet presAssocID="{7A5B35FD-1F5B-4A4F-B6DF-5AA9765731E1}" presName="diagram" presStyleCnt="0">
        <dgm:presLayoutVars>
          <dgm:dir/>
          <dgm:resizeHandles val="exact"/>
        </dgm:presLayoutVars>
      </dgm:prSet>
      <dgm:spPr/>
    </dgm:pt>
    <dgm:pt modelId="{8A154849-D46F-4E88-924D-FE3DFEF0F926}" type="pres">
      <dgm:prSet presAssocID="{22770599-3F91-4AFB-A79D-261B2A94831E}" presName="node" presStyleLbl="node1" presStyleIdx="0" presStyleCnt="4">
        <dgm:presLayoutVars>
          <dgm:bulletEnabled val="1"/>
        </dgm:presLayoutVars>
      </dgm:prSet>
      <dgm:spPr/>
    </dgm:pt>
    <dgm:pt modelId="{E5926E3E-E43C-4C0D-BD4F-3E2F3819408D}" type="pres">
      <dgm:prSet presAssocID="{E9D1FE37-DBC7-4954-A05B-FF80BA3229F4}" presName="sibTrans" presStyleCnt="0"/>
      <dgm:spPr/>
    </dgm:pt>
    <dgm:pt modelId="{FE2DB536-4317-46DE-9755-FFAB6374EDA5}" type="pres">
      <dgm:prSet presAssocID="{09327FD3-6ADE-4112-8E3A-46E66661837E}" presName="node" presStyleLbl="node1" presStyleIdx="1" presStyleCnt="4">
        <dgm:presLayoutVars>
          <dgm:bulletEnabled val="1"/>
        </dgm:presLayoutVars>
      </dgm:prSet>
      <dgm:spPr/>
    </dgm:pt>
    <dgm:pt modelId="{5CC331F9-6D91-4E76-AB27-5D3DB7904015}" type="pres">
      <dgm:prSet presAssocID="{ACEFF18E-28C6-45F0-ADFB-11403FB3D33C}" presName="sibTrans" presStyleCnt="0"/>
      <dgm:spPr/>
    </dgm:pt>
    <dgm:pt modelId="{2248FA58-087A-4525-88E0-60CC1BD4E9AC}" type="pres">
      <dgm:prSet presAssocID="{D078BEA7-6A79-4426-9400-D7EDEEA7DEAF}" presName="node" presStyleLbl="node1" presStyleIdx="2" presStyleCnt="4">
        <dgm:presLayoutVars>
          <dgm:bulletEnabled val="1"/>
        </dgm:presLayoutVars>
      </dgm:prSet>
      <dgm:spPr/>
    </dgm:pt>
    <dgm:pt modelId="{4A6B57BC-C590-4766-9C0C-5D53B9BA3DDC}" type="pres">
      <dgm:prSet presAssocID="{11CADB92-C166-43C5-B16D-0D56AD0787CA}" presName="sibTrans" presStyleCnt="0"/>
      <dgm:spPr/>
    </dgm:pt>
    <dgm:pt modelId="{842DBC92-9D47-46B2-B761-CB04B70FA84F}" type="pres">
      <dgm:prSet presAssocID="{582B98E0-334F-42AC-9B47-4026D29A2172}" presName="node" presStyleLbl="node1" presStyleIdx="3" presStyleCnt="4">
        <dgm:presLayoutVars>
          <dgm:bulletEnabled val="1"/>
        </dgm:presLayoutVars>
      </dgm:prSet>
      <dgm:spPr/>
    </dgm:pt>
  </dgm:ptLst>
  <dgm:cxnLst>
    <dgm:cxn modelId="{A07C4028-3A76-43CE-9BFD-CE4E10876021}" type="presOf" srcId="{582B98E0-334F-42AC-9B47-4026D29A2172}" destId="{842DBC92-9D47-46B2-B761-CB04B70FA84F}" srcOrd="0" destOrd="0" presId="urn:microsoft.com/office/officeart/2005/8/layout/default"/>
    <dgm:cxn modelId="{633DDA2E-FE0A-4FC3-8501-77FA0BF4DCD6}" type="presOf" srcId="{09327FD3-6ADE-4112-8E3A-46E66661837E}" destId="{FE2DB536-4317-46DE-9755-FFAB6374EDA5}" srcOrd="0" destOrd="0" presId="urn:microsoft.com/office/officeart/2005/8/layout/default"/>
    <dgm:cxn modelId="{7C61D55F-6C3D-401E-8CAD-30F36D422DEE}" srcId="{7A5B35FD-1F5B-4A4F-B6DF-5AA9765731E1}" destId="{582B98E0-334F-42AC-9B47-4026D29A2172}" srcOrd="3" destOrd="0" parTransId="{03C74217-0179-44E5-A32C-3CBF2EA397E8}" sibTransId="{704B345A-7E4C-4EA2-A102-B49C463BA860}"/>
    <dgm:cxn modelId="{83580A87-69BA-4866-813E-62A9A8BA4151}" srcId="{7A5B35FD-1F5B-4A4F-B6DF-5AA9765731E1}" destId="{22770599-3F91-4AFB-A79D-261B2A94831E}" srcOrd="0" destOrd="0" parTransId="{B761C8DA-AD40-439C-B4AE-D442A1FB4D5D}" sibTransId="{E9D1FE37-DBC7-4954-A05B-FF80BA3229F4}"/>
    <dgm:cxn modelId="{26B2518F-E20C-4DA4-B7DA-EE899FC43204}" type="presOf" srcId="{D078BEA7-6A79-4426-9400-D7EDEEA7DEAF}" destId="{2248FA58-087A-4525-88E0-60CC1BD4E9AC}" srcOrd="0" destOrd="0" presId="urn:microsoft.com/office/officeart/2005/8/layout/default"/>
    <dgm:cxn modelId="{72097AA5-54E3-4D65-AD96-189DE0AF9EA5}" type="presOf" srcId="{22770599-3F91-4AFB-A79D-261B2A94831E}" destId="{8A154849-D46F-4E88-924D-FE3DFEF0F926}" srcOrd="0" destOrd="0" presId="urn:microsoft.com/office/officeart/2005/8/layout/default"/>
    <dgm:cxn modelId="{E426C7B7-3153-4309-9D38-F9266B9F940B}" srcId="{7A5B35FD-1F5B-4A4F-B6DF-5AA9765731E1}" destId="{09327FD3-6ADE-4112-8E3A-46E66661837E}" srcOrd="1" destOrd="0" parTransId="{046BD36D-C274-43CB-BA93-C0A80F4D8B36}" sibTransId="{ACEFF18E-28C6-45F0-ADFB-11403FB3D33C}"/>
    <dgm:cxn modelId="{67CB42C4-2B87-4051-8A96-BCD989E87BDF}" type="presOf" srcId="{7A5B35FD-1F5B-4A4F-B6DF-5AA9765731E1}" destId="{14143EC2-A54F-4638-A6BA-4244861992C7}" srcOrd="0" destOrd="0" presId="urn:microsoft.com/office/officeart/2005/8/layout/default"/>
    <dgm:cxn modelId="{A66591ED-91A0-4CF7-9DDE-1E2BAC9DBD39}" srcId="{7A5B35FD-1F5B-4A4F-B6DF-5AA9765731E1}" destId="{D078BEA7-6A79-4426-9400-D7EDEEA7DEAF}" srcOrd="2" destOrd="0" parTransId="{81F82A09-2DDB-4B3E-AFDE-1F601137AB14}" sibTransId="{11CADB92-C166-43C5-B16D-0D56AD0787CA}"/>
    <dgm:cxn modelId="{B96CA310-D330-4409-97F3-5A753A85AB89}" type="presParOf" srcId="{14143EC2-A54F-4638-A6BA-4244861992C7}" destId="{8A154849-D46F-4E88-924D-FE3DFEF0F926}" srcOrd="0" destOrd="0" presId="urn:microsoft.com/office/officeart/2005/8/layout/default"/>
    <dgm:cxn modelId="{D9A478AD-D818-4FC7-B4B8-03D91EDF060B}" type="presParOf" srcId="{14143EC2-A54F-4638-A6BA-4244861992C7}" destId="{E5926E3E-E43C-4C0D-BD4F-3E2F3819408D}" srcOrd="1" destOrd="0" presId="urn:microsoft.com/office/officeart/2005/8/layout/default"/>
    <dgm:cxn modelId="{F0573DDC-1882-4E6C-AB65-8CCF08D07363}" type="presParOf" srcId="{14143EC2-A54F-4638-A6BA-4244861992C7}" destId="{FE2DB536-4317-46DE-9755-FFAB6374EDA5}" srcOrd="2" destOrd="0" presId="urn:microsoft.com/office/officeart/2005/8/layout/default"/>
    <dgm:cxn modelId="{6D51D055-22ED-4163-B3CB-824EA98F3747}" type="presParOf" srcId="{14143EC2-A54F-4638-A6BA-4244861992C7}" destId="{5CC331F9-6D91-4E76-AB27-5D3DB7904015}" srcOrd="3" destOrd="0" presId="urn:microsoft.com/office/officeart/2005/8/layout/default"/>
    <dgm:cxn modelId="{48EC452E-E8D9-42C9-898F-BC15AA483D99}" type="presParOf" srcId="{14143EC2-A54F-4638-A6BA-4244861992C7}" destId="{2248FA58-087A-4525-88E0-60CC1BD4E9AC}" srcOrd="4" destOrd="0" presId="urn:microsoft.com/office/officeart/2005/8/layout/default"/>
    <dgm:cxn modelId="{BCE900AA-B593-400F-82C5-46B13D9B02CA}" type="presParOf" srcId="{14143EC2-A54F-4638-A6BA-4244861992C7}" destId="{4A6B57BC-C590-4766-9C0C-5D53B9BA3DDC}" srcOrd="5" destOrd="0" presId="urn:microsoft.com/office/officeart/2005/8/layout/default"/>
    <dgm:cxn modelId="{605817DB-68EC-4F57-AC1F-47FE4F3A4D78}" type="presParOf" srcId="{14143EC2-A54F-4638-A6BA-4244861992C7}" destId="{842DBC92-9D47-46B2-B761-CB04B70FA84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7B3C84-4247-4DAB-B15F-71CC919A314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98997A7-0BFD-403F-9BF8-3D8E68A61A89}">
      <dgm:prSet/>
      <dgm:spPr/>
      <dgm:t>
        <a:bodyPr/>
        <a:lstStyle/>
        <a:p>
          <a:r>
            <a:rPr lang="en-US" b="1" i="0" baseline="0"/>
            <a:t>Own the performance data layer</a:t>
          </a:r>
          <a:r>
            <a:rPr lang="en-US" b="0" i="0" baseline="0"/>
            <a:t> – Me and my team design, build and maintain the </a:t>
          </a:r>
          <a:r>
            <a:rPr lang="en-US" b="0" i="1" baseline="0"/>
            <a:t>SSOT </a:t>
          </a:r>
          <a:r>
            <a:rPr lang="en-US" b="0" i="0" baseline="0"/>
            <a:t>for Support performance.</a:t>
          </a:r>
          <a:endParaRPr lang="en-US"/>
        </a:p>
      </dgm:t>
    </dgm:pt>
    <dgm:pt modelId="{02426FA2-24D1-4D83-B8E3-A6422595D84B}" type="parTrans" cxnId="{AA827631-9381-417B-8520-A41ED483ACF7}">
      <dgm:prSet/>
      <dgm:spPr/>
      <dgm:t>
        <a:bodyPr/>
        <a:lstStyle/>
        <a:p>
          <a:endParaRPr lang="en-US"/>
        </a:p>
      </dgm:t>
    </dgm:pt>
    <dgm:pt modelId="{85FC1A89-7EE0-497E-AD03-87E28D654F4A}" type="sibTrans" cxnId="{AA827631-9381-417B-8520-A41ED483ACF7}">
      <dgm:prSet/>
      <dgm:spPr/>
      <dgm:t>
        <a:bodyPr/>
        <a:lstStyle/>
        <a:p>
          <a:endParaRPr lang="en-US"/>
        </a:p>
      </dgm:t>
    </dgm:pt>
    <dgm:pt modelId="{49098E09-C375-420C-9A97-24717AF06F64}">
      <dgm:prSet/>
      <dgm:spPr/>
      <dgm:t>
        <a:bodyPr/>
        <a:lstStyle/>
        <a:p>
          <a:r>
            <a:rPr lang="en-US" b="1" i="0" baseline="0" dirty="0"/>
            <a:t>Central dashboard (if data is integrated)</a:t>
          </a:r>
          <a:r>
            <a:rPr lang="en-US" b="0" i="0" baseline="0" dirty="0"/>
            <a:t> – one BI dashboard with KPIs like 7-day recontact, resolution rate, contacts per merchant, handling/response times, performance by channel &amp; agent company, product-level recontacts and cost per interaction.</a:t>
          </a:r>
          <a:endParaRPr lang="en-US" dirty="0"/>
        </a:p>
      </dgm:t>
    </dgm:pt>
    <dgm:pt modelId="{29306F33-33B5-40CB-A65E-8FD55EBE6784}" type="parTrans" cxnId="{DC92453B-6531-47B0-96DE-03B4470334A6}">
      <dgm:prSet/>
      <dgm:spPr/>
      <dgm:t>
        <a:bodyPr/>
        <a:lstStyle/>
        <a:p>
          <a:endParaRPr lang="en-US"/>
        </a:p>
      </dgm:t>
    </dgm:pt>
    <dgm:pt modelId="{BF8B5F44-BBC0-4EA8-9433-E1B1DE419FF8}" type="sibTrans" cxnId="{DC92453B-6531-47B0-96DE-03B4470334A6}">
      <dgm:prSet/>
      <dgm:spPr/>
      <dgm:t>
        <a:bodyPr/>
        <a:lstStyle/>
        <a:p>
          <a:endParaRPr lang="en-US"/>
        </a:p>
      </dgm:t>
    </dgm:pt>
    <dgm:pt modelId="{84CD1806-EDB6-450C-9E1E-CBF8F4028D02}">
      <dgm:prSet/>
      <dgm:spPr/>
      <dgm:t>
        <a:bodyPr/>
        <a:lstStyle/>
        <a:p>
          <a:r>
            <a:rPr lang="en-US" b="1" i="0" baseline="0"/>
            <a:t>Consistent definitions</a:t>
          </a:r>
          <a:r>
            <a:rPr lang="en-US" b="0" i="0" baseline="0"/>
            <a:t> – I define and enforce common KPI definitions and breakdowns (country, channel, product, provider, skill, language) so all teams talk about the same numbers(maintain definitions playbook if required)</a:t>
          </a:r>
          <a:endParaRPr lang="en-US"/>
        </a:p>
      </dgm:t>
    </dgm:pt>
    <dgm:pt modelId="{56C16645-FEF7-4E2E-8678-015BCF4DF5C8}" type="parTrans" cxnId="{58A3AEFC-813B-4DFD-BE46-3D002972CE0B}">
      <dgm:prSet/>
      <dgm:spPr/>
      <dgm:t>
        <a:bodyPr/>
        <a:lstStyle/>
        <a:p>
          <a:endParaRPr lang="en-US"/>
        </a:p>
      </dgm:t>
    </dgm:pt>
    <dgm:pt modelId="{1B8F4A28-0B99-44D9-A1E9-13C5E73F99D8}" type="sibTrans" cxnId="{58A3AEFC-813B-4DFD-BE46-3D002972CE0B}">
      <dgm:prSet/>
      <dgm:spPr/>
      <dgm:t>
        <a:bodyPr/>
        <a:lstStyle/>
        <a:p>
          <a:endParaRPr lang="en-US"/>
        </a:p>
      </dgm:t>
    </dgm:pt>
    <dgm:pt modelId="{8C3C3A1B-79D2-4BE5-9F90-8DAC4CC5B170}">
      <dgm:prSet/>
      <dgm:spPr/>
      <dgm:t>
        <a:bodyPr/>
        <a:lstStyle/>
        <a:p>
          <a:r>
            <a:rPr lang="en-US" b="1" i="0" baseline="0"/>
            <a:t>Fallback when data isn’t centralized</a:t>
          </a:r>
          <a:r>
            <a:rPr lang="en-US" b="0" i="0" baseline="0"/>
            <a:t> – I set up a shared Google Sheet “dashboard” with the same KPIs, structure and formulas, and define who updates what (Ops leads, Product, Vendor managers) and when.</a:t>
          </a:r>
          <a:endParaRPr lang="en-US"/>
        </a:p>
      </dgm:t>
    </dgm:pt>
    <dgm:pt modelId="{EA8F4FF0-C967-485C-B24E-75F2706F20F0}" type="parTrans" cxnId="{0B591BD0-58A3-4CCB-B74C-9C74BB2ED2CD}">
      <dgm:prSet/>
      <dgm:spPr/>
      <dgm:t>
        <a:bodyPr/>
        <a:lstStyle/>
        <a:p>
          <a:endParaRPr lang="en-US"/>
        </a:p>
      </dgm:t>
    </dgm:pt>
    <dgm:pt modelId="{4B836A0A-BD4E-4F16-9262-E006817A72E3}" type="sibTrans" cxnId="{0B591BD0-58A3-4CCB-B74C-9C74BB2ED2CD}">
      <dgm:prSet/>
      <dgm:spPr/>
      <dgm:t>
        <a:bodyPr/>
        <a:lstStyle/>
        <a:p>
          <a:endParaRPr lang="en-US"/>
        </a:p>
      </dgm:t>
    </dgm:pt>
    <dgm:pt modelId="{FC697BF6-8C2D-4133-A8E4-E9C728E810E6}">
      <dgm:prSet/>
      <dgm:spPr/>
      <dgm:t>
        <a:bodyPr/>
        <a:lstStyle/>
        <a:p>
          <a:r>
            <a:rPr lang="en-US" b="1" i="0" baseline="0"/>
            <a:t>Data quality ownership</a:t>
          </a:r>
          <a:r>
            <a:rPr lang="en-US" b="0" i="0" baseline="0"/>
            <a:t> – Me and my team monitor data completeness and anomalies (e.g. missing IDs, time fields) and flags issues back to Ops/Engineering.</a:t>
          </a:r>
          <a:endParaRPr lang="en-US"/>
        </a:p>
      </dgm:t>
    </dgm:pt>
    <dgm:pt modelId="{190DEA32-C8A1-4FDD-BD74-7335A38A4A19}" type="parTrans" cxnId="{A8BF6A37-5025-494D-80E3-45163DB3813C}">
      <dgm:prSet/>
      <dgm:spPr/>
      <dgm:t>
        <a:bodyPr/>
        <a:lstStyle/>
        <a:p>
          <a:endParaRPr lang="en-US"/>
        </a:p>
      </dgm:t>
    </dgm:pt>
    <dgm:pt modelId="{1D506FED-A6DB-43AB-AB24-A1F688254139}" type="sibTrans" cxnId="{A8BF6A37-5025-494D-80E3-45163DB3813C}">
      <dgm:prSet/>
      <dgm:spPr/>
      <dgm:t>
        <a:bodyPr/>
        <a:lstStyle/>
        <a:p>
          <a:endParaRPr lang="en-US"/>
        </a:p>
      </dgm:t>
    </dgm:pt>
    <dgm:pt modelId="{021D605A-BCA2-4629-8C42-8F3936BEF449}" type="pres">
      <dgm:prSet presAssocID="{1F7B3C84-4247-4DAB-B15F-71CC919A3141}" presName="outerComposite" presStyleCnt="0">
        <dgm:presLayoutVars>
          <dgm:chMax val="5"/>
          <dgm:dir/>
          <dgm:resizeHandles val="exact"/>
        </dgm:presLayoutVars>
      </dgm:prSet>
      <dgm:spPr/>
    </dgm:pt>
    <dgm:pt modelId="{99969EE3-986B-41B7-9FD3-C4237A26CC51}" type="pres">
      <dgm:prSet presAssocID="{1F7B3C84-4247-4DAB-B15F-71CC919A3141}" presName="dummyMaxCanvas" presStyleCnt="0">
        <dgm:presLayoutVars/>
      </dgm:prSet>
      <dgm:spPr/>
    </dgm:pt>
    <dgm:pt modelId="{A6FE0545-82F7-4AF0-9E6F-AD963974CC6C}" type="pres">
      <dgm:prSet presAssocID="{1F7B3C84-4247-4DAB-B15F-71CC919A3141}" presName="FiveNodes_1" presStyleLbl="node1" presStyleIdx="0" presStyleCnt="5">
        <dgm:presLayoutVars>
          <dgm:bulletEnabled val="1"/>
        </dgm:presLayoutVars>
      </dgm:prSet>
      <dgm:spPr/>
    </dgm:pt>
    <dgm:pt modelId="{52EAE3A5-2F91-4640-ACBF-93848A10E904}" type="pres">
      <dgm:prSet presAssocID="{1F7B3C84-4247-4DAB-B15F-71CC919A3141}" presName="FiveNodes_2" presStyleLbl="node1" presStyleIdx="1" presStyleCnt="5">
        <dgm:presLayoutVars>
          <dgm:bulletEnabled val="1"/>
        </dgm:presLayoutVars>
      </dgm:prSet>
      <dgm:spPr/>
    </dgm:pt>
    <dgm:pt modelId="{04148FB7-6687-4CBA-A701-BB38EDE77EDF}" type="pres">
      <dgm:prSet presAssocID="{1F7B3C84-4247-4DAB-B15F-71CC919A3141}" presName="FiveNodes_3" presStyleLbl="node1" presStyleIdx="2" presStyleCnt="5">
        <dgm:presLayoutVars>
          <dgm:bulletEnabled val="1"/>
        </dgm:presLayoutVars>
      </dgm:prSet>
      <dgm:spPr/>
    </dgm:pt>
    <dgm:pt modelId="{D42859FB-092D-4271-BF7A-2B024D1E4B2C}" type="pres">
      <dgm:prSet presAssocID="{1F7B3C84-4247-4DAB-B15F-71CC919A3141}" presName="FiveNodes_4" presStyleLbl="node1" presStyleIdx="3" presStyleCnt="5">
        <dgm:presLayoutVars>
          <dgm:bulletEnabled val="1"/>
        </dgm:presLayoutVars>
      </dgm:prSet>
      <dgm:spPr/>
    </dgm:pt>
    <dgm:pt modelId="{FE1529C9-1B22-43B1-85E4-45087D5EC7E9}" type="pres">
      <dgm:prSet presAssocID="{1F7B3C84-4247-4DAB-B15F-71CC919A3141}" presName="FiveNodes_5" presStyleLbl="node1" presStyleIdx="4" presStyleCnt="5">
        <dgm:presLayoutVars>
          <dgm:bulletEnabled val="1"/>
        </dgm:presLayoutVars>
      </dgm:prSet>
      <dgm:spPr/>
    </dgm:pt>
    <dgm:pt modelId="{B3032A1E-2586-4FAD-992C-EA59F742165D}" type="pres">
      <dgm:prSet presAssocID="{1F7B3C84-4247-4DAB-B15F-71CC919A3141}" presName="FiveConn_1-2" presStyleLbl="fgAccFollowNode1" presStyleIdx="0" presStyleCnt="4">
        <dgm:presLayoutVars>
          <dgm:bulletEnabled val="1"/>
        </dgm:presLayoutVars>
      </dgm:prSet>
      <dgm:spPr/>
    </dgm:pt>
    <dgm:pt modelId="{CE160277-5607-4CCF-A0F8-747985A77FBE}" type="pres">
      <dgm:prSet presAssocID="{1F7B3C84-4247-4DAB-B15F-71CC919A3141}" presName="FiveConn_2-3" presStyleLbl="fgAccFollowNode1" presStyleIdx="1" presStyleCnt="4">
        <dgm:presLayoutVars>
          <dgm:bulletEnabled val="1"/>
        </dgm:presLayoutVars>
      </dgm:prSet>
      <dgm:spPr/>
    </dgm:pt>
    <dgm:pt modelId="{3E0BED30-C211-4D48-A966-B9E0631476C7}" type="pres">
      <dgm:prSet presAssocID="{1F7B3C84-4247-4DAB-B15F-71CC919A3141}" presName="FiveConn_3-4" presStyleLbl="fgAccFollowNode1" presStyleIdx="2" presStyleCnt="4">
        <dgm:presLayoutVars>
          <dgm:bulletEnabled val="1"/>
        </dgm:presLayoutVars>
      </dgm:prSet>
      <dgm:spPr/>
    </dgm:pt>
    <dgm:pt modelId="{84AE9D97-0018-40CA-BBA5-CF06D3652596}" type="pres">
      <dgm:prSet presAssocID="{1F7B3C84-4247-4DAB-B15F-71CC919A3141}" presName="FiveConn_4-5" presStyleLbl="fgAccFollowNode1" presStyleIdx="3" presStyleCnt="4">
        <dgm:presLayoutVars>
          <dgm:bulletEnabled val="1"/>
        </dgm:presLayoutVars>
      </dgm:prSet>
      <dgm:spPr/>
    </dgm:pt>
    <dgm:pt modelId="{74E75009-D56A-44D8-B7FE-A89B4D0199DE}" type="pres">
      <dgm:prSet presAssocID="{1F7B3C84-4247-4DAB-B15F-71CC919A3141}" presName="FiveNodes_1_text" presStyleLbl="node1" presStyleIdx="4" presStyleCnt="5">
        <dgm:presLayoutVars>
          <dgm:bulletEnabled val="1"/>
        </dgm:presLayoutVars>
      </dgm:prSet>
      <dgm:spPr/>
    </dgm:pt>
    <dgm:pt modelId="{36CB5914-C096-4657-96E5-092F4245B069}" type="pres">
      <dgm:prSet presAssocID="{1F7B3C84-4247-4DAB-B15F-71CC919A3141}" presName="FiveNodes_2_text" presStyleLbl="node1" presStyleIdx="4" presStyleCnt="5">
        <dgm:presLayoutVars>
          <dgm:bulletEnabled val="1"/>
        </dgm:presLayoutVars>
      </dgm:prSet>
      <dgm:spPr/>
    </dgm:pt>
    <dgm:pt modelId="{4114349B-8B30-4A1B-97FF-EEE6FFE38A34}" type="pres">
      <dgm:prSet presAssocID="{1F7B3C84-4247-4DAB-B15F-71CC919A3141}" presName="FiveNodes_3_text" presStyleLbl="node1" presStyleIdx="4" presStyleCnt="5">
        <dgm:presLayoutVars>
          <dgm:bulletEnabled val="1"/>
        </dgm:presLayoutVars>
      </dgm:prSet>
      <dgm:spPr/>
    </dgm:pt>
    <dgm:pt modelId="{6DD793FB-CFCE-43F9-A4DD-AD5C1461BE0F}" type="pres">
      <dgm:prSet presAssocID="{1F7B3C84-4247-4DAB-B15F-71CC919A3141}" presName="FiveNodes_4_text" presStyleLbl="node1" presStyleIdx="4" presStyleCnt="5">
        <dgm:presLayoutVars>
          <dgm:bulletEnabled val="1"/>
        </dgm:presLayoutVars>
      </dgm:prSet>
      <dgm:spPr/>
    </dgm:pt>
    <dgm:pt modelId="{3398F343-C84F-4FEF-891D-A4429FC290CF}" type="pres">
      <dgm:prSet presAssocID="{1F7B3C84-4247-4DAB-B15F-71CC919A314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18B5801-BCA9-4BF4-89E0-31C0A0E74230}" type="presOf" srcId="{598997A7-0BFD-403F-9BF8-3D8E68A61A89}" destId="{74E75009-D56A-44D8-B7FE-A89B4D0199DE}" srcOrd="1" destOrd="0" presId="urn:microsoft.com/office/officeart/2005/8/layout/vProcess5"/>
    <dgm:cxn modelId="{621A6303-D02D-46A3-8052-3DABB29D9DB3}" type="presOf" srcId="{84CD1806-EDB6-450C-9E1E-CBF8F4028D02}" destId="{04148FB7-6687-4CBA-A701-BB38EDE77EDF}" srcOrd="0" destOrd="0" presId="urn:microsoft.com/office/officeart/2005/8/layout/vProcess5"/>
    <dgm:cxn modelId="{9C588513-BD1F-4DB7-82DD-9E747C7EC5FC}" type="presOf" srcId="{8C3C3A1B-79D2-4BE5-9F90-8DAC4CC5B170}" destId="{6DD793FB-CFCE-43F9-A4DD-AD5C1461BE0F}" srcOrd="1" destOrd="0" presId="urn:microsoft.com/office/officeart/2005/8/layout/vProcess5"/>
    <dgm:cxn modelId="{AA827631-9381-417B-8520-A41ED483ACF7}" srcId="{1F7B3C84-4247-4DAB-B15F-71CC919A3141}" destId="{598997A7-0BFD-403F-9BF8-3D8E68A61A89}" srcOrd="0" destOrd="0" parTransId="{02426FA2-24D1-4D83-B8E3-A6422595D84B}" sibTransId="{85FC1A89-7EE0-497E-AD03-87E28D654F4A}"/>
    <dgm:cxn modelId="{A8BF6A37-5025-494D-80E3-45163DB3813C}" srcId="{1F7B3C84-4247-4DAB-B15F-71CC919A3141}" destId="{FC697BF6-8C2D-4133-A8E4-E9C728E810E6}" srcOrd="4" destOrd="0" parTransId="{190DEA32-C8A1-4FDD-BD74-7335A38A4A19}" sibTransId="{1D506FED-A6DB-43AB-AB24-A1F688254139}"/>
    <dgm:cxn modelId="{DC92453B-6531-47B0-96DE-03B4470334A6}" srcId="{1F7B3C84-4247-4DAB-B15F-71CC919A3141}" destId="{49098E09-C375-420C-9A97-24717AF06F64}" srcOrd="1" destOrd="0" parTransId="{29306F33-33B5-40CB-A65E-8FD55EBE6784}" sibTransId="{BF8B5F44-BBC0-4EA8-9433-E1B1DE419FF8}"/>
    <dgm:cxn modelId="{174C5A67-C733-49D6-8071-77BBA4869BB8}" type="presOf" srcId="{598997A7-0BFD-403F-9BF8-3D8E68A61A89}" destId="{A6FE0545-82F7-4AF0-9E6F-AD963974CC6C}" srcOrd="0" destOrd="0" presId="urn:microsoft.com/office/officeart/2005/8/layout/vProcess5"/>
    <dgm:cxn modelId="{66DE5249-8A48-4E41-A5EB-03C087FE190A}" type="presOf" srcId="{8C3C3A1B-79D2-4BE5-9F90-8DAC4CC5B170}" destId="{D42859FB-092D-4271-BF7A-2B024D1E4B2C}" srcOrd="0" destOrd="0" presId="urn:microsoft.com/office/officeart/2005/8/layout/vProcess5"/>
    <dgm:cxn modelId="{ABCC916A-D4D2-401F-B3D4-2631A53622C3}" type="presOf" srcId="{1B8F4A28-0B99-44D9-A1E9-13C5E73F99D8}" destId="{3E0BED30-C211-4D48-A966-B9E0631476C7}" srcOrd="0" destOrd="0" presId="urn:microsoft.com/office/officeart/2005/8/layout/vProcess5"/>
    <dgm:cxn modelId="{BB8B9D50-1333-41D3-84EC-4292EE48ADB2}" type="presOf" srcId="{84CD1806-EDB6-450C-9E1E-CBF8F4028D02}" destId="{4114349B-8B30-4A1B-97FF-EEE6FFE38A34}" srcOrd="1" destOrd="0" presId="urn:microsoft.com/office/officeart/2005/8/layout/vProcess5"/>
    <dgm:cxn modelId="{204D1072-2ECE-4B7F-8A71-F68D86C3AC66}" type="presOf" srcId="{49098E09-C375-420C-9A97-24717AF06F64}" destId="{52EAE3A5-2F91-4640-ACBF-93848A10E904}" srcOrd="0" destOrd="0" presId="urn:microsoft.com/office/officeart/2005/8/layout/vProcess5"/>
    <dgm:cxn modelId="{3FAEA452-E926-4335-A552-2344A78C0198}" type="presOf" srcId="{1F7B3C84-4247-4DAB-B15F-71CC919A3141}" destId="{021D605A-BCA2-4629-8C42-8F3936BEF449}" srcOrd="0" destOrd="0" presId="urn:microsoft.com/office/officeart/2005/8/layout/vProcess5"/>
    <dgm:cxn modelId="{2412545A-1D3E-4F51-9FC4-EF3AE70A71E0}" type="presOf" srcId="{4B836A0A-BD4E-4F16-9262-E006817A72E3}" destId="{84AE9D97-0018-40CA-BBA5-CF06D3652596}" srcOrd="0" destOrd="0" presId="urn:microsoft.com/office/officeart/2005/8/layout/vProcess5"/>
    <dgm:cxn modelId="{73F90996-38F7-4C82-9097-BF23B536229E}" type="presOf" srcId="{85FC1A89-7EE0-497E-AD03-87E28D654F4A}" destId="{B3032A1E-2586-4FAD-992C-EA59F742165D}" srcOrd="0" destOrd="0" presId="urn:microsoft.com/office/officeart/2005/8/layout/vProcess5"/>
    <dgm:cxn modelId="{85EFA59F-306E-4149-A2BA-B054573A446C}" type="presOf" srcId="{FC697BF6-8C2D-4133-A8E4-E9C728E810E6}" destId="{3398F343-C84F-4FEF-891D-A4429FC290CF}" srcOrd="1" destOrd="0" presId="urn:microsoft.com/office/officeart/2005/8/layout/vProcess5"/>
    <dgm:cxn modelId="{BA1E9AA9-DD32-4126-B174-61CF200ED39C}" type="presOf" srcId="{BF8B5F44-BBC0-4EA8-9433-E1B1DE419FF8}" destId="{CE160277-5607-4CCF-A0F8-747985A77FBE}" srcOrd="0" destOrd="0" presId="urn:microsoft.com/office/officeart/2005/8/layout/vProcess5"/>
    <dgm:cxn modelId="{6DA5B3B2-C5ED-46B4-9279-6E030B9EC8BF}" type="presOf" srcId="{49098E09-C375-420C-9A97-24717AF06F64}" destId="{36CB5914-C096-4657-96E5-092F4245B069}" srcOrd="1" destOrd="0" presId="urn:microsoft.com/office/officeart/2005/8/layout/vProcess5"/>
    <dgm:cxn modelId="{0B591BD0-58A3-4CCB-B74C-9C74BB2ED2CD}" srcId="{1F7B3C84-4247-4DAB-B15F-71CC919A3141}" destId="{8C3C3A1B-79D2-4BE5-9F90-8DAC4CC5B170}" srcOrd="3" destOrd="0" parTransId="{EA8F4FF0-C967-485C-B24E-75F2706F20F0}" sibTransId="{4B836A0A-BD4E-4F16-9262-E006817A72E3}"/>
    <dgm:cxn modelId="{58A3AEFC-813B-4DFD-BE46-3D002972CE0B}" srcId="{1F7B3C84-4247-4DAB-B15F-71CC919A3141}" destId="{84CD1806-EDB6-450C-9E1E-CBF8F4028D02}" srcOrd="2" destOrd="0" parTransId="{56C16645-FEF7-4E2E-8678-015BCF4DF5C8}" sibTransId="{1B8F4A28-0B99-44D9-A1E9-13C5E73F99D8}"/>
    <dgm:cxn modelId="{7D2D28FF-94F2-41EF-8DB2-0E038B3F5140}" type="presOf" srcId="{FC697BF6-8C2D-4133-A8E4-E9C728E810E6}" destId="{FE1529C9-1B22-43B1-85E4-45087D5EC7E9}" srcOrd="0" destOrd="0" presId="urn:microsoft.com/office/officeart/2005/8/layout/vProcess5"/>
    <dgm:cxn modelId="{09818EEE-5343-4AB5-97E7-F2080A7659D6}" type="presParOf" srcId="{021D605A-BCA2-4629-8C42-8F3936BEF449}" destId="{99969EE3-986B-41B7-9FD3-C4237A26CC51}" srcOrd="0" destOrd="0" presId="urn:microsoft.com/office/officeart/2005/8/layout/vProcess5"/>
    <dgm:cxn modelId="{640B71AB-ABFD-43E0-A402-8514DDF2548A}" type="presParOf" srcId="{021D605A-BCA2-4629-8C42-8F3936BEF449}" destId="{A6FE0545-82F7-4AF0-9E6F-AD963974CC6C}" srcOrd="1" destOrd="0" presId="urn:microsoft.com/office/officeart/2005/8/layout/vProcess5"/>
    <dgm:cxn modelId="{8E9E10BF-3841-4BBF-99DE-97B2A7C4DE83}" type="presParOf" srcId="{021D605A-BCA2-4629-8C42-8F3936BEF449}" destId="{52EAE3A5-2F91-4640-ACBF-93848A10E904}" srcOrd="2" destOrd="0" presId="urn:microsoft.com/office/officeart/2005/8/layout/vProcess5"/>
    <dgm:cxn modelId="{23498446-E550-4301-9129-F52C8E9DBB43}" type="presParOf" srcId="{021D605A-BCA2-4629-8C42-8F3936BEF449}" destId="{04148FB7-6687-4CBA-A701-BB38EDE77EDF}" srcOrd="3" destOrd="0" presId="urn:microsoft.com/office/officeart/2005/8/layout/vProcess5"/>
    <dgm:cxn modelId="{2F045518-EDF4-4D35-BFF2-600670F61C23}" type="presParOf" srcId="{021D605A-BCA2-4629-8C42-8F3936BEF449}" destId="{D42859FB-092D-4271-BF7A-2B024D1E4B2C}" srcOrd="4" destOrd="0" presId="urn:microsoft.com/office/officeart/2005/8/layout/vProcess5"/>
    <dgm:cxn modelId="{EE5B2B58-E0B8-4DED-9D64-A9DEFFFAD20E}" type="presParOf" srcId="{021D605A-BCA2-4629-8C42-8F3936BEF449}" destId="{FE1529C9-1B22-43B1-85E4-45087D5EC7E9}" srcOrd="5" destOrd="0" presId="urn:microsoft.com/office/officeart/2005/8/layout/vProcess5"/>
    <dgm:cxn modelId="{315DA717-3E3E-450E-A91C-1A30073A9B6A}" type="presParOf" srcId="{021D605A-BCA2-4629-8C42-8F3936BEF449}" destId="{B3032A1E-2586-4FAD-992C-EA59F742165D}" srcOrd="6" destOrd="0" presId="urn:microsoft.com/office/officeart/2005/8/layout/vProcess5"/>
    <dgm:cxn modelId="{2C4EDD6A-B8E8-41C5-9522-5EA672DB6513}" type="presParOf" srcId="{021D605A-BCA2-4629-8C42-8F3936BEF449}" destId="{CE160277-5607-4CCF-A0F8-747985A77FBE}" srcOrd="7" destOrd="0" presId="urn:microsoft.com/office/officeart/2005/8/layout/vProcess5"/>
    <dgm:cxn modelId="{397C9759-D95B-45F4-B270-F1C52C5AF05F}" type="presParOf" srcId="{021D605A-BCA2-4629-8C42-8F3936BEF449}" destId="{3E0BED30-C211-4D48-A966-B9E0631476C7}" srcOrd="8" destOrd="0" presId="urn:microsoft.com/office/officeart/2005/8/layout/vProcess5"/>
    <dgm:cxn modelId="{B9DB6DE5-6180-4328-9D1A-A00B59A87CCD}" type="presParOf" srcId="{021D605A-BCA2-4629-8C42-8F3936BEF449}" destId="{84AE9D97-0018-40CA-BBA5-CF06D3652596}" srcOrd="9" destOrd="0" presId="urn:microsoft.com/office/officeart/2005/8/layout/vProcess5"/>
    <dgm:cxn modelId="{52B17B18-B9C3-4DE8-994A-815BACA86B70}" type="presParOf" srcId="{021D605A-BCA2-4629-8C42-8F3936BEF449}" destId="{74E75009-D56A-44D8-B7FE-A89B4D0199DE}" srcOrd="10" destOrd="0" presId="urn:microsoft.com/office/officeart/2005/8/layout/vProcess5"/>
    <dgm:cxn modelId="{35C1064F-2D87-44C8-8E7A-F3C73EF3EA26}" type="presParOf" srcId="{021D605A-BCA2-4629-8C42-8F3936BEF449}" destId="{36CB5914-C096-4657-96E5-092F4245B069}" srcOrd="11" destOrd="0" presId="urn:microsoft.com/office/officeart/2005/8/layout/vProcess5"/>
    <dgm:cxn modelId="{99393F50-AA33-405D-85BB-F519A1205722}" type="presParOf" srcId="{021D605A-BCA2-4629-8C42-8F3936BEF449}" destId="{4114349B-8B30-4A1B-97FF-EEE6FFE38A34}" srcOrd="12" destOrd="0" presId="urn:microsoft.com/office/officeart/2005/8/layout/vProcess5"/>
    <dgm:cxn modelId="{1CF6C4B1-61E5-481A-A8E4-58E34633D3FB}" type="presParOf" srcId="{021D605A-BCA2-4629-8C42-8F3936BEF449}" destId="{6DD793FB-CFCE-43F9-A4DD-AD5C1461BE0F}" srcOrd="13" destOrd="0" presId="urn:microsoft.com/office/officeart/2005/8/layout/vProcess5"/>
    <dgm:cxn modelId="{645D31B9-1904-48D9-99A9-A7E744847F85}" type="presParOf" srcId="{021D605A-BCA2-4629-8C42-8F3936BEF449}" destId="{3398F343-C84F-4FEF-891D-A4429FC290C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B18E5B-9C69-41AD-BF42-5753977FCFB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AB36D2E-936F-47BD-A2BB-A8D88EED27A2}">
      <dgm:prSet/>
      <dgm:spPr/>
      <dgm:t>
        <a:bodyPr/>
        <a:lstStyle/>
        <a:p>
          <a:r>
            <a:rPr lang="en-US" b="1" i="0" baseline="0"/>
            <a:t>Run the Quarterly Business Review (QBR) process</a:t>
          </a:r>
          <a:r>
            <a:rPr lang="en-US" b="0" i="0" baseline="0"/>
            <a:t> – I prepare the QBR pack from the dashboard (incl. cost KPIs), define the agenda, invite stakeholders (Ops, Product, Vendor Mgmt, Finance) and facilitate the discussion.</a:t>
          </a:r>
          <a:endParaRPr lang="en-US"/>
        </a:p>
      </dgm:t>
    </dgm:pt>
    <dgm:pt modelId="{A2F50737-AC4F-4E73-94C1-FB1B384828F2}" type="parTrans" cxnId="{FB357400-81EB-4300-AE00-543D7F84F28A}">
      <dgm:prSet/>
      <dgm:spPr/>
      <dgm:t>
        <a:bodyPr/>
        <a:lstStyle/>
        <a:p>
          <a:endParaRPr lang="en-US"/>
        </a:p>
      </dgm:t>
    </dgm:pt>
    <dgm:pt modelId="{4D1AD678-D31C-474C-937B-C82B50CA40D4}" type="sibTrans" cxnId="{FB357400-81EB-4300-AE00-543D7F84F28A}">
      <dgm:prSet/>
      <dgm:spPr/>
      <dgm:t>
        <a:bodyPr/>
        <a:lstStyle/>
        <a:p>
          <a:endParaRPr lang="en-US"/>
        </a:p>
      </dgm:t>
    </dgm:pt>
    <dgm:pt modelId="{65CB0B43-F029-427C-B81B-D21FB68190BF}">
      <dgm:prSet/>
      <dgm:spPr/>
      <dgm:t>
        <a:bodyPr/>
        <a:lstStyle/>
        <a:p>
          <a:r>
            <a:rPr lang="en-US" b="1" i="0" baseline="0"/>
            <a:t>Track performance vs targets</a:t>
          </a:r>
          <a:r>
            <a:rPr lang="en-US" b="0" i="0" baseline="0"/>
            <a:t> – I show where we stand vs agreed quarterly goals (quality, volume, cost, vendor performance) and highlight the top 3–5 problem areas to focus on.</a:t>
          </a:r>
          <a:endParaRPr lang="en-US"/>
        </a:p>
      </dgm:t>
    </dgm:pt>
    <dgm:pt modelId="{7592A9BA-141A-415C-973B-E18F63E018BD}" type="parTrans" cxnId="{A7E7A09A-FEF2-4760-94E8-D8B58EAEFCC1}">
      <dgm:prSet/>
      <dgm:spPr/>
      <dgm:t>
        <a:bodyPr/>
        <a:lstStyle/>
        <a:p>
          <a:endParaRPr lang="en-US"/>
        </a:p>
      </dgm:t>
    </dgm:pt>
    <dgm:pt modelId="{812044F0-35D4-452B-BE7E-7CFF979DC65D}" type="sibTrans" cxnId="{A7E7A09A-FEF2-4760-94E8-D8B58EAEFCC1}">
      <dgm:prSet/>
      <dgm:spPr/>
      <dgm:t>
        <a:bodyPr/>
        <a:lstStyle/>
        <a:p>
          <a:endParaRPr lang="en-US"/>
        </a:p>
      </dgm:t>
    </dgm:pt>
    <dgm:pt modelId="{7CB2F33A-FA86-42EA-8CC7-26EF5D38F1CE}">
      <dgm:prSet/>
      <dgm:spPr/>
      <dgm:t>
        <a:bodyPr/>
        <a:lstStyle/>
        <a:p>
          <a:r>
            <a:rPr lang="en-US" b="1" i="0" baseline="0"/>
            <a:t>Drive a clear action plan</a:t>
          </a:r>
          <a:r>
            <a:rPr lang="en-US" b="0" i="0" baseline="0"/>
            <a:t> – I capture concrete actions with owners and timelines for each area (Ops coaching, product changes, vendor improvement plans, channel routing tweaks).</a:t>
          </a:r>
          <a:endParaRPr lang="en-US"/>
        </a:p>
      </dgm:t>
    </dgm:pt>
    <dgm:pt modelId="{0E492D34-8957-44AB-BE46-1CBB36A9A16B}" type="parTrans" cxnId="{D7D63470-CC3A-4A8E-9A83-40486C5162E6}">
      <dgm:prSet/>
      <dgm:spPr/>
      <dgm:t>
        <a:bodyPr/>
        <a:lstStyle/>
        <a:p>
          <a:endParaRPr lang="en-US"/>
        </a:p>
      </dgm:t>
    </dgm:pt>
    <dgm:pt modelId="{1928861D-85CA-467C-9D42-9DF871C8E81B}" type="sibTrans" cxnId="{D7D63470-CC3A-4A8E-9A83-40486C5162E6}">
      <dgm:prSet/>
      <dgm:spPr/>
      <dgm:t>
        <a:bodyPr/>
        <a:lstStyle/>
        <a:p>
          <a:endParaRPr lang="en-US"/>
        </a:p>
      </dgm:t>
    </dgm:pt>
    <dgm:pt modelId="{84476EB3-A75E-4ED0-A249-E94A2DB43A41}">
      <dgm:prSet/>
      <dgm:spPr/>
      <dgm:t>
        <a:bodyPr/>
        <a:lstStyle/>
        <a:p>
          <a:r>
            <a:rPr lang="en-US" b="1" i="0" baseline="0"/>
            <a:t>Ensure follow-up between QBRs</a:t>
          </a:r>
          <a:r>
            <a:rPr lang="en-US" b="0" i="0" baseline="0"/>
            <a:t> – I set up weekly/monthly check-ins by channel/skill/vendor to track progress on these actions and escalate risks early; goal is proactivity instead of reactive analytics.</a:t>
          </a:r>
          <a:endParaRPr lang="en-US"/>
        </a:p>
      </dgm:t>
    </dgm:pt>
    <dgm:pt modelId="{042E0BC0-3C40-488F-950E-29F9E982E267}" type="parTrans" cxnId="{19D64CAB-205D-47DD-9FBE-802E9FA10B50}">
      <dgm:prSet/>
      <dgm:spPr/>
      <dgm:t>
        <a:bodyPr/>
        <a:lstStyle/>
        <a:p>
          <a:endParaRPr lang="en-US"/>
        </a:p>
      </dgm:t>
    </dgm:pt>
    <dgm:pt modelId="{58F61236-B892-452F-8474-43A9D3C6EEC6}" type="sibTrans" cxnId="{19D64CAB-205D-47DD-9FBE-802E9FA10B50}">
      <dgm:prSet/>
      <dgm:spPr/>
      <dgm:t>
        <a:bodyPr/>
        <a:lstStyle/>
        <a:p>
          <a:endParaRPr lang="en-US"/>
        </a:p>
      </dgm:t>
    </dgm:pt>
    <dgm:pt modelId="{1860562A-0DBA-4EF0-A286-877BB0AA42B0}">
      <dgm:prSet/>
      <dgm:spPr/>
      <dgm:t>
        <a:bodyPr/>
        <a:lstStyle/>
        <a:p>
          <a:r>
            <a:rPr lang="en-US" b="1" i="0" baseline="0"/>
            <a:t>Continuously evolve the framework</a:t>
          </a:r>
          <a:r>
            <a:rPr lang="en-US" b="0" i="0" baseline="0"/>
            <a:t> – I refine KPIs, thresholds and the dashboard based on what we learn so the process stays decision-driving, not just reporting.</a:t>
          </a:r>
          <a:endParaRPr lang="en-US"/>
        </a:p>
      </dgm:t>
    </dgm:pt>
    <dgm:pt modelId="{FB67EB13-A456-4DF7-B387-14A22D650440}" type="parTrans" cxnId="{113FEBD0-87E5-4FC1-9839-C9C6151EDDF3}">
      <dgm:prSet/>
      <dgm:spPr/>
      <dgm:t>
        <a:bodyPr/>
        <a:lstStyle/>
        <a:p>
          <a:endParaRPr lang="en-US"/>
        </a:p>
      </dgm:t>
    </dgm:pt>
    <dgm:pt modelId="{2930FD89-2705-4BF7-9A90-BA311B8D3811}" type="sibTrans" cxnId="{113FEBD0-87E5-4FC1-9839-C9C6151EDDF3}">
      <dgm:prSet/>
      <dgm:spPr/>
      <dgm:t>
        <a:bodyPr/>
        <a:lstStyle/>
        <a:p>
          <a:endParaRPr lang="en-US"/>
        </a:p>
      </dgm:t>
    </dgm:pt>
    <dgm:pt modelId="{CF98DF1C-C5BD-4898-A46A-92CC3467E2EA}">
      <dgm:prSet/>
      <dgm:spPr/>
      <dgm:t>
        <a:bodyPr/>
        <a:lstStyle/>
        <a:p>
          <a:r>
            <a:rPr lang="en-US"/>
            <a:t>Additionally set up relevant team KR’s to follow through and track performance easily</a:t>
          </a:r>
        </a:p>
      </dgm:t>
    </dgm:pt>
    <dgm:pt modelId="{1891ABDC-C6AD-427D-A18B-55CA88372173}" type="parTrans" cxnId="{AFF0FAC1-D4B6-4042-8757-FFC426189E27}">
      <dgm:prSet/>
      <dgm:spPr/>
      <dgm:t>
        <a:bodyPr/>
        <a:lstStyle/>
        <a:p>
          <a:endParaRPr lang="en-US"/>
        </a:p>
      </dgm:t>
    </dgm:pt>
    <dgm:pt modelId="{E9BDAF05-B1BE-484D-8691-F2AF09907108}" type="sibTrans" cxnId="{AFF0FAC1-D4B6-4042-8757-FFC426189E27}">
      <dgm:prSet/>
      <dgm:spPr/>
      <dgm:t>
        <a:bodyPr/>
        <a:lstStyle/>
        <a:p>
          <a:endParaRPr lang="en-US"/>
        </a:p>
      </dgm:t>
    </dgm:pt>
    <dgm:pt modelId="{22AAA47A-13FB-46EC-9535-129CFD0FF211}" type="pres">
      <dgm:prSet presAssocID="{F3B18E5B-9C69-41AD-BF42-5753977FCFB0}" presName="root" presStyleCnt="0">
        <dgm:presLayoutVars>
          <dgm:dir/>
          <dgm:resizeHandles val="exact"/>
        </dgm:presLayoutVars>
      </dgm:prSet>
      <dgm:spPr/>
    </dgm:pt>
    <dgm:pt modelId="{73C6928E-7AA6-44DE-A068-594BEC6CBA2B}" type="pres">
      <dgm:prSet presAssocID="{F3B18E5B-9C69-41AD-BF42-5753977FCFB0}" presName="container" presStyleCnt="0">
        <dgm:presLayoutVars>
          <dgm:dir/>
          <dgm:resizeHandles val="exact"/>
        </dgm:presLayoutVars>
      </dgm:prSet>
      <dgm:spPr/>
    </dgm:pt>
    <dgm:pt modelId="{1D68D123-502C-4CAC-980B-3C932DE0372D}" type="pres">
      <dgm:prSet presAssocID="{8AB36D2E-936F-47BD-A2BB-A8D88EED27A2}" presName="compNode" presStyleCnt="0"/>
      <dgm:spPr/>
    </dgm:pt>
    <dgm:pt modelId="{2BA1E4FA-3371-49CC-B45C-991BDBE29089}" type="pres">
      <dgm:prSet presAssocID="{8AB36D2E-936F-47BD-A2BB-A8D88EED27A2}" presName="iconBgRect" presStyleLbl="bgShp" presStyleIdx="0" presStyleCnt="6"/>
      <dgm:spPr/>
    </dgm:pt>
    <dgm:pt modelId="{1B5382A4-6DA0-49C8-A668-7A167154B94B}" type="pres">
      <dgm:prSet presAssocID="{8AB36D2E-936F-47BD-A2BB-A8D88EED27A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1983591-1106-45A6-9D2B-0CC17C984BCF}" type="pres">
      <dgm:prSet presAssocID="{8AB36D2E-936F-47BD-A2BB-A8D88EED27A2}" presName="spaceRect" presStyleCnt="0"/>
      <dgm:spPr/>
    </dgm:pt>
    <dgm:pt modelId="{02D67832-7562-4312-BFEA-D58FFBF53B21}" type="pres">
      <dgm:prSet presAssocID="{8AB36D2E-936F-47BD-A2BB-A8D88EED27A2}" presName="textRect" presStyleLbl="revTx" presStyleIdx="0" presStyleCnt="6">
        <dgm:presLayoutVars>
          <dgm:chMax val="1"/>
          <dgm:chPref val="1"/>
        </dgm:presLayoutVars>
      </dgm:prSet>
      <dgm:spPr/>
    </dgm:pt>
    <dgm:pt modelId="{84FD8FB6-E4D5-4F4B-A7AE-0CC42279DBD7}" type="pres">
      <dgm:prSet presAssocID="{4D1AD678-D31C-474C-937B-C82B50CA40D4}" presName="sibTrans" presStyleLbl="sibTrans2D1" presStyleIdx="0" presStyleCnt="0"/>
      <dgm:spPr/>
    </dgm:pt>
    <dgm:pt modelId="{23D8E5E9-0D4B-4D09-9BDE-2D730D7D7A63}" type="pres">
      <dgm:prSet presAssocID="{65CB0B43-F029-427C-B81B-D21FB68190BF}" presName="compNode" presStyleCnt="0"/>
      <dgm:spPr/>
    </dgm:pt>
    <dgm:pt modelId="{0EEEF533-674B-42B1-812B-D93B57222904}" type="pres">
      <dgm:prSet presAssocID="{65CB0B43-F029-427C-B81B-D21FB68190BF}" presName="iconBgRect" presStyleLbl="bgShp" presStyleIdx="1" presStyleCnt="6"/>
      <dgm:spPr/>
    </dgm:pt>
    <dgm:pt modelId="{C2805953-5BE9-4B23-BFF6-8939A797143A}" type="pres">
      <dgm:prSet presAssocID="{65CB0B43-F029-427C-B81B-D21FB68190B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1671493-8214-4775-ACFB-18538E9BFC2C}" type="pres">
      <dgm:prSet presAssocID="{65CB0B43-F029-427C-B81B-D21FB68190BF}" presName="spaceRect" presStyleCnt="0"/>
      <dgm:spPr/>
    </dgm:pt>
    <dgm:pt modelId="{E4EA625B-53AD-4500-BC53-03735AEA007C}" type="pres">
      <dgm:prSet presAssocID="{65CB0B43-F029-427C-B81B-D21FB68190BF}" presName="textRect" presStyleLbl="revTx" presStyleIdx="1" presStyleCnt="6">
        <dgm:presLayoutVars>
          <dgm:chMax val="1"/>
          <dgm:chPref val="1"/>
        </dgm:presLayoutVars>
      </dgm:prSet>
      <dgm:spPr/>
    </dgm:pt>
    <dgm:pt modelId="{E839FB2A-C629-44AD-858E-6C3CACC9B952}" type="pres">
      <dgm:prSet presAssocID="{812044F0-35D4-452B-BE7E-7CFF979DC65D}" presName="sibTrans" presStyleLbl="sibTrans2D1" presStyleIdx="0" presStyleCnt="0"/>
      <dgm:spPr/>
    </dgm:pt>
    <dgm:pt modelId="{E359A554-832B-4833-BA28-002BB867A011}" type="pres">
      <dgm:prSet presAssocID="{7CB2F33A-FA86-42EA-8CC7-26EF5D38F1CE}" presName="compNode" presStyleCnt="0"/>
      <dgm:spPr/>
    </dgm:pt>
    <dgm:pt modelId="{A84BF772-764F-4A37-9C4D-C00F06457245}" type="pres">
      <dgm:prSet presAssocID="{7CB2F33A-FA86-42EA-8CC7-26EF5D38F1CE}" presName="iconBgRect" presStyleLbl="bgShp" presStyleIdx="2" presStyleCnt="6"/>
      <dgm:spPr/>
    </dgm:pt>
    <dgm:pt modelId="{69E0F5D8-26BC-41FF-9F9C-79C7B9B97D07}" type="pres">
      <dgm:prSet presAssocID="{7CB2F33A-FA86-42EA-8CC7-26EF5D38F1C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21D091E7-E793-422C-BCF1-918D2FCB4FD8}" type="pres">
      <dgm:prSet presAssocID="{7CB2F33A-FA86-42EA-8CC7-26EF5D38F1CE}" presName="spaceRect" presStyleCnt="0"/>
      <dgm:spPr/>
    </dgm:pt>
    <dgm:pt modelId="{51164053-66A8-45AF-9C01-7573CFEB9B95}" type="pres">
      <dgm:prSet presAssocID="{7CB2F33A-FA86-42EA-8CC7-26EF5D38F1CE}" presName="textRect" presStyleLbl="revTx" presStyleIdx="2" presStyleCnt="6">
        <dgm:presLayoutVars>
          <dgm:chMax val="1"/>
          <dgm:chPref val="1"/>
        </dgm:presLayoutVars>
      </dgm:prSet>
      <dgm:spPr/>
    </dgm:pt>
    <dgm:pt modelId="{3BEA1C69-B423-428C-AAD3-FC9761AF9D1D}" type="pres">
      <dgm:prSet presAssocID="{1928861D-85CA-467C-9D42-9DF871C8E81B}" presName="sibTrans" presStyleLbl="sibTrans2D1" presStyleIdx="0" presStyleCnt="0"/>
      <dgm:spPr/>
    </dgm:pt>
    <dgm:pt modelId="{9409D970-84D4-4A8D-A749-7972CD55F123}" type="pres">
      <dgm:prSet presAssocID="{84476EB3-A75E-4ED0-A249-E94A2DB43A41}" presName="compNode" presStyleCnt="0"/>
      <dgm:spPr/>
    </dgm:pt>
    <dgm:pt modelId="{327D2457-22B5-4B23-9049-DE17AE3C20A8}" type="pres">
      <dgm:prSet presAssocID="{84476EB3-A75E-4ED0-A249-E94A2DB43A41}" presName="iconBgRect" presStyleLbl="bgShp" presStyleIdx="3" presStyleCnt="6"/>
      <dgm:spPr/>
    </dgm:pt>
    <dgm:pt modelId="{C3BBC68D-ABFA-4F31-ACBA-36EB78C02F14}" type="pres">
      <dgm:prSet presAssocID="{84476EB3-A75E-4ED0-A249-E94A2DB43A4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t"/>
        </a:ext>
      </dgm:extLst>
    </dgm:pt>
    <dgm:pt modelId="{04A684B2-FFA8-42A7-8FA6-A3C5004A30E6}" type="pres">
      <dgm:prSet presAssocID="{84476EB3-A75E-4ED0-A249-E94A2DB43A41}" presName="spaceRect" presStyleCnt="0"/>
      <dgm:spPr/>
    </dgm:pt>
    <dgm:pt modelId="{DD29AA2A-848B-44C9-83F8-E114BB02ED6E}" type="pres">
      <dgm:prSet presAssocID="{84476EB3-A75E-4ED0-A249-E94A2DB43A41}" presName="textRect" presStyleLbl="revTx" presStyleIdx="3" presStyleCnt="6">
        <dgm:presLayoutVars>
          <dgm:chMax val="1"/>
          <dgm:chPref val="1"/>
        </dgm:presLayoutVars>
      </dgm:prSet>
      <dgm:spPr/>
    </dgm:pt>
    <dgm:pt modelId="{F1BB3C67-5B8A-41FA-8C39-454567243C07}" type="pres">
      <dgm:prSet presAssocID="{58F61236-B892-452F-8474-43A9D3C6EEC6}" presName="sibTrans" presStyleLbl="sibTrans2D1" presStyleIdx="0" presStyleCnt="0"/>
      <dgm:spPr/>
    </dgm:pt>
    <dgm:pt modelId="{448D08C5-804F-4BBC-8BC5-DAAAAF71B2D1}" type="pres">
      <dgm:prSet presAssocID="{1860562A-0DBA-4EF0-A286-877BB0AA42B0}" presName="compNode" presStyleCnt="0"/>
      <dgm:spPr/>
    </dgm:pt>
    <dgm:pt modelId="{FF97654E-EC9B-4C42-A814-C52A80BBEC3B}" type="pres">
      <dgm:prSet presAssocID="{1860562A-0DBA-4EF0-A286-877BB0AA42B0}" presName="iconBgRect" presStyleLbl="bgShp" presStyleIdx="4" presStyleCnt="6"/>
      <dgm:spPr/>
    </dgm:pt>
    <dgm:pt modelId="{C253F67C-B3BB-4AF2-986B-F4C15940EFAA}" type="pres">
      <dgm:prSet presAssocID="{1860562A-0DBA-4EF0-A286-877BB0AA42B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9004C6B-A8A7-43EE-89DD-9EB887AB1664}" type="pres">
      <dgm:prSet presAssocID="{1860562A-0DBA-4EF0-A286-877BB0AA42B0}" presName="spaceRect" presStyleCnt="0"/>
      <dgm:spPr/>
    </dgm:pt>
    <dgm:pt modelId="{B056C2E9-40EB-439B-8D4D-B9EA718B6C6B}" type="pres">
      <dgm:prSet presAssocID="{1860562A-0DBA-4EF0-A286-877BB0AA42B0}" presName="textRect" presStyleLbl="revTx" presStyleIdx="4" presStyleCnt="6">
        <dgm:presLayoutVars>
          <dgm:chMax val="1"/>
          <dgm:chPref val="1"/>
        </dgm:presLayoutVars>
      </dgm:prSet>
      <dgm:spPr/>
    </dgm:pt>
    <dgm:pt modelId="{1F95E68C-90DF-4FE0-B86E-7AE4975F12AF}" type="pres">
      <dgm:prSet presAssocID="{2930FD89-2705-4BF7-9A90-BA311B8D3811}" presName="sibTrans" presStyleLbl="sibTrans2D1" presStyleIdx="0" presStyleCnt="0"/>
      <dgm:spPr/>
    </dgm:pt>
    <dgm:pt modelId="{7D51243E-F731-4C4E-9C51-1965789CE991}" type="pres">
      <dgm:prSet presAssocID="{CF98DF1C-C5BD-4898-A46A-92CC3467E2EA}" presName="compNode" presStyleCnt="0"/>
      <dgm:spPr/>
    </dgm:pt>
    <dgm:pt modelId="{7A45C029-30FC-4BA0-8D9A-5A72873F161B}" type="pres">
      <dgm:prSet presAssocID="{CF98DF1C-C5BD-4898-A46A-92CC3467E2EA}" presName="iconBgRect" presStyleLbl="bgShp" presStyleIdx="5" presStyleCnt="6"/>
      <dgm:spPr/>
    </dgm:pt>
    <dgm:pt modelId="{05412E68-0732-498D-ACEC-B9025D6EC68A}" type="pres">
      <dgm:prSet presAssocID="{CF98DF1C-C5BD-4898-A46A-92CC3467E2E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3EA598A-6EFF-40BB-A4E7-5894E09557E8}" type="pres">
      <dgm:prSet presAssocID="{CF98DF1C-C5BD-4898-A46A-92CC3467E2EA}" presName="spaceRect" presStyleCnt="0"/>
      <dgm:spPr/>
    </dgm:pt>
    <dgm:pt modelId="{7492BA9A-B55A-4F04-97B0-D379776A3ECE}" type="pres">
      <dgm:prSet presAssocID="{CF98DF1C-C5BD-4898-A46A-92CC3467E2E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B357400-81EB-4300-AE00-543D7F84F28A}" srcId="{F3B18E5B-9C69-41AD-BF42-5753977FCFB0}" destId="{8AB36D2E-936F-47BD-A2BB-A8D88EED27A2}" srcOrd="0" destOrd="0" parTransId="{A2F50737-AC4F-4E73-94C1-FB1B384828F2}" sibTransId="{4D1AD678-D31C-474C-937B-C82B50CA40D4}"/>
    <dgm:cxn modelId="{A4AE7F06-B660-4A1E-B51D-46269EF13C5C}" type="presOf" srcId="{812044F0-35D4-452B-BE7E-7CFF979DC65D}" destId="{E839FB2A-C629-44AD-858E-6C3CACC9B952}" srcOrd="0" destOrd="0" presId="urn:microsoft.com/office/officeart/2018/2/layout/IconCircleList"/>
    <dgm:cxn modelId="{59B8E417-52B4-41B4-A36A-1A3A1CE6E6C4}" type="presOf" srcId="{CF98DF1C-C5BD-4898-A46A-92CC3467E2EA}" destId="{7492BA9A-B55A-4F04-97B0-D379776A3ECE}" srcOrd="0" destOrd="0" presId="urn:microsoft.com/office/officeart/2018/2/layout/IconCircleList"/>
    <dgm:cxn modelId="{FBCB6A26-481F-4150-A584-E4F61334A8AA}" type="presOf" srcId="{8AB36D2E-936F-47BD-A2BB-A8D88EED27A2}" destId="{02D67832-7562-4312-BFEA-D58FFBF53B21}" srcOrd="0" destOrd="0" presId="urn:microsoft.com/office/officeart/2018/2/layout/IconCircleList"/>
    <dgm:cxn modelId="{990B2A27-5305-4FD5-BB93-ECE8A3FB4CB0}" type="presOf" srcId="{84476EB3-A75E-4ED0-A249-E94A2DB43A41}" destId="{DD29AA2A-848B-44C9-83F8-E114BB02ED6E}" srcOrd="0" destOrd="0" presId="urn:microsoft.com/office/officeart/2018/2/layout/IconCircleList"/>
    <dgm:cxn modelId="{B1C11D43-BA49-4EFE-90F7-E778418A13C7}" type="presOf" srcId="{58F61236-B892-452F-8474-43A9D3C6EEC6}" destId="{F1BB3C67-5B8A-41FA-8C39-454567243C07}" srcOrd="0" destOrd="0" presId="urn:microsoft.com/office/officeart/2018/2/layout/IconCircleList"/>
    <dgm:cxn modelId="{D7D63470-CC3A-4A8E-9A83-40486C5162E6}" srcId="{F3B18E5B-9C69-41AD-BF42-5753977FCFB0}" destId="{7CB2F33A-FA86-42EA-8CC7-26EF5D38F1CE}" srcOrd="2" destOrd="0" parTransId="{0E492D34-8957-44AB-BE46-1CBB36A9A16B}" sibTransId="{1928861D-85CA-467C-9D42-9DF871C8E81B}"/>
    <dgm:cxn modelId="{B73D7577-5732-4609-9E23-E0DAA0A8D584}" type="presOf" srcId="{2930FD89-2705-4BF7-9A90-BA311B8D3811}" destId="{1F95E68C-90DF-4FE0-B86E-7AE4975F12AF}" srcOrd="0" destOrd="0" presId="urn:microsoft.com/office/officeart/2018/2/layout/IconCircleList"/>
    <dgm:cxn modelId="{C7B1E357-F432-4604-9777-57BDB82E8031}" type="presOf" srcId="{1928861D-85CA-467C-9D42-9DF871C8E81B}" destId="{3BEA1C69-B423-428C-AAD3-FC9761AF9D1D}" srcOrd="0" destOrd="0" presId="urn:microsoft.com/office/officeart/2018/2/layout/IconCircleList"/>
    <dgm:cxn modelId="{5803825A-82C7-4A27-B054-E773E8CE23C1}" type="presOf" srcId="{4D1AD678-D31C-474C-937B-C82B50CA40D4}" destId="{84FD8FB6-E4D5-4F4B-A7AE-0CC42279DBD7}" srcOrd="0" destOrd="0" presId="urn:microsoft.com/office/officeart/2018/2/layout/IconCircleList"/>
    <dgm:cxn modelId="{B61C7289-2414-4FEA-9AC1-0F6495F9D0DC}" type="presOf" srcId="{F3B18E5B-9C69-41AD-BF42-5753977FCFB0}" destId="{22AAA47A-13FB-46EC-9535-129CFD0FF211}" srcOrd="0" destOrd="0" presId="urn:microsoft.com/office/officeart/2018/2/layout/IconCircleList"/>
    <dgm:cxn modelId="{A7E7A09A-FEF2-4760-94E8-D8B58EAEFCC1}" srcId="{F3B18E5B-9C69-41AD-BF42-5753977FCFB0}" destId="{65CB0B43-F029-427C-B81B-D21FB68190BF}" srcOrd="1" destOrd="0" parTransId="{7592A9BA-141A-415C-973B-E18F63E018BD}" sibTransId="{812044F0-35D4-452B-BE7E-7CFF979DC65D}"/>
    <dgm:cxn modelId="{19D64CAB-205D-47DD-9FBE-802E9FA10B50}" srcId="{F3B18E5B-9C69-41AD-BF42-5753977FCFB0}" destId="{84476EB3-A75E-4ED0-A249-E94A2DB43A41}" srcOrd="3" destOrd="0" parTransId="{042E0BC0-3C40-488F-950E-29F9E982E267}" sibTransId="{58F61236-B892-452F-8474-43A9D3C6EEC6}"/>
    <dgm:cxn modelId="{52C9F6BB-CCC6-4F86-9BFE-27B97D7B46B0}" type="presOf" srcId="{65CB0B43-F029-427C-B81B-D21FB68190BF}" destId="{E4EA625B-53AD-4500-BC53-03735AEA007C}" srcOrd="0" destOrd="0" presId="urn:microsoft.com/office/officeart/2018/2/layout/IconCircleList"/>
    <dgm:cxn modelId="{953045BE-A543-4C49-87A4-CCA444E57D89}" type="presOf" srcId="{1860562A-0DBA-4EF0-A286-877BB0AA42B0}" destId="{B056C2E9-40EB-439B-8D4D-B9EA718B6C6B}" srcOrd="0" destOrd="0" presId="urn:microsoft.com/office/officeart/2018/2/layout/IconCircleList"/>
    <dgm:cxn modelId="{AFF0FAC1-D4B6-4042-8757-FFC426189E27}" srcId="{F3B18E5B-9C69-41AD-BF42-5753977FCFB0}" destId="{CF98DF1C-C5BD-4898-A46A-92CC3467E2EA}" srcOrd="5" destOrd="0" parTransId="{1891ABDC-C6AD-427D-A18B-55CA88372173}" sibTransId="{E9BDAF05-B1BE-484D-8691-F2AF09907108}"/>
    <dgm:cxn modelId="{113FEBD0-87E5-4FC1-9839-C9C6151EDDF3}" srcId="{F3B18E5B-9C69-41AD-BF42-5753977FCFB0}" destId="{1860562A-0DBA-4EF0-A286-877BB0AA42B0}" srcOrd="4" destOrd="0" parTransId="{FB67EB13-A456-4DF7-B387-14A22D650440}" sibTransId="{2930FD89-2705-4BF7-9A90-BA311B8D3811}"/>
    <dgm:cxn modelId="{C45CDEE5-6693-45B4-A5DA-BAAC57A97F6E}" type="presOf" srcId="{7CB2F33A-FA86-42EA-8CC7-26EF5D38F1CE}" destId="{51164053-66A8-45AF-9C01-7573CFEB9B95}" srcOrd="0" destOrd="0" presId="urn:microsoft.com/office/officeart/2018/2/layout/IconCircleList"/>
    <dgm:cxn modelId="{6BD121BA-380B-4AE9-8829-7EBE7EA372B9}" type="presParOf" srcId="{22AAA47A-13FB-46EC-9535-129CFD0FF211}" destId="{73C6928E-7AA6-44DE-A068-594BEC6CBA2B}" srcOrd="0" destOrd="0" presId="urn:microsoft.com/office/officeart/2018/2/layout/IconCircleList"/>
    <dgm:cxn modelId="{D831DF32-5E2B-4FF2-8C4C-09BF4C0310C8}" type="presParOf" srcId="{73C6928E-7AA6-44DE-A068-594BEC6CBA2B}" destId="{1D68D123-502C-4CAC-980B-3C932DE0372D}" srcOrd="0" destOrd="0" presId="urn:microsoft.com/office/officeart/2018/2/layout/IconCircleList"/>
    <dgm:cxn modelId="{A07EDFB1-7333-42E8-8338-8B2400BDE441}" type="presParOf" srcId="{1D68D123-502C-4CAC-980B-3C932DE0372D}" destId="{2BA1E4FA-3371-49CC-B45C-991BDBE29089}" srcOrd="0" destOrd="0" presId="urn:microsoft.com/office/officeart/2018/2/layout/IconCircleList"/>
    <dgm:cxn modelId="{FB63B3A5-F281-4D78-BF90-E14B35425E36}" type="presParOf" srcId="{1D68D123-502C-4CAC-980B-3C932DE0372D}" destId="{1B5382A4-6DA0-49C8-A668-7A167154B94B}" srcOrd="1" destOrd="0" presId="urn:microsoft.com/office/officeart/2018/2/layout/IconCircleList"/>
    <dgm:cxn modelId="{50947194-7D8A-4D13-A493-1E90044F2177}" type="presParOf" srcId="{1D68D123-502C-4CAC-980B-3C932DE0372D}" destId="{01983591-1106-45A6-9D2B-0CC17C984BCF}" srcOrd="2" destOrd="0" presId="urn:microsoft.com/office/officeart/2018/2/layout/IconCircleList"/>
    <dgm:cxn modelId="{D77130EA-E614-46C5-90BC-0DF0B4E1E4D7}" type="presParOf" srcId="{1D68D123-502C-4CAC-980B-3C932DE0372D}" destId="{02D67832-7562-4312-BFEA-D58FFBF53B21}" srcOrd="3" destOrd="0" presId="urn:microsoft.com/office/officeart/2018/2/layout/IconCircleList"/>
    <dgm:cxn modelId="{C92605E6-26A5-4059-B539-4D11ABF63D04}" type="presParOf" srcId="{73C6928E-7AA6-44DE-A068-594BEC6CBA2B}" destId="{84FD8FB6-E4D5-4F4B-A7AE-0CC42279DBD7}" srcOrd="1" destOrd="0" presId="urn:microsoft.com/office/officeart/2018/2/layout/IconCircleList"/>
    <dgm:cxn modelId="{6F56D5C3-BB4A-466C-8043-D790AB776787}" type="presParOf" srcId="{73C6928E-7AA6-44DE-A068-594BEC6CBA2B}" destId="{23D8E5E9-0D4B-4D09-9BDE-2D730D7D7A63}" srcOrd="2" destOrd="0" presId="urn:microsoft.com/office/officeart/2018/2/layout/IconCircleList"/>
    <dgm:cxn modelId="{34C00AA2-3EE7-404F-9C19-31FA4281DBE6}" type="presParOf" srcId="{23D8E5E9-0D4B-4D09-9BDE-2D730D7D7A63}" destId="{0EEEF533-674B-42B1-812B-D93B57222904}" srcOrd="0" destOrd="0" presId="urn:microsoft.com/office/officeart/2018/2/layout/IconCircleList"/>
    <dgm:cxn modelId="{4EC60BCC-7A26-4C39-AB6A-5AB8FF29624D}" type="presParOf" srcId="{23D8E5E9-0D4B-4D09-9BDE-2D730D7D7A63}" destId="{C2805953-5BE9-4B23-BFF6-8939A797143A}" srcOrd="1" destOrd="0" presId="urn:microsoft.com/office/officeart/2018/2/layout/IconCircleList"/>
    <dgm:cxn modelId="{B4A1AF05-9C87-4C4F-82D0-B04080DC51FC}" type="presParOf" srcId="{23D8E5E9-0D4B-4D09-9BDE-2D730D7D7A63}" destId="{31671493-8214-4775-ACFB-18538E9BFC2C}" srcOrd="2" destOrd="0" presId="urn:microsoft.com/office/officeart/2018/2/layout/IconCircleList"/>
    <dgm:cxn modelId="{D034E08D-4FD6-403E-8FF0-0C7B618183A5}" type="presParOf" srcId="{23D8E5E9-0D4B-4D09-9BDE-2D730D7D7A63}" destId="{E4EA625B-53AD-4500-BC53-03735AEA007C}" srcOrd="3" destOrd="0" presId="urn:microsoft.com/office/officeart/2018/2/layout/IconCircleList"/>
    <dgm:cxn modelId="{A3BDDC5A-64D1-4ADF-AD86-F411736C9F06}" type="presParOf" srcId="{73C6928E-7AA6-44DE-A068-594BEC6CBA2B}" destId="{E839FB2A-C629-44AD-858E-6C3CACC9B952}" srcOrd="3" destOrd="0" presId="urn:microsoft.com/office/officeart/2018/2/layout/IconCircleList"/>
    <dgm:cxn modelId="{78390283-D095-4BAA-9CF3-07AD2981A204}" type="presParOf" srcId="{73C6928E-7AA6-44DE-A068-594BEC6CBA2B}" destId="{E359A554-832B-4833-BA28-002BB867A011}" srcOrd="4" destOrd="0" presId="urn:microsoft.com/office/officeart/2018/2/layout/IconCircleList"/>
    <dgm:cxn modelId="{A2682B91-9FFE-4DEC-B33F-6DAB56DAAD73}" type="presParOf" srcId="{E359A554-832B-4833-BA28-002BB867A011}" destId="{A84BF772-764F-4A37-9C4D-C00F06457245}" srcOrd="0" destOrd="0" presId="urn:microsoft.com/office/officeart/2018/2/layout/IconCircleList"/>
    <dgm:cxn modelId="{5E793BFC-8111-41B2-8FBB-43A046BA5801}" type="presParOf" srcId="{E359A554-832B-4833-BA28-002BB867A011}" destId="{69E0F5D8-26BC-41FF-9F9C-79C7B9B97D07}" srcOrd="1" destOrd="0" presId="urn:microsoft.com/office/officeart/2018/2/layout/IconCircleList"/>
    <dgm:cxn modelId="{39CDB712-0D1F-42CD-83CE-5A86D2FB8CD6}" type="presParOf" srcId="{E359A554-832B-4833-BA28-002BB867A011}" destId="{21D091E7-E793-422C-BCF1-918D2FCB4FD8}" srcOrd="2" destOrd="0" presId="urn:microsoft.com/office/officeart/2018/2/layout/IconCircleList"/>
    <dgm:cxn modelId="{7EDB266E-64DE-49A0-9995-8BEC1B24A0A1}" type="presParOf" srcId="{E359A554-832B-4833-BA28-002BB867A011}" destId="{51164053-66A8-45AF-9C01-7573CFEB9B95}" srcOrd="3" destOrd="0" presId="urn:microsoft.com/office/officeart/2018/2/layout/IconCircleList"/>
    <dgm:cxn modelId="{FE558359-A35F-4B61-B1DB-A6BF53F95825}" type="presParOf" srcId="{73C6928E-7AA6-44DE-A068-594BEC6CBA2B}" destId="{3BEA1C69-B423-428C-AAD3-FC9761AF9D1D}" srcOrd="5" destOrd="0" presId="urn:microsoft.com/office/officeart/2018/2/layout/IconCircleList"/>
    <dgm:cxn modelId="{2DC7A40F-A5F6-4E14-8171-9C0F80F89BAC}" type="presParOf" srcId="{73C6928E-7AA6-44DE-A068-594BEC6CBA2B}" destId="{9409D970-84D4-4A8D-A749-7972CD55F123}" srcOrd="6" destOrd="0" presId="urn:microsoft.com/office/officeart/2018/2/layout/IconCircleList"/>
    <dgm:cxn modelId="{D1687970-DD01-43F6-8869-683681C24767}" type="presParOf" srcId="{9409D970-84D4-4A8D-A749-7972CD55F123}" destId="{327D2457-22B5-4B23-9049-DE17AE3C20A8}" srcOrd="0" destOrd="0" presId="urn:microsoft.com/office/officeart/2018/2/layout/IconCircleList"/>
    <dgm:cxn modelId="{0301DEF1-38F8-4BD3-875E-34AFBC3B8787}" type="presParOf" srcId="{9409D970-84D4-4A8D-A749-7972CD55F123}" destId="{C3BBC68D-ABFA-4F31-ACBA-36EB78C02F14}" srcOrd="1" destOrd="0" presId="urn:microsoft.com/office/officeart/2018/2/layout/IconCircleList"/>
    <dgm:cxn modelId="{16EC67DB-3FE4-4F19-A4E3-6C3E80AF3997}" type="presParOf" srcId="{9409D970-84D4-4A8D-A749-7972CD55F123}" destId="{04A684B2-FFA8-42A7-8FA6-A3C5004A30E6}" srcOrd="2" destOrd="0" presId="urn:microsoft.com/office/officeart/2018/2/layout/IconCircleList"/>
    <dgm:cxn modelId="{439CD5B6-5953-447A-8446-7BD8DDCB7442}" type="presParOf" srcId="{9409D970-84D4-4A8D-A749-7972CD55F123}" destId="{DD29AA2A-848B-44C9-83F8-E114BB02ED6E}" srcOrd="3" destOrd="0" presId="urn:microsoft.com/office/officeart/2018/2/layout/IconCircleList"/>
    <dgm:cxn modelId="{3B8EB633-A6E2-45D6-BC85-2771403A46D6}" type="presParOf" srcId="{73C6928E-7AA6-44DE-A068-594BEC6CBA2B}" destId="{F1BB3C67-5B8A-41FA-8C39-454567243C07}" srcOrd="7" destOrd="0" presId="urn:microsoft.com/office/officeart/2018/2/layout/IconCircleList"/>
    <dgm:cxn modelId="{CBF481D3-CD0B-45E3-8230-E53D763C0707}" type="presParOf" srcId="{73C6928E-7AA6-44DE-A068-594BEC6CBA2B}" destId="{448D08C5-804F-4BBC-8BC5-DAAAAF71B2D1}" srcOrd="8" destOrd="0" presId="urn:microsoft.com/office/officeart/2018/2/layout/IconCircleList"/>
    <dgm:cxn modelId="{7D02EAA9-ECC8-44BB-B0A9-D516FC60712A}" type="presParOf" srcId="{448D08C5-804F-4BBC-8BC5-DAAAAF71B2D1}" destId="{FF97654E-EC9B-4C42-A814-C52A80BBEC3B}" srcOrd="0" destOrd="0" presId="urn:microsoft.com/office/officeart/2018/2/layout/IconCircleList"/>
    <dgm:cxn modelId="{89D8C2F3-06B5-4743-AE2C-2FE9620C8774}" type="presParOf" srcId="{448D08C5-804F-4BBC-8BC5-DAAAAF71B2D1}" destId="{C253F67C-B3BB-4AF2-986B-F4C15940EFAA}" srcOrd="1" destOrd="0" presId="urn:microsoft.com/office/officeart/2018/2/layout/IconCircleList"/>
    <dgm:cxn modelId="{E66BE75E-EE0E-45E8-8ED5-6171DEACCD39}" type="presParOf" srcId="{448D08C5-804F-4BBC-8BC5-DAAAAF71B2D1}" destId="{29004C6B-A8A7-43EE-89DD-9EB887AB1664}" srcOrd="2" destOrd="0" presId="urn:microsoft.com/office/officeart/2018/2/layout/IconCircleList"/>
    <dgm:cxn modelId="{21BE86D2-4F4B-478A-A7D0-A13A478FD46B}" type="presParOf" srcId="{448D08C5-804F-4BBC-8BC5-DAAAAF71B2D1}" destId="{B056C2E9-40EB-439B-8D4D-B9EA718B6C6B}" srcOrd="3" destOrd="0" presId="urn:microsoft.com/office/officeart/2018/2/layout/IconCircleList"/>
    <dgm:cxn modelId="{8172E991-739D-4B41-91C7-D80A23B42020}" type="presParOf" srcId="{73C6928E-7AA6-44DE-A068-594BEC6CBA2B}" destId="{1F95E68C-90DF-4FE0-B86E-7AE4975F12AF}" srcOrd="9" destOrd="0" presId="urn:microsoft.com/office/officeart/2018/2/layout/IconCircleList"/>
    <dgm:cxn modelId="{F320EE08-A79D-4192-988C-FF139DB25B52}" type="presParOf" srcId="{73C6928E-7AA6-44DE-A068-594BEC6CBA2B}" destId="{7D51243E-F731-4C4E-9C51-1965789CE991}" srcOrd="10" destOrd="0" presId="urn:microsoft.com/office/officeart/2018/2/layout/IconCircleList"/>
    <dgm:cxn modelId="{C7307289-28DB-4423-9DC4-1F3C3F223B99}" type="presParOf" srcId="{7D51243E-F731-4C4E-9C51-1965789CE991}" destId="{7A45C029-30FC-4BA0-8D9A-5A72873F161B}" srcOrd="0" destOrd="0" presId="urn:microsoft.com/office/officeart/2018/2/layout/IconCircleList"/>
    <dgm:cxn modelId="{96BB221F-B3E8-4444-8E59-DD273E4E4623}" type="presParOf" srcId="{7D51243E-F731-4C4E-9C51-1965789CE991}" destId="{05412E68-0732-498D-ACEC-B9025D6EC68A}" srcOrd="1" destOrd="0" presId="urn:microsoft.com/office/officeart/2018/2/layout/IconCircleList"/>
    <dgm:cxn modelId="{5C99B7DB-16AD-46C5-AB43-8EF239B12B1B}" type="presParOf" srcId="{7D51243E-F731-4C4E-9C51-1965789CE991}" destId="{43EA598A-6EFF-40BB-A4E7-5894E09557E8}" srcOrd="2" destOrd="0" presId="urn:microsoft.com/office/officeart/2018/2/layout/IconCircleList"/>
    <dgm:cxn modelId="{F2F2A6FD-59DD-4799-9A78-5C5C847A419A}" type="presParOf" srcId="{7D51243E-F731-4C4E-9C51-1965789CE991}" destId="{7492BA9A-B55A-4F04-97B0-D379776A3EC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E9B16-CD25-4D0D-AD6C-E6FB3ACFA890}">
      <dsp:nvSpPr>
        <dsp:cNvPr id="0" name=""/>
        <dsp:cNvSpPr/>
      </dsp:nvSpPr>
      <dsp:spPr>
        <a:xfrm>
          <a:off x="640" y="288767"/>
          <a:ext cx="2593224" cy="31118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Operate in quarterly cycles with clear targets on 7-day recontact rate, FCR, CSAT (where available), cost per interaction, channel mix and SLA adherence.</a:t>
          </a:r>
        </a:p>
      </dsp:txBody>
      <dsp:txXfrm>
        <a:off x="640" y="1533515"/>
        <a:ext cx="2593224" cy="1867121"/>
      </dsp:txXfrm>
    </dsp:sp>
    <dsp:sp modelId="{7EB5D795-D478-42AA-97B4-F3D973DC36AB}">
      <dsp:nvSpPr>
        <dsp:cNvPr id="0" name=""/>
        <dsp:cNvSpPr/>
      </dsp:nvSpPr>
      <dsp:spPr>
        <a:xfrm>
          <a:off x="640" y="2887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01</a:t>
          </a:r>
        </a:p>
      </dsp:txBody>
      <dsp:txXfrm>
        <a:off x="640" y="288767"/>
        <a:ext cx="2593224" cy="1244747"/>
      </dsp:txXfrm>
    </dsp:sp>
    <dsp:sp modelId="{E8CB352A-10BA-4131-BA7C-A80A314D9F0E}">
      <dsp:nvSpPr>
        <dsp:cNvPr id="0" name=""/>
        <dsp:cNvSpPr/>
      </dsp:nvSpPr>
      <dsp:spPr>
        <a:xfrm>
          <a:off x="2801323" y="288767"/>
          <a:ext cx="2593224" cy="3111869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Slice performance by country, channel, product, provider, skill and language so we can see where specific teams or flows need attention.</a:t>
          </a:r>
        </a:p>
      </dsp:txBody>
      <dsp:txXfrm>
        <a:off x="2801323" y="1533515"/>
        <a:ext cx="2593224" cy="1867121"/>
      </dsp:txXfrm>
    </dsp:sp>
    <dsp:sp modelId="{8F1BF23C-7468-4F1E-9349-520DDF1F1B58}">
      <dsp:nvSpPr>
        <dsp:cNvPr id="0" name=""/>
        <dsp:cNvSpPr/>
      </dsp:nvSpPr>
      <dsp:spPr>
        <a:xfrm>
          <a:off x="2801323" y="2887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02</a:t>
          </a:r>
        </a:p>
      </dsp:txBody>
      <dsp:txXfrm>
        <a:off x="2801323" y="288767"/>
        <a:ext cx="2593224" cy="1244747"/>
      </dsp:txXfrm>
    </dsp:sp>
    <dsp:sp modelId="{6C7C49EB-D220-49FE-B475-664F0C20934A}">
      <dsp:nvSpPr>
        <dsp:cNvPr id="0" name=""/>
        <dsp:cNvSpPr/>
      </dsp:nvSpPr>
      <dsp:spPr>
        <a:xfrm>
          <a:off x="5602005" y="288767"/>
          <a:ext cx="2593224" cy="311186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 a standard review pack (like the Dec 2024 views) each quarter to track trends in quality, demand and cost consistently across markets.</a:t>
          </a:r>
        </a:p>
      </dsp:txBody>
      <dsp:txXfrm>
        <a:off x="5602005" y="1533515"/>
        <a:ext cx="2593224" cy="1867121"/>
      </dsp:txXfrm>
    </dsp:sp>
    <dsp:sp modelId="{33A2CF63-2239-4EE4-98EA-0B4AB1131FF9}">
      <dsp:nvSpPr>
        <dsp:cNvPr id="0" name=""/>
        <dsp:cNvSpPr/>
      </dsp:nvSpPr>
      <dsp:spPr>
        <a:xfrm>
          <a:off x="5602005" y="2887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03</a:t>
          </a:r>
        </a:p>
      </dsp:txBody>
      <dsp:txXfrm>
        <a:off x="5602005" y="288767"/>
        <a:ext cx="2593224" cy="12447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54849-D46F-4E88-924D-FE3DFEF0F926}">
      <dsp:nvSpPr>
        <dsp:cNvPr id="0" name=""/>
        <dsp:cNvSpPr/>
      </dsp:nvSpPr>
      <dsp:spPr>
        <a:xfrm>
          <a:off x="1118728" y="431"/>
          <a:ext cx="2837340" cy="17024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Quarterly Business Review: Director Merchant Care, country ops, analytics and product agree priorities and targets based on quality, demand and cost insights.</a:t>
          </a:r>
        </a:p>
      </dsp:txBody>
      <dsp:txXfrm>
        <a:off x="1118728" y="431"/>
        <a:ext cx="2837340" cy="1702404"/>
      </dsp:txXfrm>
    </dsp:sp>
    <dsp:sp modelId="{FE2DB536-4317-46DE-9755-FFAB6374EDA5}">
      <dsp:nvSpPr>
        <dsp:cNvPr id="0" name=""/>
        <dsp:cNvSpPr/>
      </dsp:nvSpPr>
      <dsp:spPr>
        <a:xfrm>
          <a:off x="4239802" y="431"/>
          <a:ext cx="2837340" cy="170240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Monthly Channel/Provider Review: ops leads and vendor managers deep dive into underperforming channels/providers and define actions (training, scripts, routing).</a:t>
          </a:r>
        </a:p>
      </dsp:txBody>
      <dsp:txXfrm>
        <a:off x="4239802" y="431"/>
        <a:ext cx="2837340" cy="1702404"/>
      </dsp:txXfrm>
    </dsp:sp>
    <dsp:sp modelId="{2248FA58-087A-4525-88E0-60CC1BD4E9AC}">
      <dsp:nvSpPr>
        <dsp:cNvPr id="0" name=""/>
        <dsp:cNvSpPr/>
      </dsp:nvSpPr>
      <dsp:spPr>
        <a:xfrm>
          <a:off x="1118728" y="1986569"/>
          <a:ext cx="2837340" cy="17024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Weekly Ops Huddles by skill/language: team leads review live KPIs (SLA, queues, recontact spikes) and trigger coaching or short-term process fixes.</a:t>
          </a:r>
        </a:p>
      </dsp:txBody>
      <dsp:txXfrm>
        <a:off x="1118728" y="1986569"/>
        <a:ext cx="2837340" cy="1702404"/>
      </dsp:txXfrm>
    </dsp:sp>
    <dsp:sp modelId="{842DBC92-9D47-46B2-B761-CB04B70FA84F}">
      <dsp:nvSpPr>
        <dsp:cNvPr id="0" name=""/>
        <dsp:cNvSpPr/>
      </dsp:nvSpPr>
      <dsp:spPr>
        <a:xfrm>
          <a:off x="4239802" y="1986569"/>
          <a:ext cx="2837340" cy="17024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Analytics: owns data model, dashboards and deep dives; Product/CX: owns self-service and product changes; Workforce Management: owns staffing vs channel strategy.</a:t>
          </a:r>
        </a:p>
      </dsp:txBody>
      <dsp:txXfrm>
        <a:off x="4239802" y="1986569"/>
        <a:ext cx="2837340" cy="17024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E0545-82F7-4AF0-9E6F-AD963974CC6C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Own the performance data layer</a:t>
          </a:r>
          <a:r>
            <a:rPr lang="en-US" sz="1100" b="0" i="0" kern="1200" baseline="0"/>
            <a:t> – Me and my team design, build and maintain the </a:t>
          </a:r>
          <a:r>
            <a:rPr lang="en-US" sz="1100" b="0" i="1" kern="1200" baseline="0"/>
            <a:t>SSOT </a:t>
          </a:r>
          <a:r>
            <a:rPr lang="en-US" sz="1100" b="0" i="0" kern="1200" baseline="0"/>
            <a:t>for Support performance.</a:t>
          </a:r>
          <a:endParaRPr lang="en-US" sz="1100" kern="1200"/>
        </a:p>
      </dsp:txBody>
      <dsp:txXfrm>
        <a:off x="19451" y="19451"/>
        <a:ext cx="5516512" cy="625190"/>
      </dsp:txXfrm>
    </dsp:sp>
    <dsp:sp modelId="{52EAE3A5-2F91-4640-ACBF-93848A10E904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Central dashboard (if data is integrated)</a:t>
          </a:r>
          <a:r>
            <a:rPr lang="en-US" sz="1100" b="0" i="0" kern="1200" baseline="0" dirty="0"/>
            <a:t> – one BI dashboard with KPIs like 7-day recontact, resolution rate, contacts per merchant, handling/response times, performance by channel &amp; agent company, product-level recontacts and cost per interaction.</a:t>
          </a:r>
          <a:endParaRPr lang="en-US" sz="1100" kern="1200" dirty="0"/>
        </a:p>
      </dsp:txBody>
      <dsp:txXfrm>
        <a:off x="490713" y="775779"/>
        <a:ext cx="5368995" cy="625190"/>
      </dsp:txXfrm>
    </dsp:sp>
    <dsp:sp modelId="{04148FB7-6687-4CBA-A701-BB38EDE77EDF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Consistent definitions</a:t>
          </a:r>
          <a:r>
            <a:rPr lang="en-US" sz="1100" b="0" i="0" kern="1200" baseline="0"/>
            <a:t> – I define and enforce common KPI definitions and breakdowns (country, channel, product, provider, skill, language) so all teams talk about the same numbers(maintain definitions playbook if required)</a:t>
          </a:r>
          <a:endParaRPr lang="en-US" sz="1100" kern="1200"/>
        </a:p>
      </dsp:txBody>
      <dsp:txXfrm>
        <a:off x="961976" y="1532107"/>
        <a:ext cx="5368995" cy="625190"/>
      </dsp:txXfrm>
    </dsp:sp>
    <dsp:sp modelId="{D42859FB-092D-4271-BF7A-2B024D1E4B2C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Fallback when data isn’t centralized</a:t>
          </a:r>
          <a:r>
            <a:rPr lang="en-US" sz="1100" b="0" i="0" kern="1200" baseline="0"/>
            <a:t> – I set up a shared Google Sheet “dashboard” with the same KPIs, structure and formulas, and define who updates what (Ops leads, Product, Vendor managers) and when.</a:t>
          </a:r>
          <a:endParaRPr lang="en-US" sz="1100" kern="1200"/>
        </a:p>
      </dsp:txBody>
      <dsp:txXfrm>
        <a:off x="1433238" y="2288435"/>
        <a:ext cx="5368995" cy="625190"/>
      </dsp:txXfrm>
    </dsp:sp>
    <dsp:sp modelId="{FE1529C9-1B22-43B1-85E4-45087D5EC7E9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Data quality ownership</a:t>
          </a:r>
          <a:r>
            <a:rPr lang="en-US" sz="1100" b="0" i="0" kern="1200" baseline="0"/>
            <a:t> – Me and my team monitor data completeness and anomalies (e.g. missing IDs, time fields) and flags issues back to Ops/Engineering.</a:t>
          </a:r>
          <a:endParaRPr lang="en-US" sz="1100" kern="1200"/>
        </a:p>
      </dsp:txBody>
      <dsp:txXfrm>
        <a:off x="1904501" y="3044763"/>
        <a:ext cx="5368995" cy="625190"/>
      </dsp:txXfrm>
    </dsp:sp>
    <dsp:sp modelId="{B3032A1E-2586-4FAD-992C-EA59F742165D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CE160277-5607-4CCF-A0F8-747985A77FBE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3E0BED30-C211-4D48-A966-B9E0631476C7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84AE9D97-0018-40CA-BBA5-CF06D3652596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1E4FA-3371-49CC-B45C-991BDBE29089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5382A4-6DA0-49C8-A668-7A167154B94B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67832-7562-4312-BFEA-D58FFBF53B21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Run the Quarterly Business Review (QBR) process</a:t>
          </a:r>
          <a:r>
            <a:rPr lang="en-US" sz="1100" b="0" i="0" kern="1200" baseline="0"/>
            <a:t> – I prepare the QBR pack from the dashboard (incl. cost KPIs), define the agenda, invite stakeholders (Ops, Product, Vendor Mgmt, Finance) and facilitate the discussion.</a:t>
          </a:r>
          <a:endParaRPr lang="en-US" sz="1100" kern="1200"/>
        </a:p>
      </dsp:txBody>
      <dsp:txXfrm>
        <a:off x="1736122" y="1100"/>
        <a:ext cx="2172539" cy="921683"/>
      </dsp:txXfrm>
    </dsp:sp>
    <dsp:sp modelId="{0EEEF533-674B-42B1-812B-D93B57222904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805953-5BE9-4B23-BFF6-8939A797143A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A625B-53AD-4500-BC53-03735AEA007C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Track performance vs targets</a:t>
          </a:r>
          <a:r>
            <a:rPr lang="en-US" sz="1100" b="0" i="0" kern="1200" baseline="0"/>
            <a:t> – I show where we stand vs agreed quarterly goals (quality, volume, cost, vendor performance) and highlight the top 3–5 problem areas to focus on.</a:t>
          </a:r>
          <a:endParaRPr lang="en-US" sz="1100" kern="1200"/>
        </a:p>
      </dsp:txBody>
      <dsp:txXfrm>
        <a:off x="5406396" y="1100"/>
        <a:ext cx="2172539" cy="921683"/>
      </dsp:txXfrm>
    </dsp:sp>
    <dsp:sp modelId="{A84BF772-764F-4A37-9C4D-C00F06457245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0F5D8-26BC-41FF-9F9C-79C7B9B97D07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64053-66A8-45AF-9C01-7573CFEB9B95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Drive a clear action plan</a:t>
          </a:r>
          <a:r>
            <a:rPr lang="en-US" sz="1100" b="0" i="0" kern="1200" baseline="0"/>
            <a:t> – I capture concrete actions with owners and timelines for each area (Ops coaching, product changes, vendor improvement plans, channel routing tweaks).</a:t>
          </a:r>
          <a:endParaRPr lang="en-US" sz="1100" kern="1200"/>
        </a:p>
      </dsp:txBody>
      <dsp:txXfrm>
        <a:off x="1736122" y="1635560"/>
        <a:ext cx="2172539" cy="921683"/>
      </dsp:txXfrm>
    </dsp:sp>
    <dsp:sp modelId="{327D2457-22B5-4B23-9049-DE17AE3C20A8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BC68D-ABFA-4F31-ACBA-36EB78C02F14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9AA2A-848B-44C9-83F8-E114BB02ED6E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Ensure follow-up between QBRs</a:t>
          </a:r>
          <a:r>
            <a:rPr lang="en-US" sz="1100" b="0" i="0" kern="1200" baseline="0"/>
            <a:t> – I set up weekly/monthly check-ins by channel/skill/vendor to track progress on these actions and escalate risks early; goal is proactivity instead of reactive analytics.</a:t>
          </a:r>
          <a:endParaRPr lang="en-US" sz="1100" kern="1200"/>
        </a:p>
      </dsp:txBody>
      <dsp:txXfrm>
        <a:off x="5406396" y="1635560"/>
        <a:ext cx="2172539" cy="921683"/>
      </dsp:txXfrm>
    </dsp:sp>
    <dsp:sp modelId="{FF97654E-EC9B-4C42-A814-C52A80BBEC3B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3F67C-B3BB-4AF2-986B-F4C15940EFAA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6C2E9-40EB-439B-8D4D-B9EA718B6C6B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Continuously evolve the framework</a:t>
          </a:r>
          <a:r>
            <a:rPr lang="en-US" sz="1100" b="0" i="0" kern="1200" baseline="0"/>
            <a:t> – I refine KPIs, thresholds and the dashboard based on what we learn so the process stays decision-driving, not just reporting.</a:t>
          </a:r>
          <a:endParaRPr lang="en-US" sz="1100" kern="1200"/>
        </a:p>
      </dsp:txBody>
      <dsp:txXfrm>
        <a:off x="1736122" y="3270020"/>
        <a:ext cx="2172539" cy="921683"/>
      </dsp:txXfrm>
    </dsp:sp>
    <dsp:sp modelId="{7A45C029-30FC-4BA0-8D9A-5A72873F161B}">
      <dsp:nvSpPr>
        <dsp:cNvPr id="0" name=""/>
        <dsp:cNvSpPr/>
      </dsp:nvSpPr>
      <dsp:spPr>
        <a:xfrm>
          <a:off x="4287209" y="327002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412E68-0732-498D-ACEC-B9025D6EC68A}">
      <dsp:nvSpPr>
        <dsp:cNvPr id="0" name=""/>
        <dsp:cNvSpPr/>
      </dsp:nvSpPr>
      <dsp:spPr>
        <a:xfrm>
          <a:off x="4480763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2BA9A-B55A-4F04-97B0-D379776A3ECE}">
      <dsp:nvSpPr>
        <dsp:cNvPr id="0" name=""/>
        <dsp:cNvSpPr/>
      </dsp:nvSpPr>
      <dsp:spPr>
        <a:xfrm>
          <a:off x="5406396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Additionally set up relevant team KR’s to follow through and track performance easily</a:t>
          </a:r>
        </a:p>
      </dsp:txBody>
      <dsp:txXfrm>
        <a:off x="5406396" y="3270020"/>
        <a:ext cx="2172539" cy="921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659" y="1262668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  <a:latin typeface="Calibri"/>
              </a:rPr>
              <a:t>Operations Analytics Lead – Case Study</a:t>
            </a:r>
            <a:br>
              <a:rPr lang="en-US" sz="4200" b="1" dirty="0">
                <a:solidFill>
                  <a:srgbClr val="FFFFFF"/>
                </a:solidFill>
                <a:latin typeface="Calibri"/>
              </a:rPr>
            </a:br>
            <a:br>
              <a:rPr lang="en-US" sz="4200" b="1" dirty="0">
                <a:solidFill>
                  <a:srgbClr val="FFFFFF"/>
                </a:solidFill>
                <a:latin typeface="Calibri"/>
              </a:rPr>
            </a:br>
            <a:r>
              <a:rPr lang="en-US" sz="2400" b="1" dirty="0">
                <a:solidFill>
                  <a:srgbClr val="FFFFFF"/>
                </a:solidFill>
                <a:latin typeface="Calibri"/>
              </a:rPr>
              <a:t>Dec’25</a:t>
            </a:r>
            <a:br>
              <a:rPr lang="en-US" sz="2400" b="1" dirty="0">
                <a:solidFill>
                  <a:srgbClr val="FFFFFF"/>
                </a:solidFill>
                <a:latin typeface="Calibri"/>
              </a:rPr>
            </a:br>
            <a:r>
              <a:rPr lang="en-US" sz="2400" b="1" dirty="0">
                <a:solidFill>
                  <a:srgbClr val="FFFFFF"/>
                </a:solidFill>
                <a:latin typeface="Calibri"/>
              </a:rPr>
              <a:t>Presenter: Abeer Khan</a:t>
            </a:r>
            <a:endParaRPr lang="en-US" sz="4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Calibri"/>
              </a:rPr>
              <a:t>Insights recap with Director of Merchant Care, Europe</a:t>
            </a:r>
            <a:endParaRPr lang="en-US" b="0" dirty="0"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3958C-AF69-C9D9-EB26-FAA4A99F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200" b="1" dirty="0">
                <a:solidFill>
                  <a:srgbClr val="FFFFFF"/>
                </a:solidFill>
              </a:rPr>
              <a:t>Based on the data provided, what questions would you ask the Support teams to clarify their strategy?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4FD051-A9F6-2BB9-7B5D-4ECE23DD43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7694" y="649480"/>
            <a:ext cx="491651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Email-heavy, expensive mix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 is still the dominant channel and also shows the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highest 7-day recontact rate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cost per interaction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Are we intentionally email-led, or is this a legacy pattern we should rebalance towards chat and voice?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Chat data incomplete for 2024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Chat is structurally cheaper (concurrency) and can perform well, but volumes and data quality for most of 2024 look unstable(incomplete)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 we see chat as a strategic first-line channel, and what’s the roadmap to stabilize routing and data monitoring fo</a:t>
            </a:r>
            <a:r>
              <a:rPr lang="en-US" altLang="en-US" sz="1300" i="1" dirty="0">
                <a:latin typeface="Arial" panose="020B0604020202020204" pitchFamily="34" charset="0"/>
              </a:rPr>
              <a:t>r chat channel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Resolution behavior is inconsistent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“resolving resolutions ” flag still sees considerably high recontact rate within 7 days 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 we have a single, operational definition of “resolved” that teams follow and QA reinforces? 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Some products drive disproportionate repeat contacts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Products like profile / hardware /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misc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generate more repeat contacts per merchant.</a:t>
            </a:r>
          </a:p>
          <a:p>
            <a:pPr marL="457200" marR="0" lvl="1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Are these topics jointly owned with Product/CX, with a clear plan for self-service and journey fixes?</a:t>
            </a:r>
          </a:p>
        </p:txBody>
      </p:sp>
    </p:spTree>
    <p:extLst>
      <p:ext uri="{BB962C8B-B14F-4D97-AF65-F5344CB8AC3E}">
        <p14:creationId xmlns:p14="http://schemas.microsoft.com/office/powerpoint/2010/main" val="337013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E9598-3903-0415-6B89-F1432904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47DD1B-2DBB-89E9-4BFD-0087801E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B339B8-7688-A131-B499-295284D33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12EA3-D972-69BD-0DEE-23BB0B03C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558CAF-E7CF-3E0C-95B1-E4D00C62C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1959C3-E325-F16C-06B9-7ED5CE2AA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2BCD58F-145C-C1D0-3454-F7E40BEE1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E31F75-785F-E66D-DD58-1D612D5F1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A0B65-F755-D745-B22D-594247ACA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200" b="1" dirty="0">
                <a:solidFill>
                  <a:srgbClr val="FFFFFF"/>
                </a:solidFill>
              </a:rPr>
              <a:t>What recommendations would you make to improve the performance of the overall engine?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1B25C0-B199-D1A3-7501-C5026E96A8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8389" y="467995"/>
            <a:ext cx="553561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Standardize a clear definition of “resolved”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e.g. no same-issue contact again within 7–10 days – and make sure QA, training and coaching follow that.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Clarity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reopened vs new case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have a proper case ID / linking so we know when it’s the same issue coming back vs a brand-new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the big pain products first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more self-service, in-product tips and better scripts for profile, hardware, banking, online payments, etc.(most recontacted product categories)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smartly by complexity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complex/urgent stuff → voice, simple/repetitive → chat, and keep email for cases that really need it (forms/templates for the rest).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up tracking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fix chat merchant IDs, time fields, MCC and standardize metric definitions across channels/providers; add basic data-quality monitoring.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up a continuous agent feedback loop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so agents can quickly tag recurring issues and friction; aggregate this with recontact/volume data and feed it into a shared improvement backlog for Ops + Product.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regular joint deep dives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analytics, ops and product sit together, review top recontact drivers and keep one shared list of fixes with owners.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more signals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agent notes (free text or dropdown tags) and post-contact scores like CSAT/CES so we see both “what happened” and “how it felt”.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66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E86DA-7651-EFB1-7387-30B9DB2B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304741-B5A8-171D-3DE2-7F286A4C4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C58BA4-9731-E39D-2101-EC113819C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32E9B3-F3AC-0CF5-553E-D4D6D5BBE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612239-4202-9926-100D-DF1BA65BD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22E10C-F605-7BC8-04BB-2B76E566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0F9B60F-0988-2030-F082-A012E4BE3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E1A9E6-6D8A-1415-C962-4EE709D56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7FC98-8D15-3809-884C-0E783E26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547" y="1365448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 b="1" dirty="0">
                <a:solidFill>
                  <a:schemeClr val="bg1"/>
                </a:solidFill>
              </a:rPr>
              <a:t>Based on the costs computed, what would you recommend to be the 2024 channel strategy, and where should Support teams invest more?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AD1F8E-BA7E-860A-7E03-4E0BB8E9FE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8388" y="1437491"/>
            <a:ext cx="524928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 email where possible –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the priciest and has the worst recontact, so move standard/simple requests away from email (use forms that lead to chat or self-service).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chat (AI + human) the default –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 simple, repeat questions into chat; invest in AI chatbots, smart FAQs and good agent scripts so more is solved quickly there in turn -&gt; improve chances 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FCR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altLang="en-US" sz="1400" dirty="0">
                <a:latin typeface="Arial" panose="020B0604020202020204" pitchFamily="34" charset="0"/>
              </a:rPr>
              <a:t>Improve knowledge base and agent tools so chat agents can close more in one touch, keeping handle times low.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calls only for complex / high-value issues –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money, access, escalations etc.; use callbacks/time slots to avoid long, expensive queues.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the mix every quarter –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cost-per-interaction + recontact data to keep shifting volume from email/voice towards chat and self-service.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93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Performance Management Framework – Quarterly Cycle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36359BFD-3E03-4B52-F7FD-561B6AA08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50457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Performance Management – Ceremonies, Roles &amp; Responsibilities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F8107B6-5306-E3C6-4030-B286C9DBE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64348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EDF10-B61F-A52F-7A62-094AD96A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518-440A-773D-98B4-F3E1CEC8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My Role – Data &amp; Single Source of Truth</a:t>
            </a:r>
          </a:p>
        </p:txBody>
      </p:sp>
      <p:graphicFrame>
        <p:nvGraphicFramePr>
          <p:cNvPr id="39" name="Rectangle 1">
            <a:extLst>
              <a:ext uri="{FF2B5EF4-FFF2-40B4-BE49-F238E27FC236}">
                <a16:creationId xmlns:a16="http://schemas.microsoft.com/office/drawing/2014/main" id="{C0DF8662-D2D0-9E3A-A8EB-4E38757E9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83284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282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6E7A9-88FD-CD8D-4D69-69D5DFB84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56C35-65C2-20BF-17FB-793307ED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b="1">
                <a:solidFill>
                  <a:srgbClr val="FFFFFF"/>
                </a:solidFill>
              </a:rPr>
              <a:t>My Role – Quarterly Reviews &amp; Follow-Through</a:t>
            </a:r>
          </a:p>
        </p:txBody>
      </p:sp>
      <p:graphicFrame>
        <p:nvGraphicFramePr>
          <p:cNvPr id="56" name="Rectangle 1">
            <a:extLst>
              <a:ext uri="{FF2B5EF4-FFF2-40B4-BE49-F238E27FC236}">
                <a16:creationId xmlns:a16="http://schemas.microsoft.com/office/drawing/2014/main" id="{69F39949-11A2-37C9-AD6F-BAA2FF7A08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10075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287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2994</TotalTime>
  <Words>1257</Words>
  <Application>Microsoft Office PowerPoint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Operations Analytics Lead – Case Study  Dec’25 Presenter: Abeer Khan</vt:lpstr>
      <vt:lpstr>Based on the data provided, what questions would you ask the Support teams to clarify their strategy?</vt:lpstr>
      <vt:lpstr>What recommendations would you make to improve the performance of the overall engine?</vt:lpstr>
      <vt:lpstr>Based on the costs computed, what would you recommend to be the 2024 channel strategy, and where should Support teams invest more? </vt:lpstr>
      <vt:lpstr>Performance Management Framework – Quarterly Cycle</vt:lpstr>
      <vt:lpstr>Performance Management – Ceremonies, Roles &amp; Responsibilities</vt:lpstr>
      <vt:lpstr>My Role – Data &amp; Single Source of Truth</vt:lpstr>
      <vt:lpstr>My Role – Quarterly Reviews &amp; Follow-Through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Abeer Khan</dc:creator>
  <cp:keywords/>
  <dc:description>generated using python-pptx</dc:description>
  <cp:lastModifiedBy>Abeer Khan</cp:lastModifiedBy>
  <cp:revision>29</cp:revision>
  <dcterms:created xsi:type="dcterms:W3CDTF">2013-01-27T09:14:16Z</dcterms:created>
  <dcterms:modified xsi:type="dcterms:W3CDTF">2025-12-11T21:43:56Z</dcterms:modified>
  <cp:category/>
</cp:coreProperties>
</file>