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9" r:id="rId3"/>
    <p:sldId id="257" r:id="rId4"/>
    <p:sldId id="258" r:id="rId5"/>
    <p:sldId id="271" r:id="rId6"/>
    <p:sldId id="260" r:id="rId7"/>
    <p:sldId id="261" r:id="rId8"/>
    <p:sldId id="262" r:id="rId9"/>
    <p:sldId id="263" r:id="rId10"/>
    <p:sldId id="264" r:id="rId11"/>
    <p:sldId id="265"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1" d="100"/>
          <a:sy n="71" d="100"/>
        </p:scale>
        <p:origin x="114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Khan\Downloads\bq-results-20251211-164545-1765472158854.csv"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Khan\Downloads\bq-results-20251211-164545-1765472158854.csv"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Khan\Downloads\bq-results-20251211-164545-1765472158854.csv"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Khan\Downloads\bq-results-20251211-164545-1765472158854.csv"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Khan\Downloads\bq-results-20251211-164545-1765472158854.csv"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r>
              <a:rPr lang="en-US" dirty="0"/>
              <a:t>Out of ~25k 'resolved’</a:t>
            </a:r>
            <a:r>
              <a:rPr lang="en-US" baseline="0" dirty="0"/>
              <a:t> interactions </a:t>
            </a:r>
            <a:r>
              <a:rPr lang="en-US" sz="1400" b="0" i="0" u="none" strike="noStrike" kern="1200" spc="0" baseline="0" dirty="0">
                <a:solidFill>
                  <a:sysClr val="windowText" lastClr="000000">
                    <a:lumMod val="65000"/>
                    <a:lumOff val="35000"/>
                  </a:sysClr>
                </a:solidFill>
              </a:rPr>
              <a:t>for Dec'24</a:t>
            </a:r>
            <a:r>
              <a:rPr lang="en-US" baseline="0" dirty="0"/>
              <a:t>, ~12k recontacted</a:t>
            </a:r>
            <a:endParaRPr lang="en-US" dirty="0"/>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sysClr val="windowText" lastClr="000000">
                  <a:lumMod val="65000"/>
                  <a:lumOff val="35000"/>
                </a:sysClr>
              </a:solidFill>
              <a:latin typeface="+mn-lt"/>
              <a:ea typeface="+mn-ea"/>
              <a:cs typeface="+mn-cs"/>
            </a:defRPr>
          </a:pPr>
          <a:endParaRPr lang="en-US"/>
        </a:p>
      </c:txPr>
    </c:title>
    <c:autoTitleDeleted val="0"/>
    <c:plotArea>
      <c:layout/>
      <c:lineChart>
        <c:grouping val="standard"/>
        <c:varyColors val="0"/>
        <c:ser>
          <c:idx val="0"/>
          <c:order val="0"/>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Sheet5!$D$1:$I$1</c:f>
              <c:strCache>
                <c:ptCount val="6"/>
                <c:pt idx="0">
                  <c:v>% recontacts within 1 day</c:v>
                </c:pt>
                <c:pt idx="1">
                  <c:v>% recontacts within 3 days</c:v>
                </c:pt>
                <c:pt idx="2">
                  <c:v>% recontacts within 7 days</c:v>
                </c:pt>
                <c:pt idx="3">
                  <c:v>% recontacts within 10 days</c:v>
                </c:pt>
                <c:pt idx="4">
                  <c:v>% recontacts within 14 days</c:v>
                </c:pt>
                <c:pt idx="5">
                  <c:v>% recontacts within 30 days</c:v>
                </c:pt>
              </c:strCache>
            </c:strRef>
          </c:cat>
          <c:val>
            <c:numRef>
              <c:f>Sheet5!$D$2:$I$2</c:f>
              <c:numCache>
                <c:formatCode>General</c:formatCode>
                <c:ptCount val="6"/>
                <c:pt idx="0">
                  <c:v>0.74215541317561995</c:v>
                </c:pt>
                <c:pt idx="1">
                  <c:v>0.84327254805322804</c:v>
                </c:pt>
                <c:pt idx="2">
                  <c:v>0.93371118777722995</c:v>
                </c:pt>
                <c:pt idx="3">
                  <c:v>0.96673238048299603</c:v>
                </c:pt>
                <c:pt idx="4">
                  <c:v>0.98776080170855896</c:v>
                </c:pt>
                <c:pt idx="5">
                  <c:v>1</c:v>
                </c:pt>
              </c:numCache>
            </c:numRef>
          </c:val>
          <c:smooth val="0"/>
          <c:extLst>
            <c:ext xmlns:c16="http://schemas.microsoft.com/office/drawing/2014/chart" uri="{C3380CC4-5D6E-409C-BE32-E72D297353CC}">
              <c16:uniqueId val="{00000000-A37D-4CDF-863D-8ED884824A24}"/>
            </c:ext>
          </c:extLst>
        </c:ser>
        <c:dLbls>
          <c:showLegendKey val="0"/>
          <c:showVal val="0"/>
          <c:showCatName val="0"/>
          <c:showSerName val="0"/>
          <c:showPercent val="0"/>
          <c:showBubbleSize val="0"/>
        </c:dLbls>
        <c:marker val="1"/>
        <c:smooth val="0"/>
        <c:axId val="936019968"/>
        <c:axId val="936020448"/>
      </c:lineChart>
      <c:catAx>
        <c:axId val="936019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6020448"/>
        <c:crosses val="autoZero"/>
        <c:auto val="1"/>
        <c:lblAlgn val="ctr"/>
        <c:lblOffset val="100"/>
        <c:noMultiLvlLbl val="0"/>
      </c:catAx>
      <c:valAx>
        <c:axId val="9360204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601996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Country - Channel</a:t>
            </a:r>
            <a:r>
              <a:rPr lang="en-US" baseline="0"/>
              <a:t> wise breakdown of 'resolved' interactions(w/wo recontacts) and 7 days recontact rate for </a:t>
            </a:r>
            <a:r>
              <a:rPr lang="en-US"/>
              <a:t>Dec'24</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ser>
          <c:idx val="0"/>
          <c:order val="0"/>
          <c:tx>
            <c:strRef>
              <c:f>Sheet6!$J$1</c:f>
              <c:strCache>
                <c:ptCount val="1"/>
                <c:pt idx="0">
                  <c:v>Resolved' interactions with no recontacts</c:v>
                </c:pt>
              </c:strCache>
            </c:strRef>
          </c:tx>
          <c:spPr>
            <a:solidFill>
              <a:schemeClr val="accent1"/>
            </a:solidFill>
            <a:ln>
              <a:noFill/>
            </a:ln>
            <a:effectLst/>
          </c:spPr>
          <c:invertIfNegative val="0"/>
          <c:cat>
            <c:multiLvlStrRef>
              <c:f>Sheet6!$H$2:$I$13</c:f>
              <c:multiLvlStrCache>
                <c:ptCount val="12"/>
                <c:lvl>
                  <c:pt idx="0">
                    <c:v>Chat</c:v>
                  </c:pt>
                  <c:pt idx="1">
                    <c:v>Call</c:v>
                  </c:pt>
                  <c:pt idx="2">
                    <c:v>Email</c:v>
                  </c:pt>
                  <c:pt idx="3">
                    <c:v>Chat</c:v>
                  </c:pt>
                  <c:pt idx="4">
                    <c:v>Call</c:v>
                  </c:pt>
                  <c:pt idx="5">
                    <c:v>Email</c:v>
                  </c:pt>
                  <c:pt idx="6">
                    <c:v>Chat</c:v>
                  </c:pt>
                  <c:pt idx="7">
                    <c:v>Call</c:v>
                  </c:pt>
                  <c:pt idx="8">
                    <c:v>Email</c:v>
                  </c:pt>
                  <c:pt idx="9">
                    <c:v>Call</c:v>
                  </c:pt>
                  <c:pt idx="10">
                    <c:v>Email</c:v>
                  </c:pt>
                  <c:pt idx="11">
                    <c:v>Chat</c:v>
                  </c:pt>
                </c:lvl>
                <c:lvl>
                  <c:pt idx="0">
                    <c:v>BE</c:v>
                  </c:pt>
                  <c:pt idx="3">
                    <c:v>CH</c:v>
                  </c:pt>
                  <c:pt idx="6">
                    <c:v>IE</c:v>
                  </c:pt>
                  <c:pt idx="9">
                    <c:v>NL</c:v>
                  </c:pt>
                </c:lvl>
              </c:multiLvlStrCache>
            </c:multiLvlStrRef>
          </c:cat>
          <c:val>
            <c:numRef>
              <c:f>Sheet6!$J$2:$J$13</c:f>
              <c:numCache>
                <c:formatCode>General</c:formatCode>
                <c:ptCount val="12"/>
                <c:pt idx="0">
                  <c:v>425</c:v>
                </c:pt>
                <c:pt idx="1">
                  <c:v>331</c:v>
                </c:pt>
                <c:pt idx="2">
                  <c:v>1957</c:v>
                </c:pt>
                <c:pt idx="3">
                  <c:v>754</c:v>
                </c:pt>
                <c:pt idx="4">
                  <c:v>504</c:v>
                </c:pt>
                <c:pt idx="5">
                  <c:v>1948</c:v>
                </c:pt>
                <c:pt idx="6">
                  <c:v>593</c:v>
                </c:pt>
                <c:pt idx="7">
                  <c:v>418</c:v>
                </c:pt>
                <c:pt idx="8">
                  <c:v>2371</c:v>
                </c:pt>
                <c:pt idx="9">
                  <c:v>1143</c:v>
                </c:pt>
                <c:pt idx="10">
                  <c:v>2881</c:v>
                </c:pt>
                <c:pt idx="11">
                  <c:v>70</c:v>
                </c:pt>
              </c:numCache>
            </c:numRef>
          </c:val>
          <c:extLst>
            <c:ext xmlns:c16="http://schemas.microsoft.com/office/drawing/2014/chart" uri="{C3380CC4-5D6E-409C-BE32-E72D297353CC}">
              <c16:uniqueId val="{00000000-6ECF-4844-A4C8-27244F354231}"/>
            </c:ext>
          </c:extLst>
        </c:ser>
        <c:ser>
          <c:idx val="1"/>
          <c:order val="1"/>
          <c:tx>
            <c:strRef>
              <c:f>Sheet6!$K$1</c:f>
              <c:strCache>
                <c:ptCount val="1"/>
                <c:pt idx="0">
                  <c:v>Resolved' interactions with recontacts within 7 days</c:v>
                </c:pt>
              </c:strCache>
            </c:strRef>
          </c:tx>
          <c:spPr>
            <a:solidFill>
              <a:schemeClr val="accent2"/>
            </a:solidFill>
            <a:ln>
              <a:noFill/>
            </a:ln>
            <a:effectLst/>
          </c:spPr>
          <c:invertIfNegative val="0"/>
          <c:cat>
            <c:multiLvlStrRef>
              <c:f>Sheet6!$H$2:$I$13</c:f>
              <c:multiLvlStrCache>
                <c:ptCount val="12"/>
                <c:lvl>
                  <c:pt idx="0">
                    <c:v>Chat</c:v>
                  </c:pt>
                  <c:pt idx="1">
                    <c:v>Call</c:v>
                  </c:pt>
                  <c:pt idx="2">
                    <c:v>Email</c:v>
                  </c:pt>
                  <c:pt idx="3">
                    <c:v>Chat</c:v>
                  </c:pt>
                  <c:pt idx="4">
                    <c:v>Call</c:v>
                  </c:pt>
                  <c:pt idx="5">
                    <c:v>Email</c:v>
                  </c:pt>
                  <c:pt idx="6">
                    <c:v>Chat</c:v>
                  </c:pt>
                  <c:pt idx="7">
                    <c:v>Call</c:v>
                  </c:pt>
                  <c:pt idx="8">
                    <c:v>Email</c:v>
                  </c:pt>
                  <c:pt idx="9">
                    <c:v>Call</c:v>
                  </c:pt>
                  <c:pt idx="10">
                    <c:v>Email</c:v>
                  </c:pt>
                  <c:pt idx="11">
                    <c:v>Chat</c:v>
                  </c:pt>
                </c:lvl>
                <c:lvl>
                  <c:pt idx="0">
                    <c:v>BE</c:v>
                  </c:pt>
                  <c:pt idx="3">
                    <c:v>CH</c:v>
                  </c:pt>
                  <c:pt idx="6">
                    <c:v>IE</c:v>
                  </c:pt>
                  <c:pt idx="9">
                    <c:v>NL</c:v>
                  </c:pt>
                </c:lvl>
              </c:multiLvlStrCache>
            </c:multiLvlStrRef>
          </c:cat>
          <c:val>
            <c:numRef>
              <c:f>Sheet6!$K$2:$K$13</c:f>
              <c:numCache>
                <c:formatCode>General</c:formatCode>
                <c:ptCount val="12"/>
                <c:pt idx="0">
                  <c:v>193</c:v>
                </c:pt>
                <c:pt idx="1">
                  <c:v>160</c:v>
                </c:pt>
                <c:pt idx="2">
                  <c:v>1699</c:v>
                </c:pt>
                <c:pt idx="3">
                  <c:v>272</c:v>
                </c:pt>
                <c:pt idx="4">
                  <c:v>266</c:v>
                </c:pt>
                <c:pt idx="5">
                  <c:v>1782</c:v>
                </c:pt>
                <c:pt idx="6">
                  <c:v>336</c:v>
                </c:pt>
                <c:pt idx="7">
                  <c:v>266</c:v>
                </c:pt>
                <c:pt idx="8">
                  <c:v>2837</c:v>
                </c:pt>
                <c:pt idx="9">
                  <c:v>809</c:v>
                </c:pt>
                <c:pt idx="10">
                  <c:v>2679</c:v>
                </c:pt>
                <c:pt idx="11">
                  <c:v>68</c:v>
                </c:pt>
              </c:numCache>
            </c:numRef>
          </c:val>
          <c:extLst>
            <c:ext xmlns:c16="http://schemas.microsoft.com/office/drawing/2014/chart" uri="{C3380CC4-5D6E-409C-BE32-E72D297353CC}">
              <c16:uniqueId val="{00000001-6ECF-4844-A4C8-27244F354231}"/>
            </c:ext>
          </c:extLst>
        </c:ser>
        <c:dLbls>
          <c:showLegendKey val="0"/>
          <c:showVal val="0"/>
          <c:showCatName val="0"/>
          <c:showSerName val="0"/>
          <c:showPercent val="0"/>
          <c:showBubbleSize val="0"/>
        </c:dLbls>
        <c:gapWidth val="219"/>
        <c:overlap val="100"/>
        <c:axId val="754840320"/>
        <c:axId val="754840800"/>
      </c:barChart>
      <c:lineChart>
        <c:grouping val="standard"/>
        <c:varyColors val="0"/>
        <c:ser>
          <c:idx val="2"/>
          <c:order val="2"/>
          <c:tx>
            <c:strRef>
              <c:f>Sheet6!$L$1</c:f>
              <c:strCache>
                <c:ptCount val="1"/>
                <c:pt idx="0">
                  <c:v>7 days recontact rate(%)</c:v>
                </c:pt>
              </c:strCache>
            </c:strRef>
          </c:tx>
          <c:spPr>
            <a:ln w="28575" cap="rnd">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Sheet6!$H$2:$I$13</c:f>
              <c:multiLvlStrCache>
                <c:ptCount val="12"/>
                <c:lvl>
                  <c:pt idx="0">
                    <c:v>Chat</c:v>
                  </c:pt>
                  <c:pt idx="1">
                    <c:v>Call</c:v>
                  </c:pt>
                  <c:pt idx="2">
                    <c:v>Email</c:v>
                  </c:pt>
                  <c:pt idx="3">
                    <c:v>Chat</c:v>
                  </c:pt>
                  <c:pt idx="4">
                    <c:v>Call</c:v>
                  </c:pt>
                  <c:pt idx="5">
                    <c:v>Email</c:v>
                  </c:pt>
                  <c:pt idx="6">
                    <c:v>Chat</c:v>
                  </c:pt>
                  <c:pt idx="7">
                    <c:v>Call</c:v>
                  </c:pt>
                  <c:pt idx="8">
                    <c:v>Email</c:v>
                  </c:pt>
                  <c:pt idx="9">
                    <c:v>Call</c:v>
                  </c:pt>
                  <c:pt idx="10">
                    <c:v>Email</c:v>
                  </c:pt>
                  <c:pt idx="11">
                    <c:v>Chat</c:v>
                  </c:pt>
                </c:lvl>
                <c:lvl>
                  <c:pt idx="0">
                    <c:v>BE</c:v>
                  </c:pt>
                  <c:pt idx="3">
                    <c:v>CH</c:v>
                  </c:pt>
                  <c:pt idx="6">
                    <c:v>IE</c:v>
                  </c:pt>
                  <c:pt idx="9">
                    <c:v>NL</c:v>
                  </c:pt>
                </c:lvl>
              </c:multiLvlStrCache>
            </c:multiLvlStrRef>
          </c:cat>
          <c:val>
            <c:numRef>
              <c:f>Sheet6!$L$2:$L$13</c:f>
              <c:numCache>
                <c:formatCode>0%</c:formatCode>
                <c:ptCount val="12"/>
                <c:pt idx="0">
                  <c:v>0.312297734627831</c:v>
                </c:pt>
                <c:pt idx="1">
                  <c:v>0.32586558044806502</c:v>
                </c:pt>
                <c:pt idx="2">
                  <c:v>0.46471553610503202</c:v>
                </c:pt>
                <c:pt idx="3">
                  <c:v>0.26510721247563301</c:v>
                </c:pt>
                <c:pt idx="4">
                  <c:v>0.34545454545454501</c:v>
                </c:pt>
                <c:pt idx="5">
                  <c:v>0.47774798927613898</c:v>
                </c:pt>
                <c:pt idx="6">
                  <c:v>0.36167922497308902</c:v>
                </c:pt>
                <c:pt idx="7">
                  <c:v>0.38888888888888801</c:v>
                </c:pt>
                <c:pt idx="8">
                  <c:v>0.54473886328724996</c:v>
                </c:pt>
                <c:pt idx="9">
                  <c:v>0.41444672131147497</c:v>
                </c:pt>
                <c:pt idx="10">
                  <c:v>0.48183453237410001</c:v>
                </c:pt>
                <c:pt idx="11">
                  <c:v>0.49275362318840499</c:v>
                </c:pt>
              </c:numCache>
            </c:numRef>
          </c:val>
          <c:smooth val="0"/>
          <c:extLst>
            <c:ext xmlns:c16="http://schemas.microsoft.com/office/drawing/2014/chart" uri="{C3380CC4-5D6E-409C-BE32-E72D297353CC}">
              <c16:uniqueId val="{00000002-6ECF-4844-A4C8-27244F354231}"/>
            </c:ext>
          </c:extLst>
        </c:ser>
        <c:dLbls>
          <c:showLegendKey val="0"/>
          <c:showVal val="0"/>
          <c:showCatName val="0"/>
          <c:showSerName val="0"/>
          <c:showPercent val="0"/>
          <c:showBubbleSize val="0"/>
        </c:dLbls>
        <c:marker val="1"/>
        <c:smooth val="0"/>
        <c:axId val="750946240"/>
        <c:axId val="750948640"/>
      </c:lineChart>
      <c:catAx>
        <c:axId val="7548403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54840800"/>
        <c:crosses val="autoZero"/>
        <c:auto val="1"/>
        <c:lblAlgn val="ctr"/>
        <c:lblOffset val="100"/>
        <c:noMultiLvlLbl val="0"/>
      </c:catAx>
      <c:valAx>
        <c:axId val="7548408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54840320"/>
        <c:crosses val="autoZero"/>
        <c:crossBetween val="between"/>
      </c:valAx>
      <c:valAx>
        <c:axId val="750948640"/>
        <c:scaling>
          <c:orientation val="minMax"/>
        </c:scaling>
        <c:delete val="0"/>
        <c:axPos val="r"/>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50946240"/>
        <c:crosses val="max"/>
        <c:crossBetween val="between"/>
      </c:valAx>
      <c:catAx>
        <c:axId val="750946240"/>
        <c:scaling>
          <c:orientation val="minMax"/>
        </c:scaling>
        <c:delete val="1"/>
        <c:axPos val="b"/>
        <c:numFmt formatCode="General" sourceLinked="1"/>
        <c:majorTickMark val="none"/>
        <c:minorTickMark val="none"/>
        <c:tickLblPos val="nextTo"/>
        <c:crossAx val="750948640"/>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7 days recontact</a:t>
            </a:r>
            <a:r>
              <a:rPr lang="en-US" baseline="0"/>
              <a:t> rate per Agent Company for Dec'24</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Sheet7!$B$1</c:f>
              <c:strCache>
                <c:ptCount val="1"/>
                <c:pt idx="0">
                  <c:v>Resolved' interactions with no recontact within 7 days</c:v>
                </c:pt>
              </c:strCache>
            </c:strRef>
          </c:tx>
          <c:spPr>
            <a:solidFill>
              <a:schemeClr val="accent1"/>
            </a:solidFill>
            <a:ln>
              <a:noFill/>
            </a:ln>
            <a:effectLst/>
          </c:spPr>
          <c:invertIfNegative val="0"/>
          <c:cat>
            <c:strRef>
              <c:f>Sheet7!$A$2:$A$4</c:f>
              <c:strCache>
                <c:ptCount val="3"/>
                <c:pt idx="0">
                  <c:v>COMPANY_3</c:v>
                </c:pt>
                <c:pt idx="1">
                  <c:v>COMPANY_2</c:v>
                </c:pt>
                <c:pt idx="2">
                  <c:v>COMPANY_1</c:v>
                </c:pt>
              </c:strCache>
            </c:strRef>
          </c:cat>
          <c:val>
            <c:numRef>
              <c:f>Sheet7!$B$2:$B$4</c:f>
              <c:numCache>
                <c:formatCode>General</c:formatCode>
                <c:ptCount val="3"/>
                <c:pt idx="0">
                  <c:v>1477</c:v>
                </c:pt>
                <c:pt idx="1">
                  <c:v>4004</c:v>
                </c:pt>
                <c:pt idx="2">
                  <c:v>7914</c:v>
                </c:pt>
              </c:numCache>
            </c:numRef>
          </c:val>
          <c:extLst>
            <c:ext xmlns:c16="http://schemas.microsoft.com/office/drawing/2014/chart" uri="{C3380CC4-5D6E-409C-BE32-E72D297353CC}">
              <c16:uniqueId val="{00000000-C36A-402C-A551-D0AE95F64826}"/>
            </c:ext>
          </c:extLst>
        </c:ser>
        <c:ser>
          <c:idx val="1"/>
          <c:order val="1"/>
          <c:tx>
            <c:strRef>
              <c:f>Sheet7!$C$1</c:f>
              <c:strCache>
                <c:ptCount val="1"/>
                <c:pt idx="0">
                  <c:v>Resolved' interactions with recontacts within 7 days</c:v>
                </c:pt>
              </c:strCache>
            </c:strRef>
          </c:tx>
          <c:spPr>
            <a:solidFill>
              <a:schemeClr val="accent2"/>
            </a:solidFill>
            <a:ln>
              <a:noFill/>
            </a:ln>
            <a:effectLst/>
          </c:spPr>
          <c:invertIfNegative val="0"/>
          <c:cat>
            <c:strRef>
              <c:f>Sheet7!$A$2:$A$4</c:f>
              <c:strCache>
                <c:ptCount val="3"/>
                <c:pt idx="0">
                  <c:v>COMPANY_3</c:v>
                </c:pt>
                <c:pt idx="1">
                  <c:v>COMPANY_2</c:v>
                </c:pt>
                <c:pt idx="2">
                  <c:v>COMPANY_1</c:v>
                </c:pt>
              </c:strCache>
            </c:strRef>
          </c:cat>
          <c:val>
            <c:numRef>
              <c:f>Sheet7!$C$2:$C$4</c:f>
              <c:numCache>
                <c:formatCode>General</c:formatCode>
                <c:ptCount val="3"/>
                <c:pt idx="0">
                  <c:v>910</c:v>
                </c:pt>
                <c:pt idx="1">
                  <c:v>3415</c:v>
                </c:pt>
                <c:pt idx="2">
                  <c:v>7042</c:v>
                </c:pt>
              </c:numCache>
            </c:numRef>
          </c:val>
          <c:extLst>
            <c:ext xmlns:c16="http://schemas.microsoft.com/office/drawing/2014/chart" uri="{C3380CC4-5D6E-409C-BE32-E72D297353CC}">
              <c16:uniqueId val="{00000001-C36A-402C-A551-D0AE95F64826}"/>
            </c:ext>
          </c:extLst>
        </c:ser>
        <c:dLbls>
          <c:showLegendKey val="0"/>
          <c:showVal val="0"/>
          <c:showCatName val="0"/>
          <c:showSerName val="0"/>
          <c:showPercent val="0"/>
          <c:showBubbleSize val="0"/>
        </c:dLbls>
        <c:gapWidth val="219"/>
        <c:overlap val="-27"/>
        <c:axId val="971659056"/>
        <c:axId val="971659536"/>
      </c:barChart>
      <c:lineChart>
        <c:grouping val="standard"/>
        <c:varyColors val="0"/>
        <c:ser>
          <c:idx val="2"/>
          <c:order val="2"/>
          <c:tx>
            <c:strRef>
              <c:f>Sheet7!$D$1</c:f>
              <c:strCache>
                <c:ptCount val="1"/>
                <c:pt idx="0">
                  <c:v>7 Day Recontact Rate</c:v>
                </c:pt>
              </c:strCache>
            </c:strRef>
          </c:tx>
          <c:spPr>
            <a:ln w="28575" cap="rnd">
              <a:solidFill>
                <a:schemeClr val="accent3"/>
              </a:solidFill>
              <a:round/>
            </a:ln>
            <a:effectLst/>
          </c:spPr>
          <c:marker>
            <c:symbol val="none"/>
          </c:marker>
          <c:dLbls>
            <c:dLbl>
              <c:idx val="0"/>
              <c:layout>
                <c:manualLayout>
                  <c:x val="0"/>
                  <c:y val="4.166666666666662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36A-402C-A551-D0AE95F64826}"/>
                </c:ext>
              </c:extLst>
            </c:dLbl>
            <c:dLbl>
              <c:idx val="1"/>
              <c:layout>
                <c:manualLayout>
                  <c:x val="0"/>
                  <c:y val="3.240740740740740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36A-402C-A551-D0AE95F64826}"/>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Sheet7!$A$2:$A$4</c:f>
              <c:strCache>
                <c:ptCount val="3"/>
                <c:pt idx="0">
                  <c:v>COMPANY_3</c:v>
                </c:pt>
                <c:pt idx="1">
                  <c:v>COMPANY_2</c:v>
                </c:pt>
                <c:pt idx="2">
                  <c:v>COMPANY_1</c:v>
                </c:pt>
              </c:strCache>
            </c:strRef>
          </c:cat>
          <c:val>
            <c:numRef>
              <c:f>Sheet7!$D$2:$D$4</c:f>
              <c:numCache>
                <c:formatCode>0%</c:formatCode>
                <c:ptCount val="3"/>
                <c:pt idx="0">
                  <c:v>0.38123167155425203</c:v>
                </c:pt>
                <c:pt idx="1">
                  <c:v>0.46030462326458998</c:v>
                </c:pt>
                <c:pt idx="2">
                  <c:v>0.47084782027279998</c:v>
                </c:pt>
              </c:numCache>
            </c:numRef>
          </c:val>
          <c:smooth val="0"/>
          <c:extLst>
            <c:ext xmlns:c16="http://schemas.microsoft.com/office/drawing/2014/chart" uri="{C3380CC4-5D6E-409C-BE32-E72D297353CC}">
              <c16:uniqueId val="{00000004-C36A-402C-A551-D0AE95F64826}"/>
            </c:ext>
          </c:extLst>
        </c:ser>
        <c:dLbls>
          <c:showLegendKey val="0"/>
          <c:showVal val="0"/>
          <c:showCatName val="0"/>
          <c:showSerName val="0"/>
          <c:showPercent val="0"/>
          <c:showBubbleSize val="0"/>
        </c:dLbls>
        <c:marker val="1"/>
        <c:smooth val="0"/>
        <c:axId val="971650896"/>
        <c:axId val="971660496"/>
      </c:lineChart>
      <c:catAx>
        <c:axId val="9716590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71659536"/>
        <c:crosses val="autoZero"/>
        <c:auto val="1"/>
        <c:lblAlgn val="ctr"/>
        <c:lblOffset val="100"/>
        <c:noMultiLvlLbl val="0"/>
      </c:catAx>
      <c:valAx>
        <c:axId val="9716595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71659056"/>
        <c:crosses val="autoZero"/>
        <c:crossBetween val="between"/>
      </c:valAx>
      <c:valAx>
        <c:axId val="971660496"/>
        <c:scaling>
          <c:orientation val="minMax"/>
        </c:scaling>
        <c:delete val="0"/>
        <c:axPos val="r"/>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71650896"/>
        <c:crosses val="max"/>
        <c:crossBetween val="between"/>
      </c:valAx>
      <c:catAx>
        <c:axId val="971650896"/>
        <c:scaling>
          <c:orientation val="minMax"/>
        </c:scaling>
        <c:delete val="1"/>
        <c:axPos val="b"/>
        <c:numFmt formatCode="General" sourceLinked="1"/>
        <c:majorTickMark val="none"/>
        <c:minorTickMark val="none"/>
        <c:tickLblPos val="nextTo"/>
        <c:crossAx val="971660496"/>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 of Merchants with recontacts by product</a:t>
            </a:r>
            <a:r>
              <a:rPr lang="en-US" baseline="0"/>
              <a:t> for Dec'24</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Sheet4!$G$1</c:f>
              <c:strCache>
                <c:ptCount val="1"/>
                <c:pt idx="0">
                  <c:v>Merchants on Product</c:v>
                </c:pt>
              </c:strCache>
            </c:strRef>
          </c:tx>
          <c:spPr>
            <a:solidFill>
              <a:schemeClr val="accent1"/>
            </a:solidFill>
            <a:ln>
              <a:noFill/>
            </a:ln>
            <a:effectLst/>
          </c:spPr>
          <c:invertIfNegative val="0"/>
          <c:cat>
            <c:strRef>
              <c:f>Sheet4!$F$2:$F$9</c:f>
              <c:strCache>
                <c:ptCount val="8"/>
                <c:pt idx="0">
                  <c:v>profile</c:v>
                </c:pt>
                <c:pt idx="1">
                  <c:v>hardware</c:v>
                </c:pt>
                <c:pt idx="2">
                  <c:v>misc</c:v>
                </c:pt>
                <c:pt idx="3">
                  <c:v>banking</c:v>
                </c:pt>
                <c:pt idx="4">
                  <c:v>online payments</c:v>
                </c:pt>
                <c:pt idx="5">
                  <c:v>app / dashboard</c:v>
                </c:pt>
                <c:pt idx="6">
                  <c:v>loyalty</c:v>
                </c:pt>
                <c:pt idx="7">
                  <c:v>others</c:v>
                </c:pt>
              </c:strCache>
            </c:strRef>
          </c:cat>
          <c:val>
            <c:numRef>
              <c:f>Sheet4!$G$2:$G$9</c:f>
              <c:numCache>
                <c:formatCode>General</c:formatCode>
                <c:ptCount val="8"/>
                <c:pt idx="0">
                  <c:v>8315</c:v>
                </c:pt>
                <c:pt idx="1">
                  <c:v>2109</c:v>
                </c:pt>
                <c:pt idx="2">
                  <c:v>1540</c:v>
                </c:pt>
                <c:pt idx="3">
                  <c:v>712</c:v>
                </c:pt>
                <c:pt idx="4">
                  <c:v>338</c:v>
                </c:pt>
                <c:pt idx="5">
                  <c:v>235</c:v>
                </c:pt>
                <c:pt idx="6">
                  <c:v>101</c:v>
                </c:pt>
                <c:pt idx="7">
                  <c:v>271</c:v>
                </c:pt>
              </c:numCache>
            </c:numRef>
          </c:val>
          <c:extLst>
            <c:ext xmlns:c16="http://schemas.microsoft.com/office/drawing/2014/chart" uri="{C3380CC4-5D6E-409C-BE32-E72D297353CC}">
              <c16:uniqueId val="{00000000-0CE8-4F6E-8798-5F4ECB6DB45A}"/>
            </c:ext>
          </c:extLst>
        </c:ser>
        <c:ser>
          <c:idx val="1"/>
          <c:order val="1"/>
          <c:tx>
            <c:strRef>
              <c:f>Sheet4!$H$1</c:f>
              <c:strCache>
                <c:ptCount val="1"/>
                <c:pt idx="0">
                  <c:v>Merchants with 2+ contacts</c:v>
                </c:pt>
              </c:strCache>
            </c:strRef>
          </c:tx>
          <c:spPr>
            <a:solidFill>
              <a:schemeClr val="accent2"/>
            </a:solidFill>
            <a:ln>
              <a:noFill/>
            </a:ln>
            <a:effectLst/>
          </c:spPr>
          <c:invertIfNegative val="0"/>
          <c:cat>
            <c:strRef>
              <c:f>Sheet4!$F$2:$F$9</c:f>
              <c:strCache>
                <c:ptCount val="8"/>
                <c:pt idx="0">
                  <c:v>profile</c:v>
                </c:pt>
                <c:pt idx="1">
                  <c:v>hardware</c:v>
                </c:pt>
                <c:pt idx="2">
                  <c:v>misc</c:v>
                </c:pt>
                <c:pt idx="3">
                  <c:v>banking</c:v>
                </c:pt>
                <c:pt idx="4">
                  <c:v>online payments</c:v>
                </c:pt>
                <c:pt idx="5">
                  <c:v>app / dashboard</c:v>
                </c:pt>
                <c:pt idx="6">
                  <c:v>loyalty</c:v>
                </c:pt>
                <c:pt idx="7">
                  <c:v>others</c:v>
                </c:pt>
              </c:strCache>
            </c:strRef>
          </c:cat>
          <c:val>
            <c:numRef>
              <c:f>Sheet4!$H$2:$H$9</c:f>
              <c:numCache>
                <c:formatCode>General</c:formatCode>
                <c:ptCount val="8"/>
                <c:pt idx="0">
                  <c:v>4674</c:v>
                </c:pt>
                <c:pt idx="1">
                  <c:v>897</c:v>
                </c:pt>
                <c:pt idx="2">
                  <c:v>396</c:v>
                </c:pt>
                <c:pt idx="3">
                  <c:v>237</c:v>
                </c:pt>
                <c:pt idx="4">
                  <c:v>156</c:v>
                </c:pt>
                <c:pt idx="5">
                  <c:v>59</c:v>
                </c:pt>
                <c:pt idx="6">
                  <c:v>45</c:v>
                </c:pt>
                <c:pt idx="7">
                  <c:v>99</c:v>
                </c:pt>
              </c:numCache>
            </c:numRef>
          </c:val>
          <c:extLst>
            <c:ext xmlns:c16="http://schemas.microsoft.com/office/drawing/2014/chart" uri="{C3380CC4-5D6E-409C-BE32-E72D297353CC}">
              <c16:uniqueId val="{00000001-0CE8-4F6E-8798-5F4ECB6DB45A}"/>
            </c:ext>
          </c:extLst>
        </c:ser>
        <c:dLbls>
          <c:showLegendKey val="0"/>
          <c:showVal val="0"/>
          <c:showCatName val="0"/>
          <c:showSerName val="0"/>
          <c:showPercent val="0"/>
          <c:showBubbleSize val="0"/>
        </c:dLbls>
        <c:gapWidth val="219"/>
        <c:overlap val="-27"/>
        <c:axId val="936000288"/>
        <c:axId val="936013728"/>
      </c:barChart>
      <c:lineChart>
        <c:grouping val="standard"/>
        <c:varyColors val="0"/>
        <c:ser>
          <c:idx val="2"/>
          <c:order val="2"/>
          <c:tx>
            <c:strRef>
              <c:f>Sheet4!$I$1</c:f>
              <c:strCache>
                <c:ptCount val="1"/>
                <c:pt idx="0">
                  <c:v>Recontact Rate</c:v>
                </c:pt>
              </c:strCache>
            </c:strRef>
          </c:tx>
          <c:spPr>
            <a:ln w="28575" cap="rnd">
              <a:solidFill>
                <a:schemeClr val="accent3"/>
              </a:solidFill>
              <a:round/>
            </a:ln>
            <a:effectLst/>
          </c:spPr>
          <c:marker>
            <c:symbol val="none"/>
          </c:marker>
          <c:cat>
            <c:strRef>
              <c:f>Sheet4!$F$2:$F$9</c:f>
              <c:strCache>
                <c:ptCount val="8"/>
                <c:pt idx="0">
                  <c:v>profile</c:v>
                </c:pt>
                <c:pt idx="1">
                  <c:v>hardware</c:v>
                </c:pt>
                <c:pt idx="2">
                  <c:v>misc</c:v>
                </c:pt>
                <c:pt idx="3">
                  <c:v>banking</c:v>
                </c:pt>
                <c:pt idx="4">
                  <c:v>online payments</c:v>
                </c:pt>
                <c:pt idx="5">
                  <c:v>app / dashboard</c:v>
                </c:pt>
                <c:pt idx="6">
                  <c:v>loyalty</c:v>
                </c:pt>
                <c:pt idx="7">
                  <c:v>others</c:v>
                </c:pt>
              </c:strCache>
            </c:strRef>
          </c:cat>
          <c:val>
            <c:numRef>
              <c:f>Sheet4!$I$2:$I$9</c:f>
              <c:numCache>
                <c:formatCode>0%</c:formatCode>
                <c:ptCount val="8"/>
                <c:pt idx="0">
                  <c:v>0.56211665664461796</c:v>
                </c:pt>
                <c:pt idx="1">
                  <c:v>0.42532005689900398</c:v>
                </c:pt>
                <c:pt idx="2">
                  <c:v>0.25714285714285701</c:v>
                </c:pt>
                <c:pt idx="3">
                  <c:v>0.33286516853932502</c:v>
                </c:pt>
                <c:pt idx="4">
                  <c:v>0.46153846153846101</c:v>
                </c:pt>
                <c:pt idx="5">
                  <c:v>0.25106382978723402</c:v>
                </c:pt>
                <c:pt idx="6">
                  <c:v>0.445544554455445</c:v>
                </c:pt>
                <c:pt idx="7">
                  <c:v>0.36374204394056842</c:v>
                </c:pt>
              </c:numCache>
            </c:numRef>
          </c:val>
          <c:smooth val="0"/>
          <c:extLst>
            <c:ext xmlns:c16="http://schemas.microsoft.com/office/drawing/2014/chart" uri="{C3380CC4-5D6E-409C-BE32-E72D297353CC}">
              <c16:uniqueId val="{00000002-0CE8-4F6E-8798-5F4ECB6DB45A}"/>
            </c:ext>
          </c:extLst>
        </c:ser>
        <c:dLbls>
          <c:showLegendKey val="0"/>
          <c:showVal val="0"/>
          <c:showCatName val="0"/>
          <c:showSerName val="0"/>
          <c:showPercent val="0"/>
          <c:showBubbleSize val="0"/>
        </c:dLbls>
        <c:marker val="1"/>
        <c:smooth val="0"/>
        <c:axId val="935995968"/>
        <c:axId val="936006048"/>
      </c:lineChart>
      <c:catAx>
        <c:axId val="9360002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6013728"/>
        <c:crosses val="autoZero"/>
        <c:auto val="1"/>
        <c:lblAlgn val="ctr"/>
        <c:lblOffset val="100"/>
        <c:noMultiLvlLbl val="0"/>
      </c:catAx>
      <c:valAx>
        <c:axId val="9360137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6000288"/>
        <c:crosses val="autoZero"/>
        <c:crossBetween val="between"/>
      </c:valAx>
      <c:valAx>
        <c:axId val="936006048"/>
        <c:scaling>
          <c:orientation val="minMax"/>
        </c:scaling>
        <c:delete val="0"/>
        <c:axPos val="r"/>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5995968"/>
        <c:crosses val="max"/>
        <c:crossBetween val="between"/>
      </c:valAx>
      <c:catAx>
        <c:axId val="935995968"/>
        <c:scaling>
          <c:orientation val="minMax"/>
        </c:scaling>
        <c:delete val="1"/>
        <c:axPos val="b"/>
        <c:numFmt formatCode="General" sourceLinked="1"/>
        <c:majorTickMark val="none"/>
        <c:minorTickMark val="none"/>
        <c:tickLblPos val="nextTo"/>
        <c:crossAx val="936006048"/>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Interaction</a:t>
            </a:r>
            <a:r>
              <a:rPr lang="en-US" baseline="0"/>
              <a:t> and avg cost per interaction for Dec'24</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'bq-results-20251211-164545-1765'!$C$7</c:f>
              <c:strCache>
                <c:ptCount val="1"/>
                <c:pt idx="0">
                  <c:v>Interactions</c:v>
                </c:pt>
              </c:strCache>
            </c:strRef>
          </c:tx>
          <c:spPr>
            <a:solidFill>
              <a:schemeClr val="accent1"/>
            </a:solidFill>
            <a:ln>
              <a:noFill/>
            </a:ln>
            <a:effectLst/>
          </c:spPr>
          <c:invertIfNegative val="0"/>
          <c:cat>
            <c:strRef>
              <c:f>'bq-results-20251211-164545-1765'!$B$8:$B$10</c:f>
              <c:strCache>
                <c:ptCount val="3"/>
                <c:pt idx="0">
                  <c:v>Email</c:v>
                </c:pt>
                <c:pt idx="1">
                  <c:v>Call</c:v>
                </c:pt>
                <c:pt idx="2">
                  <c:v>Chat</c:v>
                </c:pt>
              </c:strCache>
            </c:strRef>
          </c:cat>
          <c:val>
            <c:numRef>
              <c:f>'bq-results-20251211-164545-1765'!$C$8:$C$10</c:f>
              <c:numCache>
                <c:formatCode>General</c:formatCode>
                <c:ptCount val="3"/>
                <c:pt idx="0">
                  <c:v>8650</c:v>
                </c:pt>
                <c:pt idx="1">
                  <c:v>4958</c:v>
                </c:pt>
                <c:pt idx="2">
                  <c:v>5088</c:v>
                </c:pt>
              </c:numCache>
            </c:numRef>
          </c:val>
          <c:extLst>
            <c:ext xmlns:c16="http://schemas.microsoft.com/office/drawing/2014/chart" uri="{C3380CC4-5D6E-409C-BE32-E72D297353CC}">
              <c16:uniqueId val="{00000000-368D-4B91-A1A6-A157A6E05972}"/>
            </c:ext>
          </c:extLst>
        </c:ser>
        <c:dLbls>
          <c:showLegendKey val="0"/>
          <c:showVal val="0"/>
          <c:showCatName val="0"/>
          <c:showSerName val="0"/>
          <c:showPercent val="0"/>
          <c:showBubbleSize val="0"/>
        </c:dLbls>
        <c:gapWidth val="150"/>
        <c:axId val="868256048"/>
        <c:axId val="868235888"/>
      </c:barChart>
      <c:lineChart>
        <c:grouping val="standard"/>
        <c:varyColors val="0"/>
        <c:ser>
          <c:idx val="1"/>
          <c:order val="1"/>
          <c:tx>
            <c:strRef>
              <c:f>'bq-results-20251211-164545-1765'!$D$7</c:f>
              <c:strCache>
                <c:ptCount val="1"/>
                <c:pt idx="0">
                  <c:v>Cost per interaction</c:v>
                </c:pt>
              </c:strCache>
            </c:strRef>
          </c:tx>
          <c:spPr>
            <a:ln w="28575" cap="rnd">
              <a:solidFill>
                <a:schemeClr val="accent2"/>
              </a:solidFill>
              <a:round/>
            </a:ln>
            <a:effectLst/>
          </c:spPr>
          <c:marker>
            <c:symbol val="none"/>
          </c:marker>
          <c:cat>
            <c:strRef>
              <c:f>'bq-results-20251211-164545-1765'!$B$8:$B$10</c:f>
              <c:strCache>
                <c:ptCount val="3"/>
                <c:pt idx="0">
                  <c:v>Email</c:v>
                </c:pt>
                <c:pt idx="1">
                  <c:v>Call</c:v>
                </c:pt>
                <c:pt idx="2">
                  <c:v>Chat</c:v>
                </c:pt>
              </c:strCache>
            </c:strRef>
          </c:cat>
          <c:val>
            <c:numRef>
              <c:f>'bq-results-20251211-164545-1765'!$D$8:$D$10</c:f>
              <c:numCache>
                <c:formatCode>General</c:formatCode>
                <c:ptCount val="3"/>
                <c:pt idx="0">
                  <c:v>55.286116963821499</c:v>
                </c:pt>
                <c:pt idx="1">
                  <c:v>2.6187569910456099</c:v>
                </c:pt>
                <c:pt idx="2">
                  <c:v>1.72784809381678</c:v>
                </c:pt>
              </c:numCache>
            </c:numRef>
          </c:val>
          <c:smooth val="0"/>
          <c:extLst>
            <c:ext xmlns:c16="http://schemas.microsoft.com/office/drawing/2014/chart" uri="{C3380CC4-5D6E-409C-BE32-E72D297353CC}">
              <c16:uniqueId val="{00000001-368D-4B91-A1A6-A157A6E05972}"/>
            </c:ext>
          </c:extLst>
        </c:ser>
        <c:dLbls>
          <c:showLegendKey val="0"/>
          <c:showVal val="0"/>
          <c:showCatName val="0"/>
          <c:showSerName val="0"/>
          <c:showPercent val="0"/>
          <c:showBubbleSize val="0"/>
        </c:dLbls>
        <c:marker val="1"/>
        <c:smooth val="0"/>
        <c:axId val="868230608"/>
        <c:axId val="868216688"/>
      </c:lineChart>
      <c:catAx>
        <c:axId val="868256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68235888"/>
        <c:crosses val="autoZero"/>
        <c:auto val="1"/>
        <c:lblAlgn val="ctr"/>
        <c:lblOffset val="100"/>
        <c:noMultiLvlLbl val="0"/>
      </c:catAx>
      <c:valAx>
        <c:axId val="8682358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68256048"/>
        <c:crosses val="autoZero"/>
        <c:crossBetween val="between"/>
      </c:valAx>
      <c:valAx>
        <c:axId val="868216688"/>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68230608"/>
        <c:crosses val="max"/>
        <c:crossBetween val="between"/>
      </c:valAx>
      <c:catAx>
        <c:axId val="868230608"/>
        <c:scaling>
          <c:orientation val="minMax"/>
        </c:scaling>
        <c:delete val="1"/>
        <c:axPos val="b"/>
        <c:numFmt formatCode="General" sourceLinked="1"/>
        <c:majorTickMark val="out"/>
        <c:minorTickMark val="none"/>
        <c:tickLblPos val="nextTo"/>
        <c:crossAx val="868216688"/>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ata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18/5/colors/Iconchunking_neutralbg_accent5_2">
  <dgm:title val=""/>
  <dgm:desc val=""/>
  <dgm:catLst>
    <dgm:cat type="accent5" pri="15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a:alpha val="0"/>
      </a:schemeClr>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3A2AC87-2ED0-49C4-91FA-EDD84EB325B5}" type="doc">
      <dgm:prSet loTypeId="urn:microsoft.com/office/officeart/2018/2/layout/IconCircleList" loCatId="icon" qsTypeId="urn:microsoft.com/office/officeart/2005/8/quickstyle/simple1" qsCatId="simple" csTypeId="urn:microsoft.com/office/officeart/2018/5/colors/Iconchunking_neutralbg_accent5_2" csCatId="accent5" phldr="1"/>
      <dgm:spPr/>
      <dgm:t>
        <a:bodyPr/>
        <a:lstStyle/>
        <a:p>
          <a:endParaRPr lang="en-US"/>
        </a:p>
      </dgm:t>
    </dgm:pt>
    <dgm:pt modelId="{AFFF045E-3821-40E4-B021-E4464316979F}">
      <dgm:prSet/>
      <dgm:spPr/>
      <dgm:t>
        <a:bodyPr/>
        <a:lstStyle/>
        <a:p>
          <a:r>
            <a:rPr lang="en-US" b="1"/>
            <a:t>Goal: Understand support performance across BE, CH, IE, NL and identify improvement levers.</a:t>
          </a:r>
          <a:endParaRPr lang="en-US"/>
        </a:p>
      </dgm:t>
    </dgm:pt>
    <dgm:pt modelId="{F099E929-B5C6-4539-AD97-8EE4CA6793D2}" type="parTrans" cxnId="{F100B634-5AF2-40DD-AB12-7595E5C7DBBF}">
      <dgm:prSet/>
      <dgm:spPr/>
      <dgm:t>
        <a:bodyPr/>
        <a:lstStyle/>
        <a:p>
          <a:endParaRPr lang="en-US"/>
        </a:p>
      </dgm:t>
    </dgm:pt>
    <dgm:pt modelId="{677CD9A3-0E76-40EE-899F-B67BA1C55BED}" type="sibTrans" cxnId="{F100B634-5AF2-40DD-AB12-7595E5C7DBBF}">
      <dgm:prSet/>
      <dgm:spPr/>
      <dgm:t>
        <a:bodyPr/>
        <a:lstStyle/>
        <a:p>
          <a:endParaRPr lang="en-US"/>
        </a:p>
      </dgm:t>
    </dgm:pt>
    <dgm:pt modelId="{69F3D3F8-E7C8-43FE-861F-F2E2F37B90AF}">
      <dgm:prSet/>
      <dgm:spPr/>
      <dgm:t>
        <a:bodyPr/>
        <a:lstStyle/>
        <a:p>
          <a:r>
            <a:rPr lang="en-US"/>
            <a:t>Data: ~430k interactions (1 row = 1 merchant → support interaction) across 2024 sample used as 2022 proxy.</a:t>
          </a:r>
        </a:p>
      </dgm:t>
    </dgm:pt>
    <dgm:pt modelId="{F88E2D90-047C-4078-90BB-027DA2E1E86B}" type="parTrans" cxnId="{B7B963E2-CBEA-45B1-979E-5705CEE24D40}">
      <dgm:prSet/>
      <dgm:spPr/>
      <dgm:t>
        <a:bodyPr/>
        <a:lstStyle/>
        <a:p>
          <a:endParaRPr lang="en-US"/>
        </a:p>
      </dgm:t>
    </dgm:pt>
    <dgm:pt modelId="{E723584F-C96D-4C70-953C-4BA0A6B24B7C}" type="sibTrans" cxnId="{B7B963E2-CBEA-45B1-979E-5705CEE24D40}">
      <dgm:prSet/>
      <dgm:spPr/>
      <dgm:t>
        <a:bodyPr/>
        <a:lstStyle/>
        <a:p>
          <a:endParaRPr lang="en-US"/>
        </a:p>
      </dgm:t>
    </dgm:pt>
    <dgm:pt modelId="{00B08739-AD66-47B9-9B37-2EF35A16C005}">
      <dgm:prSet/>
      <dgm:spPr/>
      <dgm:t>
        <a:bodyPr/>
        <a:lstStyle/>
        <a:p>
          <a:r>
            <a:rPr lang="en-US"/>
            <a:t>Key fields: merchant, product (classification), channel, agent company, dates, handling &amp; response times.</a:t>
          </a:r>
        </a:p>
      </dgm:t>
    </dgm:pt>
    <dgm:pt modelId="{F9FA0043-B53B-45CD-BC01-35F639B11B8C}" type="parTrans" cxnId="{60CE83EC-D892-444D-BBC3-AC7CD5B22746}">
      <dgm:prSet/>
      <dgm:spPr/>
      <dgm:t>
        <a:bodyPr/>
        <a:lstStyle/>
        <a:p>
          <a:endParaRPr lang="en-US"/>
        </a:p>
      </dgm:t>
    </dgm:pt>
    <dgm:pt modelId="{B03B594F-EB4A-4499-919E-F8C06C0E53BB}" type="sibTrans" cxnId="{60CE83EC-D892-444D-BBC3-AC7CD5B22746}">
      <dgm:prSet/>
      <dgm:spPr/>
      <dgm:t>
        <a:bodyPr/>
        <a:lstStyle/>
        <a:p>
          <a:endParaRPr lang="en-US"/>
        </a:p>
      </dgm:t>
    </dgm:pt>
    <dgm:pt modelId="{7BEDA514-F312-428A-B02B-6CC142E52E30}">
      <dgm:prSet/>
      <dgm:spPr/>
      <dgm:t>
        <a:bodyPr/>
        <a:lstStyle/>
        <a:p>
          <a:r>
            <a:rPr lang="en-US" dirty="0"/>
            <a:t>Focus metrics: recontacts on the same product and channel costs.</a:t>
          </a:r>
        </a:p>
      </dgm:t>
    </dgm:pt>
    <dgm:pt modelId="{0DCAF916-B462-489F-A4E5-3666C852B84B}" type="parTrans" cxnId="{9362E340-223F-4DB1-86D6-F6BEF184DA6D}">
      <dgm:prSet/>
      <dgm:spPr/>
      <dgm:t>
        <a:bodyPr/>
        <a:lstStyle/>
        <a:p>
          <a:endParaRPr lang="en-US"/>
        </a:p>
      </dgm:t>
    </dgm:pt>
    <dgm:pt modelId="{ED0CB611-4F76-4D2A-96A1-19DDD15D38F3}" type="sibTrans" cxnId="{9362E340-223F-4DB1-86D6-F6BEF184DA6D}">
      <dgm:prSet/>
      <dgm:spPr/>
      <dgm:t>
        <a:bodyPr/>
        <a:lstStyle/>
        <a:p>
          <a:endParaRPr lang="en-US"/>
        </a:p>
      </dgm:t>
    </dgm:pt>
    <dgm:pt modelId="{6DB29774-E028-4F5D-B20C-7C4B5C809417}" type="pres">
      <dgm:prSet presAssocID="{C3A2AC87-2ED0-49C4-91FA-EDD84EB325B5}" presName="root" presStyleCnt="0">
        <dgm:presLayoutVars>
          <dgm:dir/>
          <dgm:resizeHandles val="exact"/>
        </dgm:presLayoutVars>
      </dgm:prSet>
      <dgm:spPr/>
    </dgm:pt>
    <dgm:pt modelId="{4BFC8AB8-990E-4320-8251-3583BBA087BC}" type="pres">
      <dgm:prSet presAssocID="{C3A2AC87-2ED0-49C4-91FA-EDD84EB325B5}" presName="container" presStyleCnt="0">
        <dgm:presLayoutVars>
          <dgm:dir/>
          <dgm:resizeHandles val="exact"/>
        </dgm:presLayoutVars>
      </dgm:prSet>
      <dgm:spPr/>
    </dgm:pt>
    <dgm:pt modelId="{6BAA6371-1075-47F6-BA81-71A6A8C6E438}" type="pres">
      <dgm:prSet presAssocID="{AFFF045E-3821-40E4-B021-E4464316979F}" presName="compNode" presStyleCnt="0"/>
      <dgm:spPr/>
    </dgm:pt>
    <dgm:pt modelId="{3782F655-7F60-4784-918F-A4C369672E9C}" type="pres">
      <dgm:prSet presAssocID="{AFFF045E-3821-40E4-B021-E4464316979F}" presName="iconBgRect" presStyleLbl="bgShp" presStyleIdx="0" presStyleCnt="4"/>
      <dgm:spPr/>
    </dgm:pt>
    <dgm:pt modelId="{77766DD2-9DD2-4191-BC50-4204EB5013C0}" type="pres">
      <dgm:prSet presAssocID="{AFFF045E-3821-40E4-B021-E4464316979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llseye"/>
        </a:ext>
      </dgm:extLst>
    </dgm:pt>
    <dgm:pt modelId="{3B987DDC-3A41-4CB6-A9E1-2F7C4FCBD264}" type="pres">
      <dgm:prSet presAssocID="{AFFF045E-3821-40E4-B021-E4464316979F}" presName="spaceRect" presStyleCnt="0"/>
      <dgm:spPr/>
    </dgm:pt>
    <dgm:pt modelId="{986E10C0-774B-43DA-A191-D5ABDD32783B}" type="pres">
      <dgm:prSet presAssocID="{AFFF045E-3821-40E4-B021-E4464316979F}" presName="textRect" presStyleLbl="revTx" presStyleIdx="0" presStyleCnt="4">
        <dgm:presLayoutVars>
          <dgm:chMax val="1"/>
          <dgm:chPref val="1"/>
        </dgm:presLayoutVars>
      </dgm:prSet>
      <dgm:spPr/>
    </dgm:pt>
    <dgm:pt modelId="{C3004BA6-27C5-4ABA-B304-1014C7E630F6}" type="pres">
      <dgm:prSet presAssocID="{677CD9A3-0E76-40EE-899F-B67BA1C55BED}" presName="sibTrans" presStyleLbl="sibTrans2D1" presStyleIdx="0" presStyleCnt="0"/>
      <dgm:spPr/>
    </dgm:pt>
    <dgm:pt modelId="{F23EAA68-89D0-49AA-81C2-A52FA217327A}" type="pres">
      <dgm:prSet presAssocID="{69F3D3F8-E7C8-43FE-861F-F2E2F37B90AF}" presName="compNode" presStyleCnt="0"/>
      <dgm:spPr/>
    </dgm:pt>
    <dgm:pt modelId="{0D3B8D62-0E79-4025-B451-62D2D54D3566}" type="pres">
      <dgm:prSet presAssocID="{69F3D3F8-E7C8-43FE-861F-F2E2F37B90AF}" presName="iconBgRect" presStyleLbl="bgShp" presStyleIdx="1" presStyleCnt="4"/>
      <dgm:spPr/>
    </dgm:pt>
    <dgm:pt modelId="{C66A7EDD-9526-4953-A572-0A4D1CB436DE}" type="pres">
      <dgm:prSet presAssocID="{69F3D3F8-E7C8-43FE-861F-F2E2F37B90A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esentation with Bar Chart"/>
        </a:ext>
      </dgm:extLst>
    </dgm:pt>
    <dgm:pt modelId="{C60B1F61-747E-467D-AAEE-CDEF2A76CD0F}" type="pres">
      <dgm:prSet presAssocID="{69F3D3F8-E7C8-43FE-861F-F2E2F37B90AF}" presName="spaceRect" presStyleCnt="0"/>
      <dgm:spPr/>
    </dgm:pt>
    <dgm:pt modelId="{768F6ABA-F565-49FD-825E-15B7003D78BE}" type="pres">
      <dgm:prSet presAssocID="{69F3D3F8-E7C8-43FE-861F-F2E2F37B90AF}" presName="textRect" presStyleLbl="revTx" presStyleIdx="1" presStyleCnt="4">
        <dgm:presLayoutVars>
          <dgm:chMax val="1"/>
          <dgm:chPref val="1"/>
        </dgm:presLayoutVars>
      </dgm:prSet>
      <dgm:spPr/>
    </dgm:pt>
    <dgm:pt modelId="{3007F51A-179E-42E7-A496-16EB6B3983CC}" type="pres">
      <dgm:prSet presAssocID="{E723584F-C96D-4C70-953C-4BA0A6B24B7C}" presName="sibTrans" presStyleLbl="sibTrans2D1" presStyleIdx="0" presStyleCnt="0"/>
      <dgm:spPr/>
    </dgm:pt>
    <dgm:pt modelId="{B2D948DB-59B8-4E03-9AFC-8AF7B390073C}" type="pres">
      <dgm:prSet presAssocID="{00B08739-AD66-47B9-9B37-2EF35A16C005}" presName="compNode" presStyleCnt="0"/>
      <dgm:spPr/>
    </dgm:pt>
    <dgm:pt modelId="{9324C623-F08D-4F3C-85BB-F3FF08EA8414}" type="pres">
      <dgm:prSet presAssocID="{00B08739-AD66-47B9-9B37-2EF35A16C005}" presName="iconBgRect" presStyleLbl="bgShp" presStyleIdx="2" presStyleCnt="4"/>
      <dgm:spPr/>
    </dgm:pt>
    <dgm:pt modelId="{9B14B43F-CF3C-4543-889B-B5F11AAE5C78}" type="pres">
      <dgm:prSet presAssocID="{00B08739-AD66-47B9-9B37-2EF35A16C00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ilter"/>
        </a:ext>
      </dgm:extLst>
    </dgm:pt>
    <dgm:pt modelId="{4586196C-9650-4612-B005-65D47C020A9C}" type="pres">
      <dgm:prSet presAssocID="{00B08739-AD66-47B9-9B37-2EF35A16C005}" presName="spaceRect" presStyleCnt="0"/>
      <dgm:spPr/>
    </dgm:pt>
    <dgm:pt modelId="{46BE9E08-839D-425D-AE4E-064A7325B899}" type="pres">
      <dgm:prSet presAssocID="{00B08739-AD66-47B9-9B37-2EF35A16C005}" presName="textRect" presStyleLbl="revTx" presStyleIdx="2" presStyleCnt="4">
        <dgm:presLayoutVars>
          <dgm:chMax val="1"/>
          <dgm:chPref val="1"/>
        </dgm:presLayoutVars>
      </dgm:prSet>
      <dgm:spPr/>
    </dgm:pt>
    <dgm:pt modelId="{2E597E30-B0DA-4434-931F-6B971ABB6790}" type="pres">
      <dgm:prSet presAssocID="{B03B594F-EB4A-4499-919E-F8C06C0E53BB}" presName="sibTrans" presStyleLbl="sibTrans2D1" presStyleIdx="0" presStyleCnt="0"/>
      <dgm:spPr/>
    </dgm:pt>
    <dgm:pt modelId="{7ABE9679-0608-46E2-8EBE-57336CA8E7A7}" type="pres">
      <dgm:prSet presAssocID="{7BEDA514-F312-428A-B02B-6CC142E52E30}" presName="compNode" presStyleCnt="0"/>
      <dgm:spPr/>
    </dgm:pt>
    <dgm:pt modelId="{875F6074-99BD-4678-B1AF-C44305886D8C}" type="pres">
      <dgm:prSet presAssocID="{7BEDA514-F312-428A-B02B-6CC142E52E30}" presName="iconBgRect" presStyleLbl="bgShp" presStyleIdx="3" presStyleCnt="4"/>
      <dgm:spPr/>
    </dgm:pt>
    <dgm:pt modelId="{3AB610DC-9CFD-48D7-84F7-97775CE590F6}" type="pres">
      <dgm:prSet presAssocID="{7BEDA514-F312-428A-B02B-6CC142E52E3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agnifying glass"/>
        </a:ext>
      </dgm:extLst>
    </dgm:pt>
    <dgm:pt modelId="{DEBB7F8D-704A-4B48-BF02-F6C106EB632F}" type="pres">
      <dgm:prSet presAssocID="{7BEDA514-F312-428A-B02B-6CC142E52E30}" presName="spaceRect" presStyleCnt="0"/>
      <dgm:spPr/>
    </dgm:pt>
    <dgm:pt modelId="{0EEDCECC-FE82-4B10-A23F-99A84B48FF56}" type="pres">
      <dgm:prSet presAssocID="{7BEDA514-F312-428A-B02B-6CC142E52E30}" presName="textRect" presStyleLbl="revTx" presStyleIdx="3" presStyleCnt="4">
        <dgm:presLayoutVars>
          <dgm:chMax val="1"/>
          <dgm:chPref val="1"/>
        </dgm:presLayoutVars>
      </dgm:prSet>
      <dgm:spPr/>
    </dgm:pt>
  </dgm:ptLst>
  <dgm:cxnLst>
    <dgm:cxn modelId="{14D08106-C1EB-45FD-AD86-BF53443110D6}" type="presOf" srcId="{677CD9A3-0E76-40EE-899F-B67BA1C55BED}" destId="{C3004BA6-27C5-4ABA-B304-1014C7E630F6}" srcOrd="0" destOrd="0" presId="urn:microsoft.com/office/officeart/2018/2/layout/IconCircleList"/>
    <dgm:cxn modelId="{97A95F20-8A72-42C9-A704-0D314117328E}" type="presOf" srcId="{00B08739-AD66-47B9-9B37-2EF35A16C005}" destId="{46BE9E08-839D-425D-AE4E-064A7325B899}" srcOrd="0" destOrd="0" presId="urn:microsoft.com/office/officeart/2018/2/layout/IconCircleList"/>
    <dgm:cxn modelId="{F100B634-5AF2-40DD-AB12-7595E5C7DBBF}" srcId="{C3A2AC87-2ED0-49C4-91FA-EDD84EB325B5}" destId="{AFFF045E-3821-40E4-B021-E4464316979F}" srcOrd="0" destOrd="0" parTransId="{F099E929-B5C6-4539-AD97-8EE4CA6793D2}" sibTransId="{677CD9A3-0E76-40EE-899F-B67BA1C55BED}"/>
    <dgm:cxn modelId="{65A4A63F-9618-4AA5-96E2-1D2A0E7B3F8D}" type="presOf" srcId="{69F3D3F8-E7C8-43FE-861F-F2E2F37B90AF}" destId="{768F6ABA-F565-49FD-825E-15B7003D78BE}" srcOrd="0" destOrd="0" presId="urn:microsoft.com/office/officeart/2018/2/layout/IconCircleList"/>
    <dgm:cxn modelId="{9362E340-223F-4DB1-86D6-F6BEF184DA6D}" srcId="{C3A2AC87-2ED0-49C4-91FA-EDD84EB325B5}" destId="{7BEDA514-F312-428A-B02B-6CC142E52E30}" srcOrd="3" destOrd="0" parTransId="{0DCAF916-B462-489F-A4E5-3666C852B84B}" sibTransId="{ED0CB611-4F76-4D2A-96A1-19DDD15D38F3}"/>
    <dgm:cxn modelId="{BC5F9358-FDD1-4920-8BFF-5BCF7F177E40}" type="presOf" srcId="{E723584F-C96D-4C70-953C-4BA0A6B24B7C}" destId="{3007F51A-179E-42E7-A496-16EB6B3983CC}" srcOrd="0" destOrd="0" presId="urn:microsoft.com/office/officeart/2018/2/layout/IconCircleList"/>
    <dgm:cxn modelId="{2D4546B1-3515-4E9F-9D16-15E13B955541}" type="presOf" srcId="{B03B594F-EB4A-4499-919E-F8C06C0E53BB}" destId="{2E597E30-B0DA-4434-931F-6B971ABB6790}" srcOrd="0" destOrd="0" presId="urn:microsoft.com/office/officeart/2018/2/layout/IconCircleList"/>
    <dgm:cxn modelId="{C2CC71BD-4CD5-4453-A266-8C3696A6187C}" type="presOf" srcId="{7BEDA514-F312-428A-B02B-6CC142E52E30}" destId="{0EEDCECC-FE82-4B10-A23F-99A84B48FF56}" srcOrd="0" destOrd="0" presId="urn:microsoft.com/office/officeart/2018/2/layout/IconCircleList"/>
    <dgm:cxn modelId="{5074F6CF-C031-4FCB-92E5-AE799B0C079A}" type="presOf" srcId="{C3A2AC87-2ED0-49C4-91FA-EDD84EB325B5}" destId="{6DB29774-E028-4F5D-B20C-7C4B5C809417}" srcOrd="0" destOrd="0" presId="urn:microsoft.com/office/officeart/2018/2/layout/IconCircleList"/>
    <dgm:cxn modelId="{2C02A5D1-9140-4D12-BC17-CE7AC59636A6}" type="presOf" srcId="{AFFF045E-3821-40E4-B021-E4464316979F}" destId="{986E10C0-774B-43DA-A191-D5ABDD32783B}" srcOrd="0" destOrd="0" presId="urn:microsoft.com/office/officeart/2018/2/layout/IconCircleList"/>
    <dgm:cxn modelId="{B7B963E2-CBEA-45B1-979E-5705CEE24D40}" srcId="{C3A2AC87-2ED0-49C4-91FA-EDD84EB325B5}" destId="{69F3D3F8-E7C8-43FE-861F-F2E2F37B90AF}" srcOrd="1" destOrd="0" parTransId="{F88E2D90-047C-4078-90BB-027DA2E1E86B}" sibTransId="{E723584F-C96D-4C70-953C-4BA0A6B24B7C}"/>
    <dgm:cxn modelId="{60CE83EC-D892-444D-BBC3-AC7CD5B22746}" srcId="{C3A2AC87-2ED0-49C4-91FA-EDD84EB325B5}" destId="{00B08739-AD66-47B9-9B37-2EF35A16C005}" srcOrd="2" destOrd="0" parTransId="{F9FA0043-B53B-45CD-BC01-35F639B11B8C}" sibTransId="{B03B594F-EB4A-4499-919E-F8C06C0E53BB}"/>
    <dgm:cxn modelId="{E99C3E5E-46CB-44A6-AA6F-423E42A44FC6}" type="presParOf" srcId="{6DB29774-E028-4F5D-B20C-7C4B5C809417}" destId="{4BFC8AB8-990E-4320-8251-3583BBA087BC}" srcOrd="0" destOrd="0" presId="urn:microsoft.com/office/officeart/2018/2/layout/IconCircleList"/>
    <dgm:cxn modelId="{13C42F37-E961-4131-B0E7-D728186480B3}" type="presParOf" srcId="{4BFC8AB8-990E-4320-8251-3583BBA087BC}" destId="{6BAA6371-1075-47F6-BA81-71A6A8C6E438}" srcOrd="0" destOrd="0" presId="urn:microsoft.com/office/officeart/2018/2/layout/IconCircleList"/>
    <dgm:cxn modelId="{FFA5BB04-4EBD-4645-90EF-6A31704C2AAD}" type="presParOf" srcId="{6BAA6371-1075-47F6-BA81-71A6A8C6E438}" destId="{3782F655-7F60-4784-918F-A4C369672E9C}" srcOrd="0" destOrd="0" presId="urn:microsoft.com/office/officeart/2018/2/layout/IconCircleList"/>
    <dgm:cxn modelId="{08C7909B-E054-4350-BC71-3F349F050597}" type="presParOf" srcId="{6BAA6371-1075-47F6-BA81-71A6A8C6E438}" destId="{77766DD2-9DD2-4191-BC50-4204EB5013C0}" srcOrd="1" destOrd="0" presId="urn:microsoft.com/office/officeart/2018/2/layout/IconCircleList"/>
    <dgm:cxn modelId="{5C9ECE8A-AA47-449B-88BB-C4762E4FF537}" type="presParOf" srcId="{6BAA6371-1075-47F6-BA81-71A6A8C6E438}" destId="{3B987DDC-3A41-4CB6-A9E1-2F7C4FCBD264}" srcOrd="2" destOrd="0" presId="urn:microsoft.com/office/officeart/2018/2/layout/IconCircleList"/>
    <dgm:cxn modelId="{ED831AC7-175E-47C0-A38A-B27424801BD8}" type="presParOf" srcId="{6BAA6371-1075-47F6-BA81-71A6A8C6E438}" destId="{986E10C0-774B-43DA-A191-D5ABDD32783B}" srcOrd="3" destOrd="0" presId="urn:microsoft.com/office/officeart/2018/2/layout/IconCircleList"/>
    <dgm:cxn modelId="{94471C72-2A49-419B-A940-DA0A8E647E69}" type="presParOf" srcId="{4BFC8AB8-990E-4320-8251-3583BBA087BC}" destId="{C3004BA6-27C5-4ABA-B304-1014C7E630F6}" srcOrd="1" destOrd="0" presId="urn:microsoft.com/office/officeart/2018/2/layout/IconCircleList"/>
    <dgm:cxn modelId="{D18BA685-AADB-4ECD-A0D3-8ED6A4932781}" type="presParOf" srcId="{4BFC8AB8-990E-4320-8251-3583BBA087BC}" destId="{F23EAA68-89D0-49AA-81C2-A52FA217327A}" srcOrd="2" destOrd="0" presId="urn:microsoft.com/office/officeart/2018/2/layout/IconCircleList"/>
    <dgm:cxn modelId="{463E21B8-A5AF-4303-8495-45B531421D98}" type="presParOf" srcId="{F23EAA68-89D0-49AA-81C2-A52FA217327A}" destId="{0D3B8D62-0E79-4025-B451-62D2D54D3566}" srcOrd="0" destOrd="0" presId="urn:microsoft.com/office/officeart/2018/2/layout/IconCircleList"/>
    <dgm:cxn modelId="{C1DC1B3E-7E48-4D5D-B8FD-36E5106CC25B}" type="presParOf" srcId="{F23EAA68-89D0-49AA-81C2-A52FA217327A}" destId="{C66A7EDD-9526-4953-A572-0A4D1CB436DE}" srcOrd="1" destOrd="0" presId="urn:microsoft.com/office/officeart/2018/2/layout/IconCircleList"/>
    <dgm:cxn modelId="{B867E136-68C8-45DF-9B13-BA2296B96E75}" type="presParOf" srcId="{F23EAA68-89D0-49AA-81C2-A52FA217327A}" destId="{C60B1F61-747E-467D-AAEE-CDEF2A76CD0F}" srcOrd="2" destOrd="0" presId="urn:microsoft.com/office/officeart/2018/2/layout/IconCircleList"/>
    <dgm:cxn modelId="{09EC73EC-3F6D-4173-9CC6-832D28D01307}" type="presParOf" srcId="{F23EAA68-89D0-49AA-81C2-A52FA217327A}" destId="{768F6ABA-F565-49FD-825E-15B7003D78BE}" srcOrd="3" destOrd="0" presId="urn:microsoft.com/office/officeart/2018/2/layout/IconCircleList"/>
    <dgm:cxn modelId="{99A7E02A-4371-47F7-8BF1-4E655290D939}" type="presParOf" srcId="{4BFC8AB8-990E-4320-8251-3583BBA087BC}" destId="{3007F51A-179E-42E7-A496-16EB6B3983CC}" srcOrd="3" destOrd="0" presId="urn:microsoft.com/office/officeart/2018/2/layout/IconCircleList"/>
    <dgm:cxn modelId="{B2E910D5-7F9B-4F3A-B652-37F37D47D120}" type="presParOf" srcId="{4BFC8AB8-990E-4320-8251-3583BBA087BC}" destId="{B2D948DB-59B8-4E03-9AFC-8AF7B390073C}" srcOrd="4" destOrd="0" presId="urn:microsoft.com/office/officeart/2018/2/layout/IconCircleList"/>
    <dgm:cxn modelId="{2E71F39C-46DF-4670-A2C8-C172088FB23B}" type="presParOf" srcId="{B2D948DB-59B8-4E03-9AFC-8AF7B390073C}" destId="{9324C623-F08D-4F3C-85BB-F3FF08EA8414}" srcOrd="0" destOrd="0" presId="urn:microsoft.com/office/officeart/2018/2/layout/IconCircleList"/>
    <dgm:cxn modelId="{5F537EB0-2E68-4C8B-A82F-8688A048E27C}" type="presParOf" srcId="{B2D948DB-59B8-4E03-9AFC-8AF7B390073C}" destId="{9B14B43F-CF3C-4543-889B-B5F11AAE5C78}" srcOrd="1" destOrd="0" presId="urn:microsoft.com/office/officeart/2018/2/layout/IconCircleList"/>
    <dgm:cxn modelId="{89C8D5CF-7A3B-460A-A286-BA7482C6D0A6}" type="presParOf" srcId="{B2D948DB-59B8-4E03-9AFC-8AF7B390073C}" destId="{4586196C-9650-4612-B005-65D47C020A9C}" srcOrd="2" destOrd="0" presId="urn:microsoft.com/office/officeart/2018/2/layout/IconCircleList"/>
    <dgm:cxn modelId="{3176C558-751B-452E-805F-E9B44EFE1F77}" type="presParOf" srcId="{B2D948DB-59B8-4E03-9AFC-8AF7B390073C}" destId="{46BE9E08-839D-425D-AE4E-064A7325B899}" srcOrd="3" destOrd="0" presId="urn:microsoft.com/office/officeart/2018/2/layout/IconCircleList"/>
    <dgm:cxn modelId="{9B14ABC8-BE2F-4611-8466-EADDEBFC3E83}" type="presParOf" srcId="{4BFC8AB8-990E-4320-8251-3583BBA087BC}" destId="{2E597E30-B0DA-4434-931F-6B971ABB6790}" srcOrd="5" destOrd="0" presId="urn:microsoft.com/office/officeart/2018/2/layout/IconCircleList"/>
    <dgm:cxn modelId="{F3377777-831F-4EC1-A177-942733438659}" type="presParOf" srcId="{4BFC8AB8-990E-4320-8251-3583BBA087BC}" destId="{7ABE9679-0608-46E2-8EBE-57336CA8E7A7}" srcOrd="6" destOrd="0" presId="urn:microsoft.com/office/officeart/2018/2/layout/IconCircleList"/>
    <dgm:cxn modelId="{DFCB0327-379A-474D-85F4-83E5BFC161D8}" type="presParOf" srcId="{7ABE9679-0608-46E2-8EBE-57336CA8E7A7}" destId="{875F6074-99BD-4678-B1AF-C44305886D8C}" srcOrd="0" destOrd="0" presId="urn:microsoft.com/office/officeart/2018/2/layout/IconCircleList"/>
    <dgm:cxn modelId="{EE2CD313-ED99-43DA-8869-0E1B476A8B90}" type="presParOf" srcId="{7ABE9679-0608-46E2-8EBE-57336CA8E7A7}" destId="{3AB610DC-9CFD-48D7-84F7-97775CE590F6}" srcOrd="1" destOrd="0" presId="urn:microsoft.com/office/officeart/2018/2/layout/IconCircleList"/>
    <dgm:cxn modelId="{26AD1064-AEC2-4CAD-A204-B5D822670DC5}" type="presParOf" srcId="{7ABE9679-0608-46E2-8EBE-57336CA8E7A7}" destId="{DEBB7F8D-704A-4B48-BF02-F6C106EB632F}" srcOrd="2" destOrd="0" presId="urn:microsoft.com/office/officeart/2018/2/layout/IconCircleList"/>
    <dgm:cxn modelId="{9C031D87-5C3F-4E97-B73D-9E3889B9B573}" type="presParOf" srcId="{7ABE9679-0608-46E2-8EBE-57336CA8E7A7}" destId="{0EEDCECC-FE82-4B10-A23F-99A84B48FF56}"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54877B1-B5F1-4093-BCBC-328248295E4F}" type="doc">
      <dgm:prSet loTypeId="urn:microsoft.com/office/officeart/2018/5/layout/IconCircle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D9F1F452-F5FB-43B8-8122-BAF38B721CAA}">
      <dgm:prSet/>
      <dgm:spPr/>
      <dgm:t>
        <a:bodyPr/>
        <a:lstStyle/>
        <a:p>
          <a:pPr>
            <a:defRPr cap="all"/>
          </a:pPr>
          <a:r>
            <a:rPr lang="en-US" b="1"/>
            <a:t>Assumption: Monthly Support budget = €0.5M; main cost driver is agent handling time.</a:t>
          </a:r>
          <a:endParaRPr lang="en-US"/>
        </a:p>
      </dgm:t>
    </dgm:pt>
    <dgm:pt modelId="{1E8F42E1-255B-4E82-9477-82266436B2C8}" type="parTrans" cxnId="{56A56975-7532-4E45-882C-91CDFAC07414}">
      <dgm:prSet/>
      <dgm:spPr/>
      <dgm:t>
        <a:bodyPr/>
        <a:lstStyle/>
        <a:p>
          <a:endParaRPr lang="en-US"/>
        </a:p>
      </dgm:t>
    </dgm:pt>
    <dgm:pt modelId="{A140573F-7016-4B14-80A2-3FF3DF18F923}" type="sibTrans" cxnId="{56A56975-7532-4E45-882C-91CDFAC07414}">
      <dgm:prSet/>
      <dgm:spPr/>
      <dgm:t>
        <a:bodyPr/>
        <a:lstStyle/>
        <a:p>
          <a:endParaRPr lang="en-US"/>
        </a:p>
      </dgm:t>
    </dgm:pt>
    <dgm:pt modelId="{5D18E87A-A8F8-4A2D-97A7-3F9C107DFF9D}">
      <dgm:prSet/>
      <dgm:spPr/>
      <dgm:t>
        <a:bodyPr/>
        <a:lstStyle/>
        <a:p>
          <a:pPr>
            <a:defRPr cap="all"/>
          </a:pPr>
          <a:r>
            <a:rPr lang="en-US"/>
            <a:t>Per channel, sum INTERACTION_HANDLING_TIME and convert to hours.</a:t>
          </a:r>
        </a:p>
      </dgm:t>
    </dgm:pt>
    <dgm:pt modelId="{4A73C0FE-4DF3-4204-B3D6-676EECEC6E15}" type="parTrans" cxnId="{6B851AFC-1434-4776-995B-39CC115C3D00}">
      <dgm:prSet/>
      <dgm:spPr/>
      <dgm:t>
        <a:bodyPr/>
        <a:lstStyle/>
        <a:p>
          <a:endParaRPr lang="en-US"/>
        </a:p>
      </dgm:t>
    </dgm:pt>
    <dgm:pt modelId="{4E1004AA-C9FC-4FD0-AEA7-EA1F47C96AA0}" type="sibTrans" cxnId="{6B851AFC-1434-4776-995B-39CC115C3D00}">
      <dgm:prSet/>
      <dgm:spPr/>
      <dgm:t>
        <a:bodyPr/>
        <a:lstStyle/>
        <a:p>
          <a:endParaRPr lang="en-US"/>
        </a:p>
      </dgm:t>
    </dgm:pt>
    <dgm:pt modelId="{7BDEB58F-07E1-4A3D-8522-F337488FE76B}">
      <dgm:prSet/>
      <dgm:spPr/>
      <dgm:t>
        <a:bodyPr/>
        <a:lstStyle/>
        <a:p>
          <a:pPr>
            <a:defRPr cap="all"/>
          </a:pPr>
          <a:r>
            <a:rPr lang="en-US"/>
            <a:t>Adjust for concurrency: calls &amp; email at 1×, chat at 1/3× (3 chats in parallel).</a:t>
          </a:r>
        </a:p>
      </dgm:t>
    </dgm:pt>
    <dgm:pt modelId="{CAB81633-90A2-4358-8525-2B5292134544}" type="parTrans" cxnId="{CF92D9CF-DA33-45EF-BE5F-90E9353476F2}">
      <dgm:prSet/>
      <dgm:spPr/>
      <dgm:t>
        <a:bodyPr/>
        <a:lstStyle/>
        <a:p>
          <a:endParaRPr lang="en-US"/>
        </a:p>
      </dgm:t>
    </dgm:pt>
    <dgm:pt modelId="{A101281C-B784-4E50-BA78-CD1261E95508}" type="sibTrans" cxnId="{CF92D9CF-DA33-45EF-BE5F-90E9353476F2}">
      <dgm:prSet/>
      <dgm:spPr/>
      <dgm:t>
        <a:bodyPr/>
        <a:lstStyle/>
        <a:p>
          <a:endParaRPr lang="en-US"/>
        </a:p>
      </dgm:t>
    </dgm:pt>
    <dgm:pt modelId="{D08AC078-FC02-4B02-9FC2-C5957DEC5EAF}">
      <dgm:prSet/>
      <dgm:spPr/>
      <dgm:t>
        <a:bodyPr/>
        <a:lstStyle/>
        <a:p>
          <a:pPr>
            <a:defRPr cap="all"/>
          </a:pPr>
          <a:r>
            <a:rPr lang="en-US"/>
            <a:t>Allocate the €0.5M budget proportional to effective agent hours, then compute cost per interaction (and per resolved interaction).</a:t>
          </a:r>
        </a:p>
      </dgm:t>
    </dgm:pt>
    <dgm:pt modelId="{23391CAE-E4DB-4DDF-8622-B7AD67D7B18E}" type="parTrans" cxnId="{7C6AE1BA-9D47-430A-B075-7AF4845628AD}">
      <dgm:prSet/>
      <dgm:spPr/>
      <dgm:t>
        <a:bodyPr/>
        <a:lstStyle/>
        <a:p>
          <a:endParaRPr lang="en-US"/>
        </a:p>
      </dgm:t>
    </dgm:pt>
    <dgm:pt modelId="{5D88C46F-164E-4A98-B250-86CDBA8E9AB3}" type="sibTrans" cxnId="{7C6AE1BA-9D47-430A-B075-7AF4845628AD}">
      <dgm:prSet/>
      <dgm:spPr/>
      <dgm:t>
        <a:bodyPr/>
        <a:lstStyle/>
        <a:p>
          <a:endParaRPr lang="en-US"/>
        </a:p>
      </dgm:t>
    </dgm:pt>
    <dgm:pt modelId="{7493600E-C4B1-4725-8646-786F005B08F2}" type="pres">
      <dgm:prSet presAssocID="{854877B1-B5F1-4093-BCBC-328248295E4F}" presName="root" presStyleCnt="0">
        <dgm:presLayoutVars>
          <dgm:dir/>
          <dgm:resizeHandles val="exact"/>
        </dgm:presLayoutVars>
      </dgm:prSet>
      <dgm:spPr/>
    </dgm:pt>
    <dgm:pt modelId="{647468FD-08AF-4B20-903F-426954A114BE}" type="pres">
      <dgm:prSet presAssocID="{D9F1F452-F5FB-43B8-8122-BAF38B721CAA}" presName="compNode" presStyleCnt="0"/>
      <dgm:spPr/>
    </dgm:pt>
    <dgm:pt modelId="{E102C6E4-DE1F-4C11-BF4B-98C63BC9204B}" type="pres">
      <dgm:prSet presAssocID="{D9F1F452-F5FB-43B8-8122-BAF38B721CAA}" presName="iconBgRect" presStyleLbl="bgShp" presStyleIdx="0" presStyleCnt="4"/>
      <dgm:spPr/>
    </dgm:pt>
    <dgm:pt modelId="{DE402EBB-7ACA-4135-B034-88E83AB489B0}" type="pres">
      <dgm:prSet presAssocID="{D9F1F452-F5FB-43B8-8122-BAF38B721CA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ey"/>
        </a:ext>
      </dgm:extLst>
    </dgm:pt>
    <dgm:pt modelId="{3C8A8368-9825-4261-B64D-04F4DEF05884}" type="pres">
      <dgm:prSet presAssocID="{D9F1F452-F5FB-43B8-8122-BAF38B721CAA}" presName="spaceRect" presStyleCnt="0"/>
      <dgm:spPr/>
    </dgm:pt>
    <dgm:pt modelId="{6FE502E6-D759-42F2-B5D1-B8FF4D768CAA}" type="pres">
      <dgm:prSet presAssocID="{D9F1F452-F5FB-43B8-8122-BAF38B721CAA}" presName="textRect" presStyleLbl="revTx" presStyleIdx="0" presStyleCnt="4">
        <dgm:presLayoutVars>
          <dgm:chMax val="1"/>
          <dgm:chPref val="1"/>
        </dgm:presLayoutVars>
      </dgm:prSet>
      <dgm:spPr/>
    </dgm:pt>
    <dgm:pt modelId="{94984616-BC8C-4101-8838-85869C1F9544}" type="pres">
      <dgm:prSet presAssocID="{A140573F-7016-4B14-80A2-3FF3DF18F923}" presName="sibTrans" presStyleCnt="0"/>
      <dgm:spPr/>
    </dgm:pt>
    <dgm:pt modelId="{283591B0-49C5-4A61-9B55-4D7D0191C572}" type="pres">
      <dgm:prSet presAssocID="{5D18E87A-A8F8-4A2D-97A7-3F9C107DFF9D}" presName="compNode" presStyleCnt="0"/>
      <dgm:spPr/>
    </dgm:pt>
    <dgm:pt modelId="{79EDD496-CCBD-4780-8899-30D8FABD99A7}" type="pres">
      <dgm:prSet presAssocID="{5D18E87A-A8F8-4A2D-97A7-3F9C107DFF9D}" presName="iconBgRect" presStyleLbl="bgShp" presStyleIdx="1" presStyleCnt="4"/>
      <dgm:spPr/>
    </dgm:pt>
    <dgm:pt modelId="{30434B4E-26BF-4A3D-921F-0A476E6788ED}" type="pres">
      <dgm:prSet presAssocID="{5D18E87A-A8F8-4A2D-97A7-3F9C107DFF9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hare With Person"/>
        </a:ext>
      </dgm:extLst>
    </dgm:pt>
    <dgm:pt modelId="{D64A72D8-2427-40B6-9F6B-A14FB8DE8DFD}" type="pres">
      <dgm:prSet presAssocID="{5D18E87A-A8F8-4A2D-97A7-3F9C107DFF9D}" presName="spaceRect" presStyleCnt="0"/>
      <dgm:spPr/>
    </dgm:pt>
    <dgm:pt modelId="{90CB644E-8A11-4AA1-857D-D1D36F4DA271}" type="pres">
      <dgm:prSet presAssocID="{5D18E87A-A8F8-4A2D-97A7-3F9C107DFF9D}" presName="textRect" presStyleLbl="revTx" presStyleIdx="1" presStyleCnt="4">
        <dgm:presLayoutVars>
          <dgm:chMax val="1"/>
          <dgm:chPref val="1"/>
        </dgm:presLayoutVars>
      </dgm:prSet>
      <dgm:spPr/>
    </dgm:pt>
    <dgm:pt modelId="{0E606D27-CF73-4EA6-BEC9-7D8C462541E5}" type="pres">
      <dgm:prSet presAssocID="{4E1004AA-C9FC-4FD0-AEA7-EA1F47C96AA0}" presName="sibTrans" presStyleCnt="0"/>
      <dgm:spPr/>
    </dgm:pt>
    <dgm:pt modelId="{061FF552-212B-41B9-9A63-010A4578DB47}" type="pres">
      <dgm:prSet presAssocID="{7BDEB58F-07E1-4A3D-8522-F337488FE76B}" presName="compNode" presStyleCnt="0"/>
      <dgm:spPr/>
    </dgm:pt>
    <dgm:pt modelId="{AE1BFE1B-C87A-46F1-9163-6F816B4746AF}" type="pres">
      <dgm:prSet presAssocID="{7BDEB58F-07E1-4A3D-8522-F337488FE76B}" presName="iconBgRect" presStyleLbl="bgShp" presStyleIdx="2" presStyleCnt="4"/>
      <dgm:spPr/>
    </dgm:pt>
    <dgm:pt modelId="{028EE07C-E8D1-4145-B21C-FECDD72CAED7}" type="pres">
      <dgm:prSet presAssocID="{7BDEB58F-07E1-4A3D-8522-F337488FE76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ubtitles"/>
        </a:ext>
      </dgm:extLst>
    </dgm:pt>
    <dgm:pt modelId="{FA9AD49A-7471-4D9A-AF59-1C6E36E6C5A3}" type="pres">
      <dgm:prSet presAssocID="{7BDEB58F-07E1-4A3D-8522-F337488FE76B}" presName="spaceRect" presStyleCnt="0"/>
      <dgm:spPr/>
    </dgm:pt>
    <dgm:pt modelId="{982DBEEC-A973-420A-A313-C2DD2528165C}" type="pres">
      <dgm:prSet presAssocID="{7BDEB58F-07E1-4A3D-8522-F337488FE76B}" presName="textRect" presStyleLbl="revTx" presStyleIdx="2" presStyleCnt="4">
        <dgm:presLayoutVars>
          <dgm:chMax val="1"/>
          <dgm:chPref val="1"/>
        </dgm:presLayoutVars>
      </dgm:prSet>
      <dgm:spPr/>
    </dgm:pt>
    <dgm:pt modelId="{12A04530-9B0E-4081-8B29-66F21009D67A}" type="pres">
      <dgm:prSet presAssocID="{A101281C-B784-4E50-BA78-CD1261E95508}" presName="sibTrans" presStyleCnt="0"/>
      <dgm:spPr/>
    </dgm:pt>
    <dgm:pt modelId="{B405604A-8640-4459-9733-B0FBB97FBFCB}" type="pres">
      <dgm:prSet presAssocID="{D08AC078-FC02-4B02-9FC2-C5957DEC5EAF}" presName="compNode" presStyleCnt="0"/>
      <dgm:spPr/>
    </dgm:pt>
    <dgm:pt modelId="{F8468493-D0DF-417F-AF8B-96802B8F2F90}" type="pres">
      <dgm:prSet presAssocID="{D08AC078-FC02-4B02-9FC2-C5957DEC5EAF}" presName="iconBgRect" presStyleLbl="bgShp" presStyleIdx="3" presStyleCnt="4"/>
      <dgm:spPr/>
    </dgm:pt>
    <dgm:pt modelId="{0255E3F4-DA2D-49BF-87D0-5510A8A3337A}" type="pres">
      <dgm:prSet presAssocID="{D08AC078-FC02-4B02-9FC2-C5957DEC5EA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alculator"/>
        </a:ext>
      </dgm:extLst>
    </dgm:pt>
    <dgm:pt modelId="{D3A30DE2-4581-4FEA-9F71-10B95EBA62EC}" type="pres">
      <dgm:prSet presAssocID="{D08AC078-FC02-4B02-9FC2-C5957DEC5EAF}" presName="spaceRect" presStyleCnt="0"/>
      <dgm:spPr/>
    </dgm:pt>
    <dgm:pt modelId="{9D0C6C3A-27C5-44E3-B90E-A4C96F3D628F}" type="pres">
      <dgm:prSet presAssocID="{D08AC078-FC02-4B02-9FC2-C5957DEC5EAF}" presName="textRect" presStyleLbl="revTx" presStyleIdx="3" presStyleCnt="4">
        <dgm:presLayoutVars>
          <dgm:chMax val="1"/>
          <dgm:chPref val="1"/>
        </dgm:presLayoutVars>
      </dgm:prSet>
      <dgm:spPr/>
    </dgm:pt>
  </dgm:ptLst>
  <dgm:cxnLst>
    <dgm:cxn modelId="{DF931720-D6A8-40F1-82F1-F132E071D241}" type="presOf" srcId="{D9F1F452-F5FB-43B8-8122-BAF38B721CAA}" destId="{6FE502E6-D759-42F2-B5D1-B8FF4D768CAA}" srcOrd="0" destOrd="0" presId="urn:microsoft.com/office/officeart/2018/5/layout/IconCircleLabelList"/>
    <dgm:cxn modelId="{82D8462C-8313-4B7B-A670-45787F6C2881}" type="presOf" srcId="{854877B1-B5F1-4093-BCBC-328248295E4F}" destId="{7493600E-C4B1-4725-8646-786F005B08F2}" srcOrd="0" destOrd="0" presId="urn:microsoft.com/office/officeart/2018/5/layout/IconCircleLabelList"/>
    <dgm:cxn modelId="{01453A32-F01B-401B-878D-79757873D00A}" type="presOf" srcId="{5D18E87A-A8F8-4A2D-97A7-3F9C107DFF9D}" destId="{90CB644E-8A11-4AA1-857D-D1D36F4DA271}" srcOrd="0" destOrd="0" presId="urn:microsoft.com/office/officeart/2018/5/layout/IconCircleLabelList"/>
    <dgm:cxn modelId="{5A22335D-EF64-4E34-B835-F3941FF19F07}" type="presOf" srcId="{D08AC078-FC02-4B02-9FC2-C5957DEC5EAF}" destId="{9D0C6C3A-27C5-44E3-B90E-A4C96F3D628F}" srcOrd="0" destOrd="0" presId="urn:microsoft.com/office/officeart/2018/5/layout/IconCircleLabelList"/>
    <dgm:cxn modelId="{56A56975-7532-4E45-882C-91CDFAC07414}" srcId="{854877B1-B5F1-4093-BCBC-328248295E4F}" destId="{D9F1F452-F5FB-43B8-8122-BAF38B721CAA}" srcOrd="0" destOrd="0" parTransId="{1E8F42E1-255B-4E82-9477-82266436B2C8}" sibTransId="{A140573F-7016-4B14-80A2-3FF3DF18F923}"/>
    <dgm:cxn modelId="{2597B356-38D1-431A-9EA2-5F698467C8FC}" type="presOf" srcId="{7BDEB58F-07E1-4A3D-8522-F337488FE76B}" destId="{982DBEEC-A973-420A-A313-C2DD2528165C}" srcOrd="0" destOrd="0" presId="urn:microsoft.com/office/officeart/2018/5/layout/IconCircleLabelList"/>
    <dgm:cxn modelId="{7C6AE1BA-9D47-430A-B075-7AF4845628AD}" srcId="{854877B1-B5F1-4093-BCBC-328248295E4F}" destId="{D08AC078-FC02-4B02-9FC2-C5957DEC5EAF}" srcOrd="3" destOrd="0" parTransId="{23391CAE-E4DB-4DDF-8622-B7AD67D7B18E}" sibTransId="{5D88C46F-164E-4A98-B250-86CDBA8E9AB3}"/>
    <dgm:cxn modelId="{CF92D9CF-DA33-45EF-BE5F-90E9353476F2}" srcId="{854877B1-B5F1-4093-BCBC-328248295E4F}" destId="{7BDEB58F-07E1-4A3D-8522-F337488FE76B}" srcOrd="2" destOrd="0" parTransId="{CAB81633-90A2-4358-8525-2B5292134544}" sibTransId="{A101281C-B784-4E50-BA78-CD1261E95508}"/>
    <dgm:cxn modelId="{6B851AFC-1434-4776-995B-39CC115C3D00}" srcId="{854877B1-B5F1-4093-BCBC-328248295E4F}" destId="{5D18E87A-A8F8-4A2D-97A7-3F9C107DFF9D}" srcOrd="1" destOrd="0" parTransId="{4A73C0FE-4DF3-4204-B3D6-676EECEC6E15}" sibTransId="{4E1004AA-C9FC-4FD0-AEA7-EA1F47C96AA0}"/>
    <dgm:cxn modelId="{A3CE9464-36EA-4077-986C-8A46C65AE0E0}" type="presParOf" srcId="{7493600E-C4B1-4725-8646-786F005B08F2}" destId="{647468FD-08AF-4B20-903F-426954A114BE}" srcOrd="0" destOrd="0" presId="urn:microsoft.com/office/officeart/2018/5/layout/IconCircleLabelList"/>
    <dgm:cxn modelId="{B6A94E9C-294A-4D75-9B11-1177CA639579}" type="presParOf" srcId="{647468FD-08AF-4B20-903F-426954A114BE}" destId="{E102C6E4-DE1F-4C11-BF4B-98C63BC9204B}" srcOrd="0" destOrd="0" presId="urn:microsoft.com/office/officeart/2018/5/layout/IconCircleLabelList"/>
    <dgm:cxn modelId="{D01ED172-918A-4414-BA0A-FEA670097D44}" type="presParOf" srcId="{647468FD-08AF-4B20-903F-426954A114BE}" destId="{DE402EBB-7ACA-4135-B034-88E83AB489B0}" srcOrd="1" destOrd="0" presId="urn:microsoft.com/office/officeart/2018/5/layout/IconCircleLabelList"/>
    <dgm:cxn modelId="{AB431A64-3576-4E16-ABD8-6D03D06F2B0D}" type="presParOf" srcId="{647468FD-08AF-4B20-903F-426954A114BE}" destId="{3C8A8368-9825-4261-B64D-04F4DEF05884}" srcOrd="2" destOrd="0" presId="urn:microsoft.com/office/officeart/2018/5/layout/IconCircleLabelList"/>
    <dgm:cxn modelId="{7731C78C-785F-40B9-B7B8-3A54EF595249}" type="presParOf" srcId="{647468FD-08AF-4B20-903F-426954A114BE}" destId="{6FE502E6-D759-42F2-B5D1-B8FF4D768CAA}" srcOrd="3" destOrd="0" presId="urn:microsoft.com/office/officeart/2018/5/layout/IconCircleLabelList"/>
    <dgm:cxn modelId="{9571DA86-9A22-4913-A4F9-264B0A2840C2}" type="presParOf" srcId="{7493600E-C4B1-4725-8646-786F005B08F2}" destId="{94984616-BC8C-4101-8838-85869C1F9544}" srcOrd="1" destOrd="0" presId="urn:microsoft.com/office/officeart/2018/5/layout/IconCircleLabelList"/>
    <dgm:cxn modelId="{232346A2-EB8D-45D7-93C3-7BB32C7D9F6C}" type="presParOf" srcId="{7493600E-C4B1-4725-8646-786F005B08F2}" destId="{283591B0-49C5-4A61-9B55-4D7D0191C572}" srcOrd="2" destOrd="0" presId="urn:microsoft.com/office/officeart/2018/5/layout/IconCircleLabelList"/>
    <dgm:cxn modelId="{776F96C8-C0D4-4458-8C43-FA721F5DD2C7}" type="presParOf" srcId="{283591B0-49C5-4A61-9B55-4D7D0191C572}" destId="{79EDD496-CCBD-4780-8899-30D8FABD99A7}" srcOrd="0" destOrd="0" presId="urn:microsoft.com/office/officeart/2018/5/layout/IconCircleLabelList"/>
    <dgm:cxn modelId="{163BF0FD-C469-491B-BDAE-EE4BE24FA8A8}" type="presParOf" srcId="{283591B0-49C5-4A61-9B55-4D7D0191C572}" destId="{30434B4E-26BF-4A3D-921F-0A476E6788ED}" srcOrd="1" destOrd="0" presId="urn:microsoft.com/office/officeart/2018/5/layout/IconCircleLabelList"/>
    <dgm:cxn modelId="{97147D8B-FD83-455F-B06C-94E8F772BCA3}" type="presParOf" srcId="{283591B0-49C5-4A61-9B55-4D7D0191C572}" destId="{D64A72D8-2427-40B6-9F6B-A14FB8DE8DFD}" srcOrd="2" destOrd="0" presId="urn:microsoft.com/office/officeart/2018/5/layout/IconCircleLabelList"/>
    <dgm:cxn modelId="{917C8292-F0F5-418D-974F-E28F08517209}" type="presParOf" srcId="{283591B0-49C5-4A61-9B55-4D7D0191C572}" destId="{90CB644E-8A11-4AA1-857D-D1D36F4DA271}" srcOrd="3" destOrd="0" presId="urn:microsoft.com/office/officeart/2018/5/layout/IconCircleLabelList"/>
    <dgm:cxn modelId="{BA7A7C77-CC99-449D-9885-20CAE9DA8257}" type="presParOf" srcId="{7493600E-C4B1-4725-8646-786F005B08F2}" destId="{0E606D27-CF73-4EA6-BEC9-7D8C462541E5}" srcOrd="3" destOrd="0" presId="urn:microsoft.com/office/officeart/2018/5/layout/IconCircleLabelList"/>
    <dgm:cxn modelId="{ED81D10B-C8FF-4665-8C15-23B4D7C62F8F}" type="presParOf" srcId="{7493600E-C4B1-4725-8646-786F005B08F2}" destId="{061FF552-212B-41B9-9A63-010A4578DB47}" srcOrd="4" destOrd="0" presId="urn:microsoft.com/office/officeart/2018/5/layout/IconCircleLabelList"/>
    <dgm:cxn modelId="{4377E214-5EC5-4C14-92A1-26564400951D}" type="presParOf" srcId="{061FF552-212B-41B9-9A63-010A4578DB47}" destId="{AE1BFE1B-C87A-46F1-9163-6F816B4746AF}" srcOrd="0" destOrd="0" presId="urn:microsoft.com/office/officeart/2018/5/layout/IconCircleLabelList"/>
    <dgm:cxn modelId="{440D117D-70A8-4E87-8CDD-7EEBBF85F50E}" type="presParOf" srcId="{061FF552-212B-41B9-9A63-010A4578DB47}" destId="{028EE07C-E8D1-4145-B21C-FECDD72CAED7}" srcOrd="1" destOrd="0" presId="urn:microsoft.com/office/officeart/2018/5/layout/IconCircleLabelList"/>
    <dgm:cxn modelId="{9AC4A27B-E5C5-4987-B4A7-9603A73C763E}" type="presParOf" srcId="{061FF552-212B-41B9-9A63-010A4578DB47}" destId="{FA9AD49A-7471-4D9A-AF59-1C6E36E6C5A3}" srcOrd="2" destOrd="0" presId="urn:microsoft.com/office/officeart/2018/5/layout/IconCircleLabelList"/>
    <dgm:cxn modelId="{EFEAA193-DFF6-4288-BCD2-B7C75D1FEB14}" type="presParOf" srcId="{061FF552-212B-41B9-9A63-010A4578DB47}" destId="{982DBEEC-A973-420A-A313-C2DD2528165C}" srcOrd="3" destOrd="0" presId="urn:microsoft.com/office/officeart/2018/5/layout/IconCircleLabelList"/>
    <dgm:cxn modelId="{152A4E05-4EB1-49CC-8F44-EE23FC77C398}" type="presParOf" srcId="{7493600E-C4B1-4725-8646-786F005B08F2}" destId="{12A04530-9B0E-4081-8B29-66F21009D67A}" srcOrd="5" destOrd="0" presId="urn:microsoft.com/office/officeart/2018/5/layout/IconCircleLabelList"/>
    <dgm:cxn modelId="{1B2F01FE-F5BD-4FAD-8F99-8C49432EE507}" type="presParOf" srcId="{7493600E-C4B1-4725-8646-786F005B08F2}" destId="{B405604A-8640-4459-9733-B0FBB97FBFCB}" srcOrd="6" destOrd="0" presId="urn:microsoft.com/office/officeart/2018/5/layout/IconCircleLabelList"/>
    <dgm:cxn modelId="{892FCB5F-9E00-4547-A7D9-1752A6D03095}" type="presParOf" srcId="{B405604A-8640-4459-9733-B0FBB97FBFCB}" destId="{F8468493-D0DF-417F-AF8B-96802B8F2F90}" srcOrd="0" destOrd="0" presId="urn:microsoft.com/office/officeart/2018/5/layout/IconCircleLabelList"/>
    <dgm:cxn modelId="{F282A4F1-4800-45BE-B1A1-A8761D7BBE9B}" type="presParOf" srcId="{B405604A-8640-4459-9733-B0FBB97FBFCB}" destId="{0255E3F4-DA2D-49BF-87D0-5510A8A3337A}" srcOrd="1" destOrd="0" presId="urn:microsoft.com/office/officeart/2018/5/layout/IconCircleLabelList"/>
    <dgm:cxn modelId="{9D6675B5-D007-4D86-8F5E-AA485A4675C9}" type="presParOf" srcId="{B405604A-8640-4459-9733-B0FBB97FBFCB}" destId="{D3A30DE2-4581-4FEA-9F71-10B95EBA62EC}" srcOrd="2" destOrd="0" presId="urn:microsoft.com/office/officeart/2018/5/layout/IconCircleLabelList"/>
    <dgm:cxn modelId="{6A5D9237-6581-4515-A8AA-12BE139A6AE0}" type="presParOf" srcId="{B405604A-8640-4459-9733-B0FBB97FBFCB}" destId="{9D0C6C3A-27C5-44E3-B90E-A4C96F3D628F}"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82F655-7F60-4784-918F-A4C369672E9C}">
      <dsp:nvSpPr>
        <dsp:cNvPr id="0" name=""/>
        <dsp:cNvSpPr/>
      </dsp:nvSpPr>
      <dsp:spPr>
        <a:xfrm>
          <a:off x="145153" y="800136"/>
          <a:ext cx="1005669" cy="100566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766DD2-9DD2-4191-BC50-4204EB5013C0}">
      <dsp:nvSpPr>
        <dsp:cNvPr id="0" name=""/>
        <dsp:cNvSpPr/>
      </dsp:nvSpPr>
      <dsp:spPr>
        <a:xfrm>
          <a:off x="356344" y="1011326"/>
          <a:ext cx="583288" cy="58328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86E10C0-774B-43DA-A191-D5ABDD32783B}">
      <dsp:nvSpPr>
        <dsp:cNvPr id="0" name=""/>
        <dsp:cNvSpPr/>
      </dsp:nvSpPr>
      <dsp:spPr>
        <a:xfrm>
          <a:off x="1366323" y="800136"/>
          <a:ext cx="2370505" cy="100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90000"/>
            </a:lnSpc>
            <a:spcBef>
              <a:spcPct val="0"/>
            </a:spcBef>
            <a:spcAft>
              <a:spcPct val="35000"/>
            </a:spcAft>
            <a:buNone/>
          </a:pPr>
          <a:r>
            <a:rPr lang="en-US" sz="1500" b="1" kern="1200"/>
            <a:t>Goal: Understand support performance across BE, CH, IE, NL and identify improvement levers.</a:t>
          </a:r>
          <a:endParaRPr lang="en-US" sz="1500" kern="1200"/>
        </a:p>
      </dsp:txBody>
      <dsp:txXfrm>
        <a:off x="1366323" y="800136"/>
        <a:ext cx="2370505" cy="1005669"/>
      </dsp:txXfrm>
    </dsp:sp>
    <dsp:sp modelId="{0D3B8D62-0E79-4025-B451-62D2D54D3566}">
      <dsp:nvSpPr>
        <dsp:cNvPr id="0" name=""/>
        <dsp:cNvSpPr/>
      </dsp:nvSpPr>
      <dsp:spPr>
        <a:xfrm>
          <a:off x="4149871" y="800136"/>
          <a:ext cx="1005669" cy="100566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6A7EDD-9526-4953-A572-0A4D1CB436DE}">
      <dsp:nvSpPr>
        <dsp:cNvPr id="0" name=""/>
        <dsp:cNvSpPr/>
      </dsp:nvSpPr>
      <dsp:spPr>
        <a:xfrm>
          <a:off x="4361061" y="1011326"/>
          <a:ext cx="583288" cy="58328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68F6ABA-F565-49FD-825E-15B7003D78BE}">
      <dsp:nvSpPr>
        <dsp:cNvPr id="0" name=""/>
        <dsp:cNvSpPr/>
      </dsp:nvSpPr>
      <dsp:spPr>
        <a:xfrm>
          <a:off x="5371040" y="800136"/>
          <a:ext cx="2370505" cy="100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90000"/>
            </a:lnSpc>
            <a:spcBef>
              <a:spcPct val="0"/>
            </a:spcBef>
            <a:spcAft>
              <a:spcPct val="35000"/>
            </a:spcAft>
            <a:buNone/>
          </a:pPr>
          <a:r>
            <a:rPr lang="en-US" sz="1500" kern="1200"/>
            <a:t>Data: ~430k interactions (1 row = 1 merchant → support interaction) across 2024 sample used as 2022 proxy.</a:t>
          </a:r>
        </a:p>
      </dsp:txBody>
      <dsp:txXfrm>
        <a:off x="5371040" y="800136"/>
        <a:ext cx="2370505" cy="1005669"/>
      </dsp:txXfrm>
    </dsp:sp>
    <dsp:sp modelId="{9324C623-F08D-4F3C-85BB-F3FF08EA8414}">
      <dsp:nvSpPr>
        <dsp:cNvPr id="0" name=""/>
        <dsp:cNvSpPr/>
      </dsp:nvSpPr>
      <dsp:spPr>
        <a:xfrm>
          <a:off x="145153" y="2545532"/>
          <a:ext cx="1005669" cy="100566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14B43F-CF3C-4543-889B-B5F11AAE5C78}">
      <dsp:nvSpPr>
        <dsp:cNvPr id="0" name=""/>
        <dsp:cNvSpPr/>
      </dsp:nvSpPr>
      <dsp:spPr>
        <a:xfrm>
          <a:off x="356344" y="2756723"/>
          <a:ext cx="583288" cy="58328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6BE9E08-839D-425D-AE4E-064A7325B899}">
      <dsp:nvSpPr>
        <dsp:cNvPr id="0" name=""/>
        <dsp:cNvSpPr/>
      </dsp:nvSpPr>
      <dsp:spPr>
        <a:xfrm>
          <a:off x="1366323" y="2545532"/>
          <a:ext cx="2370505" cy="100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90000"/>
            </a:lnSpc>
            <a:spcBef>
              <a:spcPct val="0"/>
            </a:spcBef>
            <a:spcAft>
              <a:spcPct val="35000"/>
            </a:spcAft>
            <a:buNone/>
          </a:pPr>
          <a:r>
            <a:rPr lang="en-US" sz="1500" kern="1200"/>
            <a:t>Key fields: merchant, product (classification), channel, agent company, dates, handling &amp; response times.</a:t>
          </a:r>
        </a:p>
      </dsp:txBody>
      <dsp:txXfrm>
        <a:off x="1366323" y="2545532"/>
        <a:ext cx="2370505" cy="1005669"/>
      </dsp:txXfrm>
    </dsp:sp>
    <dsp:sp modelId="{875F6074-99BD-4678-B1AF-C44305886D8C}">
      <dsp:nvSpPr>
        <dsp:cNvPr id="0" name=""/>
        <dsp:cNvSpPr/>
      </dsp:nvSpPr>
      <dsp:spPr>
        <a:xfrm>
          <a:off x="4149871" y="2545532"/>
          <a:ext cx="1005669" cy="1005669"/>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B610DC-9CFD-48D7-84F7-97775CE590F6}">
      <dsp:nvSpPr>
        <dsp:cNvPr id="0" name=""/>
        <dsp:cNvSpPr/>
      </dsp:nvSpPr>
      <dsp:spPr>
        <a:xfrm>
          <a:off x="4361061" y="2756723"/>
          <a:ext cx="583288" cy="58328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EEDCECC-FE82-4B10-A23F-99A84B48FF56}">
      <dsp:nvSpPr>
        <dsp:cNvPr id="0" name=""/>
        <dsp:cNvSpPr/>
      </dsp:nvSpPr>
      <dsp:spPr>
        <a:xfrm>
          <a:off x="5371040" y="2545532"/>
          <a:ext cx="2370505" cy="10056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66750">
            <a:lnSpc>
              <a:spcPct val="90000"/>
            </a:lnSpc>
            <a:spcBef>
              <a:spcPct val="0"/>
            </a:spcBef>
            <a:spcAft>
              <a:spcPct val="35000"/>
            </a:spcAft>
            <a:buNone/>
          </a:pPr>
          <a:r>
            <a:rPr lang="en-US" sz="1500" kern="1200" dirty="0"/>
            <a:t>Focus metrics: recontacts on the same product and channel costs.</a:t>
          </a:r>
        </a:p>
      </dsp:txBody>
      <dsp:txXfrm>
        <a:off x="5371040" y="2545532"/>
        <a:ext cx="2370505" cy="10056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02C6E4-DE1F-4C11-BF4B-98C63BC9204B}">
      <dsp:nvSpPr>
        <dsp:cNvPr id="0" name=""/>
        <dsp:cNvSpPr/>
      </dsp:nvSpPr>
      <dsp:spPr>
        <a:xfrm>
          <a:off x="341781" y="1033089"/>
          <a:ext cx="1062615" cy="106261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402EBB-7ACA-4135-B034-88E83AB489B0}">
      <dsp:nvSpPr>
        <dsp:cNvPr id="0" name=""/>
        <dsp:cNvSpPr/>
      </dsp:nvSpPr>
      <dsp:spPr>
        <a:xfrm>
          <a:off x="568240" y="1259548"/>
          <a:ext cx="609697" cy="60969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FE502E6-D759-42F2-B5D1-B8FF4D768CAA}">
      <dsp:nvSpPr>
        <dsp:cNvPr id="0" name=""/>
        <dsp:cNvSpPr/>
      </dsp:nvSpPr>
      <dsp:spPr>
        <a:xfrm>
          <a:off x="2092" y="2426683"/>
          <a:ext cx="1741992" cy="8927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1" kern="1200"/>
            <a:t>Assumption: Monthly Support budget = €0.5M; main cost driver is agent handling time.</a:t>
          </a:r>
          <a:endParaRPr lang="en-US" sz="1100" kern="1200"/>
        </a:p>
      </dsp:txBody>
      <dsp:txXfrm>
        <a:off x="2092" y="2426683"/>
        <a:ext cx="1741992" cy="892770"/>
      </dsp:txXfrm>
    </dsp:sp>
    <dsp:sp modelId="{79EDD496-CCBD-4780-8899-30D8FABD99A7}">
      <dsp:nvSpPr>
        <dsp:cNvPr id="0" name=""/>
        <dsp:cNvSpPr/>
      </dsp:nvSpPr>
      <dsp:spPr>
        <a:xfrm>
          <a:off x="2388621" y="1033089"/>
          <a:ext cx="1062615" cy="106261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434B4E-26BF-4A3D-921F-0A476E6788ED}">
      <dsp:nvSpPr>
        <dsp:cNvPr id="0" name=""/>
        <dsp:cNvSpPr/>
      </dsp:nvSpPr>
      <dsp:spPr>
        <a:xfrm>
          <a:off x="2615080" y="1259548"/>
          <a:ext cx="609697" cy="60969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0CB644E-8A11-4AA1-857D-D1D36F4DA271}">
      <dsp:nvSpPr>
        <dsp:cNvPr id="0" name=""/>
        <dsp:cNvSpPr/>
      </dsp:nvSpPr>
      <dsp:spPr>
        <a:xfrm>
          <a:off x="2048933" y="2426683"/>
          <a:ext cx="1741992" cy="8927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Per channel, sum INTERACTION_HANDLING_TIME and convert to hours.</a:t>
          </a:r>
        </a:p>
      </dsp:txBody>
      <dsp:txXfrm>
        <a:off x="2048933" y="2426683"/>
        <a:ext cx="1741992" cy="892770"/>
      </dsp:txXfrm>
    </dsp:sp>
    <dsp:sp modelId="{AE1BFE1B-C87A-46F1-9163-6F816B4746AF}">
      <dsp:nvSpPr>
        <dsp:cNvPr id="0" name=""/>
        <dsp:cNvSpPr/>
      </dsp:nvSpPr>
      <dsp:spPr>
        <a:xfrm>
          <a:off x="4435462" y="1033089"/>
          <a:ext cx="1062615" cy="106261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28EE07C-E8D1-4145-B21C-FECDD72CAED7}">
      <dsp:nvSpPr>
        <dsp:cNvPr id="0" name=""/>
        <dsp:cNvSpPr/>
      </dsp:nvSpPr>
      <dsp:spPr>
        <a:xfrm>
          <a:off x="4661921" y="1259548"/>
          <a:ext cx="609697" cy="60969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82DBEEC-A973-420A-A313-C2DD2528165C}">
      <dsp:nvSpPr>
        <dsp:cNvPr id="0" name=""/>
        <dsp:cNvSpPr/>
      </dsp:nvSpPr>
      <dsp:spPr>
        <a:xfrm>
          <a:off x="4095774" y="2426683"/>
          <a:ext cx="1741992" cy="8927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Adjust for concurrency: calls &amp; email at 1×, chat at 1/3× (3 chats in parallel).</a:t>
          </a:r>
        </a:p>
      </dsp:txBody>
      <dsp:txXfrm>
        <a:off x="4095774" y="2426683"/>
        <a:ext cx="1741992" cy="892770"/>
      </dsp:txXfrm>
    </dsp:sp>
    <dsp:sp modelId="{F8468493-D0DF-417F-AF8B-96802B8F2F90}">
      <dsp:nvSpPr>
        <dsp:cNvPr id="0" name=""/>
        <dsp:cNvSpPr/>
      </dsp:nvSpPr>
      <dsp:spPr>
        <a:xfrm>
          <a:off x="6482303" y="1033089"/>
          <a:ext cx="1062615" cy="106261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255E3F4-DA2D-49BF-87D0-5510A8A3337A}">
      <dsp:nvSpPr>
        <dsp:cNvPr id="0" name=""/>
        <dsp:cNvSpPr/>
      </dsp:nvSpPr>
      <dsp:spPr>
        <a:xfrm>
          <a:off x="6708762" y="1259548"/>
          <a:ext cx="609697" cy="60969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D0C6C3A-27C5-44E3-B90E-A4C96F3D628F}">
      <dsp:nvSpPr>
        <dsp:cNvPr id="0" name=""/>
        <dsp:cNvSpPr/>
      </dsp:nvSpPr>
      <dsp:spPr>
        <a:xfrm>
          <a:off x="6142615" y="2426683"/>
          <a:ext cx="1741992" cy="8927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Allocate the €0.5M budget proportional to effective agent hours, then compute cost per interaction (and per resolved interaction).</a:t>
          </a:r>
        </a:p>
      </dsp:txBody>
      <dsp:txXfrm>
        <a:off x="6142615" y="2426683"/>
        <a:ext cx="1741992" cy="892770"/>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28650" y="451381"/>
            <a:ext cx="7884414" cy="4066540"/>
          </a:xfrm>
        </p:spPr>
        <p:txBody>
          <a:bodyPr anchor="b">
            <a:normAutofit/>
          </a:bodyPr>
          <a:lstStyle/>
          <a:p>
            <a:pPr algn="l"/>
            <a:r>
              <a:rPr lang="en-US" sz="5700" b="1" dirty="0">
                <a:latin typeface="Calibri"/>
              </a:rPr>
              <a:t>Operations Analytics Lead – Case Study</a:t>
            </a:r>
            <a:br>
              <a:rPr lang="en-US" sz="5700" b="1" dirty="0">
                <a:latin typeface="Calibri"/>
              </a:rPr>
            </a:br>
            <a:r>
              <a:rPr lang="en-US" sz="1800" b="1" dirty="0">
                <a:latin typeface="Calibri"/>
              </a:rPr>
              <a:t>Dec’25</a:t>
            </a:r>
            <a:br>
              <a:rPr lang="en-US" sz="1800" b="1" dirty="0">
                <a:latin typeface="Calibri"/>
              </a:rPr>
            </a:br>
            <a:r>
              <a:rPr lang="en-US" sz="1800" b="1" dirty="0">
                <a:latin typeface="Calibri"/>
              </a:rPr>
              <a:t>Presenter: Abeer Khan</a:t>
            </a:r>
            <a:endParaRPr lang="en-US" sz="5700" b="1" dirty="0">
              <a:latin typeface="Calibri"/>
            </a:endParaRPr>
          </a:p>
        </p:txBody>
      </p:sp>
      <p:sp>
        <p:nvSpPr>
          <p:cNvPr id="3" name="Subtitle 2"/>
          <p:cNvSpPr>
            <a:spLocks noGrp="1"/>
          </p:cNvSpPr>
          <p:nvPr>
            <p:ph type="subTitle" idx="1"/>
          </p:nvPr>
        </p:nvSpPr>
        <p:spPr>
          <a:xfrm>
            <a:off x="628649" y="4983276"/>
            <a:ext cx="7884414" cy="1126680"/>
          </a:xfrm>
        </p:spPr>
        <p:txBody>
          <a:bodyPr>
            <a:normAutofit/>
          </a:bodyPr>
          <a:lstStyle/>
          <a:p>
            <a:pPr algn="l"/>
            <a:r>
              <a:rPr lang="en-US" b="0">
                <a:latin typeface="Calibri"/>
              </a:rPr>
              <a:t>Merchant Support Performance – 4 Countries, 3 Channels, 3 Agent Companies</a:t>
            </a:r>
          </a:p>
        </p:txBody>
      </p:sp>
      <p:sp>
        <p:nvSpPr>
          <p:cNvPr id="30"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4718595"/>
            <a:ext cx="4057650" cy="18288"/>
          </a:xfrm>
          <a:custGeom>
            <a:avLst/>
            <a:gdLst>
              <a:gd name="csX0" fmla="*/ 0 w 4057650"/>
              <a:gd name="csY0" fmla="*/ 0 h 18288"/>
              <a:gd name="csX1" fmla="*/ 757428 w 4057650"/>
              <a:gd name="csY1" fmla="*/ 0 h 18288"/>
              <a:gd name="csX2" fmla="*/ 1474279 w 4057650"/>
              <a:gd name="csY2" fmla="*/ 0 h 18288"/>
              <a:gd name="csX3" fmla="*/ 2191131 w 4057650"/>
              <a:gd name="csY3" fmla="*/ 0 h 18288"/>
              <a:gd name="csX4" fmla="*/ 2745676 w 4057650"/>
              <a:gd name="csY4" fmla="*/ 0 h 18288"/>
              <a:gd name="csX5" fmla="*/ 3340798 w 4057650"/>
              <a:gd name="csY5" fmla="*/ 0 h 18288"/>
              <a:gd name="csX6" fmla="*/ 4057650 w 4057650"/>
              <a:gd name="csY6" fmla="*/ 0 h 18288"/>
              <a:gd name="csX7" fmla="*/ 4057650 w 4057650"/>
              <a:gd name="csY7" fmla="*/ 18288 h 18288"/>
              <a:gd name="csX8" fmla="*/ 3381375 w 4057650"/>
              <a:gd name="csY8" fmla="*/ 18288 h 18288"/>
              <a:gd name="csX9" fmla="*/ 2826830 w 4057650"/>
              <a:gd name="csY9" fmla="*/ 18288 h 18288"/>
              <a:gd name="csX10" fmla="*/ 2272284 w 4057650"/>
              <a:gd name="csY10" fmla="*/ 18288 h 18288"/>
              <a:gd name="csX11" fmla="*/ 1555432 w 4057650"/>
              <a:gd name="csY11" fmla="*/ 18288 h 18288"/>
              <a:gd name="csX12" fmla="*/ 960310 w 4057650"/>
              <a:gd name="csY12" fmla="*/ 18288 h 18288"/>
              <a:gd name="csX13" fmla="*/ 0 w 4057650"/>
              <a:gd name="csY13" fmla="*/ 18288 h 18288"/>
              <a:gd name="csX14" fmla="*/ 0 w 4057650"/>
              <a:gd name="csY1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8288"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150" y="8855"/>
                  <a:pt x="4057759" y="14521"/>
                  <a:pt x="4057650" y="18288"/>
                </a:cubicBezTo>
                <a:cubicBezTo>
                  <a:pt x="3743404" y="40125"/>
                  <a:pt x="3625516" y="-14923"/>
                  <a:pt x="3381375" y="18288"/>
                </a:cubicBezTo>
                <a:cubicBezTo>
                  <a:pt x="3137235" y="51499"/>
                  <a:pt x="2946571" y="1"/>
                  <a:pt x="2826830" y="18288"/>
                </a:cubicBezTo>
                <a:cubicBezTo>
                  <a:pt x="2707090" y="36575"/>
                  <a:pt x="2402756" y="1432"/>
                  <a:pt x="2272284" y="18288"/>
                </a:cubicBezTo>
                <a:cubicBezTo>
                  <a:pt x="2141812" y="35144"/>
                  <a:pt x="1895935" y="18199"/>
                  <a:pt x="1555432" y="18288"/>
                </a:cubicBezTo>
                <a:cubicBezTo>
                  <a:pt x="1214929" y="18377"/>
                  <a:pt x="1103072" y="14503"/>
                  <a:pt x="960310" y="18288"/>
                </a:cubicBezTo>
                <a:cubicBezTo>
                  <a:pt x="817548" y="22073"/>
                  <a:pt x="402272" y="-29359"/>
                  <a:pt x="0" y="18288"/>
                </a:cubicBezTo>
                <a:cubicBezTo>
                  <a:pt x="683" y="12014"/>
                  <a:pt x="724" y="5908"/>
                  <a:pt x="0" y="0"/>
                </a:cubicBezTo>
                <a:close/>
              </a:path>
              <a:path w="4057650" h="18288"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752" y="7180"/>
                  <a:pt x="4057819" y="13790"/>
                  <a:pt x="4057650" y="18288"/>
                </a:cubicBezTo>
                <a:cubicBezTo>
                  <a:pt x="3865148" y="-3313"/>
                  <a:pt x="3702543" y="49468"/>
                  <a:pt x="3381375" y="18288"/>
                </a:cubicBezTo>
                <a:cubicBezTo>
                  <a:pt x="3060208" y="-12892"/>
                  <a:pt x="2956571" y="-8678"/>
                  <a:pt x="2826830" y="18288"/>
                </a:cubicBezTo>
                <a:cubicBezTo>
                  <a:pt x="2697089" y="45254"/>
                  <a:pt x="2411031" y="43154"/>
                  <a:pt x="2150555" y="18288"/>
                </a:cubicBezTo>
                <a:cubicBezTo>
                  <a:pt x="1890080" y="-6578"/>
                  <a:pt x="1741827" y="-615"/>
                  <a:pt x="1474280" y="18288"/>
                </a:cubicBezTo>
                <a:cubicBezTo>
                  <a:pt x="1206734" y="37191"/>
                  <a:pt x="998203" y="33335"/>
                  <a:pt x="838581" y="18288"/>
                </a:cubicBezTo>
                <a:cubicBezTo>
                  <a:pt x="678959" y="3241"/>
                  <a:pt x="187101" y="-13212"/>
                  <a:pt x="0" y="18288"/>
                </a:cubicBezTo>
                <a:cubicBezTo>
                  <a:pt x="571" y="10093"/>
                  <a:pt x="-125" y="840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9144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52777" y="548640"/>
            <a:ext cx="7157553" cy="1188720"/>
          </a:xfrm>
        </p:spPr>
        <p:txBody>
          <a:bodyPr>
            <a:normAutofit/>
          </a:bodyPr>
          <a:lstStyle/>
          <a:p>
            <a:r>
              <a:rPr lang="en-US" b="1" dirty="0">
                <a:solidFill>
                  <a:schemeClr val="tx1">
                    <a:lumMod val="85000"/>
                    <a:lumOff val="15000"/>
                  </a:schemeClr>
                </a:solidFill>
              </a:rPr>
              <a:t>Agenda</a:t>
            </a:r>
          </a:p>
        </p:txBody>
      </p:sp>
      <p:sp>
        <p:nvSpPr>
          <p:cNvPr id="3" name="Content Placeholder 2"/>
          <p:cNvSpPr>
            <a:spLocks noGrp="1"/>
          </p:cNvSpPr>
          <p:nvPr>
            <p:ph idx="1"/>
          </p:nvPr>
        </p:nvSpPr>
        <p:spPr>
          <a:xfrm>
            <a:off x="1468490" y="2431765"/>
            <a:ext cx="6207019" cy="3320031"/>
          </a:xfrm>
        </p:spPr>
        <p:txBody>
          <a:bodyPr anchor="ctr">
            <a:normAutofit/>
          </a:bodyPr>
          <a:lstStyle/>
          <a:p>
            <a:pPr>
              <a:defRPr sz="2000"/>
            </a:pPr>
            <a:r>
              <a:rPr lang="en-US" sz="1700" dirty="0">
                <a:solidFill>
                  <a:schemeClr val="tx1">
                    <a:lumMod val="85000"/>
                    <a:lumOff val="15000"/>
                  </a:schemeClr>
                </a:solidFill>
              </a:rPr>
              <a:t>Context &amp; Dataset</a:t>
            </a:r>
          </a:p>
          <a:p>
            <a:pPr>
              <a:defRPr sz="2000"/>
            </a:pPr>
            <a:r>
              <a:rPr lang="en-US" sz="1700" dirty="0">
                <a:solidFill>
                  <a:schemeClr val="tx1">
                    <a:lumMod val="85000"/>
                    <a:lumOff val="15000"/>
                  </a:schemeClr>
                </a:solidFill>
              </a:rPr>
              <a:t>Key Concepts &amp; Definitions</a:t>
            </a:r>
          </a:p>
          <a:p>
            <a:pPr>
              <a:defRPr sz="2000"/>
            </a:pPr>
            <a:r>
              <a:rPr lang="en-US" sz="1700" dirty="0">
                <a:solidFill>
                  <a:schemeClr val="tx1">
                    <a:lumMod val="85000"/>
                    <a:lumOff val="15000"/>
                  </a:schemeClr>
                </a:solidFill>
              </a:rPr>
              <a:t>Executive Summary</a:t>
            </a:r>
          </a:p>
          <a:p>
            <a:pPr>
              <a:defRPr sz="2000"/>
            </a:pPr>
            <a:r>
              <a:rPr lang="en-US" sz="1700" dirty="0">
                <a:solidFill>
                  <a:schemeClr val="tx1">
                    <a:lumMod val="85000"/>
                    <a:lumOff val="15000"/>
                  </a:schemeClr>
                </a:solidFill>
              </a:rPr>
              <a:t>Q1 – Resolution Window</a:t>
            </a:r>
          </a:p>
          <a:p>
            <a:pPr>
              <a:defRPr sz="2000"/>
            </a:pPr>
            <a:r>
              <a:rPr lang="en-US" sz="1700" dirty="0">
                <a:solidFill>
                  <a:schemeClr val="tx1">
                    <a:lumMod val="85000"/>
                    <a:lumOff val="15000"/>
                  </a:schemeClr>
                </a:solidFill>
              </a:rPr>
              <a:t>Q2 – Channel Performance by Country</a:t>
            </a:r>
          </a:p>
          <a:p>
            <a:pPr>
              <a:defRPr sz="2000"/>
            </a:pPr>
            <a:r>
              <a:rPr lang="en-US" sz="1700" dirty="0">
                <a:solidFill>
                  <a:schemeClr val="tx1">
                    <a:lumMod val="85000"/>
                    <a:lumOff val="15000"/>
                  </a:schemeClr>
                </a:solidFill>
              </a:rPr>
              <a:t>Q3 – Agent Company Performance</a:t>
            </a:r>
          </a:p>
          <a:p>
            <a:pPr>
              <a:defRPr sz="2000"/>
            </a:pPr>
            <a:r>
              <a:rPr lang="en-US" sz="1700" dirty="0">
                <a:solidFill>
                  <a:schemeClr val="tx1">
                    <a:lumMod val="85000"/>
                    <a:lumOff val="15000"/>
                  </a:schemeClr>
                </a:solidFill>
              </a:rPr>
              <a:t>Q4 – Merchant Repeat Contacts &amp; Products</a:t>
            </a:r>
          </a:p>
          <a:p>
            <a:pPr>
              <a:defRPr sz="2000"/>
            </a:pPr>
            <a:r>
              <a:rPr lang="en-US" sz="1700" dirty="0">
                <a:solidFill>
                  <a:schemeClr val="tx1">
                    <a:lumMod val="85000"/>
                    <a:lumOff val="15000"/>
                  </a:schemeClr>
                </a:solidFill>
              </a:rPr>
              <a:t>Q5 – Cost per Channel (Methodology &amp; Insights)</a:t>
            </a:r>
          </a:p>
        </p:txBody>
      </p:sp>
      <p:sp>
        <p:nvSpPr>
          <p:cNvPr id="21" name="Freeform: Shape 20">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8439" y="5970896"/>
            <a:ext cx="7475562"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556995"/>
            <a:ext cx="7886700" cy="1133693"/>
          </a:xfrm>
        </p:spPr>
        <p:txBody>
          <a:bodyPr>
            <a:normAutofit/>
          </a:bodyPr>
          <a:lstStyle/>
          <a:p>
            <a:r>
              <a:rPr lang="en-US" b="1" dirty="0"/>
              <a:t>Context &amp; Dataset</a:t>
            </a:r>
          </a:p>
        </p:txBody>
      </p:sp>
      <p:graphicFrame>
        <p:nvGraphicFramePr>
          <p:cNvPr id="5" name="Content Placeholder 2">
            <a:extLst>
              <a:ext uri="{FF2B5EF4-FFF2-40B4-BE49-F238E27FC236}">
                <a16:creationId xmlns:a16="http://schemas.microsoft.com/office/drawing/2014/main" id="{DEB7EB00-85AA-01BD-A0E6-6B177CFC05D2}"/>
              </a:ext>
            </a:extLst>
          </p:cNvPr>
          <p:cNvGraphicFramePr>
            <a:graphicFrameLocks noGrp="1"/>
          </p:cNvGraphicFramePr>
          <p:nvPr>
            <p:ph idx="1"/>
            <p:extLst>
              <p:ext uri="{D42A27DB-BD31-4B8C-83A1-F6EECF244321}">
                <p14:modId xmlns:p14="http://schemas.microsoft.com/office/powerpoint/2010/main" val="2667559060"/>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9144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52777" y="548640"/>
            <a:ext cx="7157553" cy="1188720"/>
          </a:xfrm>
        </p:spPr>
        <p:txBody>
          <a:bodyPr>
            <a:normAutofit/>
          </a:bodyPr>
          <a:lstStyle/>
          <a:p>
            <a:r>
              <a:rPr lang="en-US" b="1" dirty="0">
                <a:solidFill>
                  <a:schemeClr val="tx1">
                    <a:lumMod val="85000"/>
                    <a:lumOff val="15000"/>
                  </a:schemeClr>
                </a:solidFill>
              </a:rPr>
              <a:t>Key Concepts &amp; Definitions</a:t>
            </a:r>
          </a:p>
        </p:txBody>
      </p:sp>
      <p:sp>
        <p:nvSpPr>
          <p:cNvPr id="3" name="Content Placeholder 2"/>
          <p:cNvSpPr>
            <a:spLocks noGrp="1"/>
          </p:cNvSpPr>
          <p:nvPr>
            <p:ph idx="1"/>
          </p:nvPr>
        </p:nvSpPr>
        <p:spPr>
          <a:xfrm>
            <a:off x="1468490" y="2431765"/>
            <a:ext cx="6207019" cy="3320031"/>
          </a:xfrm>
        </p:spPr>
        <p:txBody>
          <a:bodyPr anchor="ctr">
            <a:normAutofit/>
          </a:bodyPr>
          <a:lstStyle/>
          <a:p>
            <a:pPr>
              <a:defRPr sz="1800"/>
            </a:pPr>
            <a:r>
              <a:rPr lang="en-US" sz="1700" b="1" dirty="0">
                <a:solidFill>
                  <a:schemeClr val="tx1">
                    <a:lumMod val="85000"/>
                    <a:lumOff val="15000"/>
                  </a:schemeClr>
                </a:solidFill>
                <a:latin typeface="Calibri"/>
              </a:rPr>
              <a:t>Interaction: One contact from a merchant to Support (via email, call, or chat).</a:t>
            </a:r>
          </a:p>
          <a:p>
            <a:pPr>
              <a:defRPr sz="1800"/>
            </a:pPr>
            <a:r>
              <a:rPr lang="en-US" sz="1700" dirty="0">
                <a:solidFill>
                  <a:schemeClr val="tx1">
                    <a:lumMod val="85000"/>
                    <a:lumOff val="15000"/>
                  </a:schemeClr>
                </a:solidFill>
                <a:latin typeface="Calibri"/>
              </a:rPr>
              <a:t>Recontact: Same merchant, same product (classification), later interaction within X days.</a:t>
            </a:r>
          </a:p>
          <a:p>
            <a:pPr>
              <a:defRPr sz="1800"/>
            </a:pPr>
            <a:r>
              <a:rPr lang="en-US" sz="1700" dirty="0">
                <a:solidFill>
                  <a:schemeClr val="tx1">
                    <a:lumMod val="85000"/>
                    <a:lumOff val="15000"/>
                  </a:schemeClr>
                </a:solidFill>
                <a:latin typeface="Calibri"/>
              </a:rPr>
              <a:t>Agent-resolved interaction: IS_RESOLVING_INTERACTION = TRUE.</a:t>
            </a:r>
          </a:p>
          <a:p>
            <a:pPr>
              <a:defRPr sz="1800"/>
            </a:pPr>
            <a:r>
              <a:rPr lang="en-US" sz="1700" dirty="0">
                <a:solidFill>
                  <a:schemeClr val="tx1">
                    <a:lumMod val="85000"/>
                    <a:lumOff val="15000"/>
                  </a:schemeClr>
                </a:solidFill>
                <a:latin typeface="Calibri"/>
              </a:rPr>
              <a:t>Analytical definition of 'resolved': agent-resolved AND no same-product recontact within chosen window.</a:t>
            </a:r>
          </a:p>
          <a:p>
            <a:pPr>
              <a:defRPr sz="1800"/>
            </a:pPr>
            <a:r>
              <a:rPr lang="en-US" sz="1700" dirty="0">
                <a:solidFill>
                  <a:schemeClr val="tx1">
                    <a:lumMod val="85000"/>
                    <a:lumOff val="15000"/>
                  </a:schemeClr>
                </a:solidFill>
                <a:latin typeface="Calibri"/>
              </a:rPr>
              <a:t>Data checks reveal incomplete/unreliable data from Jan-Nov’24, hence we take Dec’24 as the base month for ALL our analyses(more details in Readme file)</a:t>
            </a:r>
          </a:p>
        </p:txBody>
      </p:sp>
      <p:sp>
        <p:nvSpPr>
          <p:cNvPr id="40" name="Freeform: Shape 39">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8439" y="5970896"/>
            <a:ext cx="7475562"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2A9AB6-F309-6ED5-6985-04F62DFF5B5A}"/>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8194F602-7884-B4A5-8D37-84BC2EDA36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3" name="Freeform: Shape 22">
            <a:extLst>
              <a:ext uri="{FF2B5EF4-FFF2-40B4-BE49-F238E27FC236}">
                <a16:creationId xmlns:a16="http://schemas.microsoft.com/office/drawing/2014/main" id="{38FBA938-C593-6604-AF1B-8DAE746A2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9144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Title 1">
            <a:extLst>
              <a:ext uri="{FF2B5EF4-FFF2-40B4-BE49-F238E27FC236}">
                <a16:creationId xmlns:a16="http://schemas.microsoft.com/office/drawing/2014/main" id="{917CCB10-4EA6-1D8D-E183-7878715EF288}"/>
              </a:ext>
            </a:extLst>
          </p:cNvPr>
          <p:cNvSpPr>
            <a:spLocks noGrp="1"/>
          </p:cNvSpPr>
          <p:nvPr>
            <p:ph type="title"/>
          </p:nvPr>
        </p:nvSpPr>
        <p:spPr>
          <a:xfrm>
            <a:off x="852777" y="548640"/>
            <a:ext cx="7157553" cy="1188720"/>
          </a:xfrm>
        </p:spPr>
        <p:txBody>
          <a:bodyPr>
            <a:normAutofit/>
          </a:bodyPr>
          <a:lstStyle/>
          <a:p>
            <a:r>
              <a:rPr lang="en-US" b="1" dirty="0">
                <a:solidFill>
                  <a:schemeClr val="tx1">
                    <a:lumMod val="85000"/>
                    <a:lumOff val="15000"/>
                  </a:schemeClr>
                </a:solidFill>
              </a:rPr>
              <a:t>Executive Summary</a:t>
            </a:r>
          </a:p>
        </p:txBody>
      </p:sp>
      <p:sp>
        <p:nvSpPr>
          <p:cNvPr id="3" name="Content Placeholder 2">
            <a:extLst>
              <a:ext uri="{FF2B5EF4-FFF2-40B4-BE49-F238E27FC236}">
                <a16:creationId xmlns:a16="http://schemas.microsoft.com/office/drawing/2014/main" id="{95652E52-4DA3-36E4-E70B-8FE13ECD7931}"/>
              </a:ext>
            </a:extLst>
          </p:cNvPr>
          <p:cNvSpPr>
            <a:spLocks noGrp="1"/>
          </p:cNvSpPr>
          <p:nvPr>
            <p:ph idx="1"/>
          </p:nvPr>
        </p:nvSpPr>
        <p:spPr>
          <a:xfrm>
            <a:off x="852778" y="1737360"/>
            <a:ext cx="7157552" cy="4645151"/>
          </a:xfrm>
        </p:spPr>
        <p:txBody>
          <a:bodyPr anchor="ctr">
            <a:normAutofit fontScale="92500" lnSpcReduction="20000"/>
          </a:bodyPr>
          <a:lstStyle/>
          <a:p>
            <a:r>
              <a:rPr lang="en-US" sz="1800" b="1" dirty="0"/>
              <a:t>Recommended resolution window:</a:t>
            </a:r>
            <a:br>
              <a:rPr lang="en-US" sz="1800" dirty="0"/>
            </a:br>
            <a:r>
              <a:rPr lang="en-US" sz="1800" dirty="0"/>
              <a:t>A 7-day window already captures the majority of recontacts; longer windows add diminishing returns. </a:t>
            </a:r>
          </a:p>
          <a:p>
            <a:pPr marL="0" indent="0">
              <a:buNone/>
            </a:pPr>
            <a:endParaRPr lang="en-US" sz="1800" dirty="0"/>
          </a:p>
          <a:p>
            <a:r>
              <a:rPr lang="en-US" sz="1800" b="1" dirty="0"/>
              <a:t>Channel performance by country:</a:t>
            </a:r>
            <a:br>
              <a:rPr lang="en-US" sz="1800" dirty="0"/>
            </a:br>
            <a:r>
              <a:rPr lang="en-US" sz="1800" dirty="0"/>
              <a:t>Overall chat has the lowest 7-day recontact rate, and email has the highest recontact rate; calls lie in the middle</a:t>
            </a:r>
          </a:p>
          <a:p>
            <a:pPr marL="0" indent="0">
              <a:buNone/>
            </a:pPr>
            <a:endParaRPr lang="en-US" sz="1800" dirty="0"/>
          </a:p>
          <a:p>
            <a:r>
              <a:rPr lang="en-US" sz="1800" b="1" dirty="0"/>
              <a:t>Agent Company Performance:</a:t>
            </a:r>
            <a:br>
              <a:rPr lang="en-US" sz="1800" dirty="0"/>
            </a:br>
            <a:r>
              <a:rPr lang="en-US" sz="1800" dirty="0"/>
              <a:t>COMPANY_3 delivers the lowest 7-day recontact rate at meaningful scale, while COMPANY_1 has the highest recontact rate on the largest volume</a:t>
            </a:r>
          </a:p>
          <a:p>
            <a:pPr marL="0" indent="0">
              <a:buNone/>
            </a:pPr>
            <a:endParaRPr lang="en-US" sz="1800" dirty="0"/>
          </a:p>
          <a:p>
            <a:r>
              <a:rPr lang="en-US" sz="1800" b="1" dirty="0"/>
              <a:t>% of Merchants with repeat contacts per product:</a:t>
            </a:r>
            <a:br>
              <a:rPr lang="en-US" sz="1800" b="1" dirty="0"/>
            </a:br>
            <a:r>
              <a:rPr lang="en-US" sz="1800" dirty="0"/>
              <a:t>~50% of merchants contact support more than once in the year; product with highest repeat contacts are Profile, Hardware and Misc.</a:t>
            </a:r>
          </a:p>
          <a:p>
            <a:endParaRPr lang="en-US" sz="1800" dirty="0"/>
          </a:p>
          <a:p>
            <a:r>
              <a:rPr lang="en-US" sz="1800" b="1" dirty="0"/>
              <a:t>Cost allocation per channel:</a:t>
            </a:r>
            <a:br>
              <a:rPr lang="en-US" sz="1800" dirty="0"/>
            </a:br>
            <a:r>
              <a:rPr lang="en-US" sz="1800" dirty="0"/>
              <a:t>Chat channel is the cheapest per interaction with average cost per interaction being ~€1.72</a:t>
            </a:r>
          </a:p>
        </p:txBody>
      </p:sp>
      <p:sp>
        <p:nvSpPr>
          <p:cNvPr id="25" name="Freeform: Shape 24">
            <a:extLst>
              <a:ext uri="{FF2B5EF4-FFF2-40B4-BE49-F238E27FC236}">
                <a16:creationId xmlns:a16="http://schemas.microsoft.com/office/drawing/2014/main" id="{8D403EE0-45C4-2217-D889-6F5F21BA3B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8439" y="5970896"/>
            <a:ext cx="7475562"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943913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8824632"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52775" y="609597"/>
            <a:ext cx="7044316" cy="1330841"/>
          </a:xfrm>
        </p:spPr>
        <p:txBody>
          <a:bodyPr>
            <a:normAutofit fontScale="90000"/>
          </a:bodyPr>
          <a:lstStyle/>
          <a:p>
            <a:pPr algn="l">
              <a:defRPr sz="1800"/>
            </a:pPr>
            <a:r>
              <a:rPr lang="en-US" sz="1400" b="1" dirty="0"/>
              <a:t>Q1 - The resolution window is 7 days; we would like to optimize this timeframe. Recommend a new one and justify. </a:t>
            </a:r>
            <a:br>
              <a:rPr lang="en-US" sz="1400" b="1" dirty="0"/>
            </a:br>
            <a:br>
              <a:rPr lang="en-US" sz="2000" b="1" dirty="0"/>
            </a:br>
            <a:r>
              <a:rPr lang="en-US" sz="2000" b="1" dirty="0"/>
              <a:t>A 7-day window already captures the majority of recontacts; longer windows add diminishing returns.</a:t>
            </a:r>
          </a:p>
        </p:txBody>
      </p:sp>
      <p:sp>
        <p:nvSpPr>
          <p:cNvPr id="3" name="Content Placeholder 2"/>
          <p:cNvSpPr>
            <a:spLocks noGrp="1"/>
          </p:cNvSpPr>
          <p:nvPr>
            <p:ph idx="1"/>
          </p:nvPr>
        </p:nvSpPr>
        <p:spPr>
          <a:xfrm>
            <a:off x="852775" y="2198362"/>
            <a:ext cx="3719225" cy="3917773"/>
          </a:xfrm>
        </p:spPr>
        <p:txBody>
          <a:bodyPr>
            <a:normAutofit/>
          </a:bodyPr>
          <a:lstStyle/>
          <a:p>
            <a:pPr>
              <a:defRPr sz="1800"/>
            </a:pPr>
            <a:r>
              <a:rPr lang="en-US" sz="1700" b="1" dirty="0">
                <a:latin typeface="Calibri"/>
              </a:rPr>
              <a:t>Recontacts timeline: large share within the first 3–7 days.</a:t>
            </a:r>
          </a:p>
          <a:p>
            <a:pPr>
              <a:defRPr sz="1800"/>
            </a:pPr>
            <a:r>
              <a:rPr lang="en-US" sz="1700" dirty="0">
                <a:latin typeface="Calibri"/>
              </a:rPr>
              <a:t>Shorter windows give faster feedback but risk classifying unresolved issues as resolved.</a:t>
            </a:r>
          </a:p>
          <a:p>
            <a:pPr>
              <a:defRPr sz="1800"/>
            </a:pPr>
            <a:r>
              <a:rPr lang="en-US" sz="1700" dirty="0">
                <a:latin typeface="Calibri"/>
              </a:rPr>
              <a:t>Recommendation: Use a 7–10 day window and define 'resolved' as: IS_RESOLVING_INTERACTION = TRUE + no same-product recontact within that window.</a:t>
            </a:r>
          </a:p>
        </p:txBody>
      </p:sp>
      <p:sp>
        <p:nvSpPr>
          <p:cNvPr id="25" name="Freeform: Shape 24">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036218" y="6209414"/>
            <a:ext cx="5107781"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4" name="Chart 3">
            <a:extLst>
              <a:ext uri="{FF2B5EF4-FFF2-40B4-BE49-F238E27FC236}">
                <a16:creationId xmlns:a16="http://schemas.microsoft.com/office/drawing/2014/main" id="{85C3E57A-3834-36AA-BCED-55469E26D1A7}"/>
              </a:ext>
            </a:extLst>
          </p:cNvPr>
          <p:cNvGraphicFramePr>
            <a:graphicFrameLocks/>
          </p:cNvGraphicFramePr>
          <p:nvPr>
            <p:extLst>
              <p:ext uri="{D42A27DB-BD31-4B8C-83A1-F6EECF244321}">
                <p14:modId xmlns:p14="http://schemas.microsoft.com/office/powerpoint/2010/main" val="3441473532"/>
              </p:ext>
            </p:extLst>
          </p:nvPr>
        </p:nvGraphicFramePr>
        <p:xfrm>
          <a:off x="5039525" y="2184914"/>
          <a:ext cx="3591379" cy="3755915"/>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24007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536101" y="56433"/>
            <a:ext cx="8071798" cy="1330839"/>
          </a:xfrm>
        </p:spPr>
        <p:txBody>
          <a:bodyPr>
            <a:normAutofit/>
          </a:bodyPr>
          <a:lstStyle/>
          <a:p>
            <a:pPr algn="l">
              <a:lnSpc>
                <a:spcPct val="90000"/>
              </a:lnSpc>
            </a:pPr>
            <a:r>
              <a:rPr lang="en-US" sz="1400" b="1" dirty="0">
                <a:latin typeface="Calibri"/>
              </a:rPr>
              <a:t>Q2 - </a:t>
            </a:r>
            <a:r>
              <a:rPr lang="en-US" sz="1400" b="1" dirty="0"/>
              <a:t>Which channel performed the best/worst in each country in 2024? </a:t>
            </a:r>
            <a:br>
              <a:rPr lang="en-US" sz="1400" b="1" dirty="0"/>
            </a:br>
            <a:br>
              <a:rPr lang="en-US" sz="2000" b="1" dirty="0">
                <a:latin typeface="Calibri"/>
              </a:rPr>
            </a:br>
            <a:r>
              <a:rPr lang="en-US" sz="2000" b="1" dirty="0">
                <a:latin typeface="Calibri"/>
              </a:rPr>
              <a:t>Overall chat has the lowest 7-day recontact rate, and email has the highest recontact rate</a:t>
            </a:r>
          </a:p>
        </p:txBody>
      </p:sp>
      <p:sp>
        <p:nvSpPr>
          <p:cNvPr id="3" name="Content Placeholder 2"/>
          <p:cNvSpPr>
            <a:spLocks noGrp="1"/>
          </p:cNvSpPr>
          <p:nvPr>
            <p:ph idx="1"/>
          </p:nvPr>
        </p:nvSpPr>
        <p:spPr>
          <a:xfrm>
            <a:off x="494769" y="1452683"/>
            <a:ext cx="8377719" cy="3908586"/>
          </a:xfrm>
        </p:spPr>
        <p:txBody>
          <a:bodyPr>
            <a:normAutofit/>
          </a:bodyPr>
          <a:lstStyle/>
          <a:p>
            <a:pPr>
              <a:lnSpc>
                <a:spcPct val="90000"/>
              </a:lnSpc>
              <a:defRPr sz="1800"/>
            </a:pPr>
            <a:r>
              <a:rPr lang="en-US" sz="1400" dirty="0">
                <a:latin typeface="Calibri"/>
              </a:rPr>
              <a:t>Metric: 7-day recontact rate on interactions marked as resolving (lower = better).</a:t>
            </a:r>
          </a:p>
          <a:p>
            <a:pPr>
              <a:lnSpc>
                <a:spcPct val="90000"/>
              </a:lnSpc>
              <a:defRPr sz="1800"/>
            </a:pPr>
            <a:r>
              <a:rPr lang="en-US" sz="1400" dirty="0">
                <a:latin typeface="Calibri"/>
              </a:rPr>
              <a:t>Best-performing channel: Overall, chat has the lowest 7-day recontact rate in most markets – around 27–36% in BE/CH/IE – indicating better first-contact resolution. The only exception is NL, where chat shows a high recontact rate (~49%), but volumes are tiny compared to email/call, so it is treated as an outlier / data-quality issue rather than a true signal. </a:t>
            </a:r>
          </a:p>
          <a:p>
            <a:pPr>
              <a:lnSpc>
                <a:spcPct val="90000"/>
              </a:lnSpc>
              <a:defRPr sz="1800"/>
            </a:pPr>
            <a:r>
              <a:rPr lang="en-US" sz="1400" dirty="0">
                <a:latin typeface="Calibri"/>
              </a:rPr>
              <a:t>Worst-performing channel: Across all four countries, email consistently has the highest 7-day recontact rate (≈46–54%), meaning customers are most likely to come back again after an email interaction. That makes email the weakest channel on resolution quality and the main candidate for optimization or volume reduction.</a:t>
            </a:r>
          </a:p>
        </p:txBody>
      </p:sp>
      <p:graphicFrame>
        <p:nvGraphicFramePr>
          <p:cNvPr id="7" name="Chart 6">
            <a:extLst>
              <a:ext uri="{FF2B5EF4-FFF2-40B4-BE49-F238E27FC236}">
                <a16:creationId xmlns:a16="http://schemas.microsoft.com/office/drawing/2014/main" id="{65E82994-2E60-D95F-E36F-527D0691A097}"/>
              </a:ext>
            </a:extLst>
          </p:cNvPr>
          <p:cNvGraphicFramePr>
            <a:graphicFrameLocks/>
          </p:cNvGraphicFramePr>
          <p:nvPr>
            <p:extLst>
              <p:ext uri="{D42A27DB-BD31-4B8C-83A1-F6EECF244321}">
                <p14:modId xmlns:p14="http://schemas.microsoft.com/office/powerpoint/2010/main" val="2269399496"/>
              </p:ext>
            </p:extLst>
          </p:nvPr>
        </p:nvGraphicFramePr>
        <p:xfrm>
          <a:off x="205028" y="3429000"/>
          <a:ext cx="8733943" cy="3267363"/>
        </p:xfrm>
        <a:graphic>
          <a:graphicData uri="http://schemas.openxmlformats.org/drawingml/2006/chart">
            <c:chart xmlns:c="http://schemas.openxmlformats.org/drawingml/2006/chart" xmlns:r="http://schemas.openxmlformats.org/officeDocument/2006/relationships" r:id="rId2"/>
          </a:graphicData>
        </a:graphic>
      </p:graphicFrame>
      <p:cxnSp>
        <p:nvCxnSpPr>
          <p:cNvPr id="11" name="Straight Connector 10">
            <a:extLst>
              <a:ext uri="{FF2B5EF4-FFF2-40B4-BE49-F238E27FC236}">
                <a16:creationId xmlns:a16="http://schemas.microsoft.com/office/drawing/2014/main" id="{F2D524CA-4EC4-F642-5A01-B8E5A8096CF4}"/>
              </a:ext>
            </a:extLst>
          </p:cNvPr>
          <p:cNvCxnSpPr/>
          <p:nvPr/>
        </p:nvCxnSpPr>
        <p:spPr>
          <a:xfrm flipV="1">
            <a:off x="2599765" y="3603812"/>
            <a:ext cx="0" cy="2330823"/>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DEAE612-234D-B2E1-FBD9-DDAD6FE3CB48}"/>
              </a:ext>
            </a:extLst>
          </p:cNvPr>
          <p:cNvCxnSpPr/>
          <p:nvPr/>
        </p:nvCxnSpPr>
        <p:spPr>
          <a:xfrm flipV="1">
            <a:off x="4571999" y="3665407"/>
            <a:ext cx="0" cy="2330823"/>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296A6201-A9F4-FC1D-40EF-F22819FBA932}"/>
              </a:ext>
            </a:extLst>
          </p:cNvPr>
          <p:cNvCxnSpPr/>
          <p:nvPr/>
        </p:nvCxnSpPr>
        <p:spPr>
          <a:xfrm flipV="1">
            <a:off x="6571130" y="3621741"/>
            <a:ext cx="0" cy="2330823"/>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24007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193815" y="661916"/>
            <a:ext cx="8654350" cy="1330839"/>
          </a:xfrm>
        </p:spPr>
        <p:txBody>
          <a:bodyPr>
            <a:noAutofit/>
          </a:bodyPr>
          <a:lstStyle/>
          <a:p>
            <a:pPr>
              <a:lnSpc>
                <a:spcPct val="90000"/>
              </a:lnSpc>
            </a:pPr>
            <a:r>
              <a:rPr lang="en-US" sz="1400" b="1" dirty="0">
                <a:latin typeface="Calibri"/>
              </a:rPr>
              <a:t>Q3 – </a:t>
            </a:r>
            <a:r>
              <a:rPr lang="en-US" sz="1400" b="1" dirty="0"/>
              <a:t>Which Agent Company performed the best?</a:t>
            </a:r>
            <a:br>
              <a:rPr lang="en-US" sz="1400" b="1" dirty="0"/>
            </a:br>
            <a:br>
              <a:rPr lang="en-US" sz="2000" b="1" dirty="0">
                <a:latin typeface="Calibri"/>
              </a:rPr>
            </a:br>
            <a:r>
              <a:rPr lang="en-US" sz="2000" b="1" dirty="0"/>
              <a:t>COMPANY_3 delivers the lowest 7-day recontact rate, while COMPANY_1 has the highest recontact rate on the largest volume</a:t>
            </a:r>
            <a:endParaRPr lang="en-US" sz="2000" b="1" dirty="0">
              <a:latin typeface="Calibri"/>
            </a:endParaRPr>
          </a:p>
        </p:txBody>
      </p:sp>
      <p:sp>
        <p:nvSpPr>
          <p:cNvPr id="3" name="Content Placeholder 2"/>
          <p:cNvSpPr>
            <a:spLocks noGrp="1"/>
          </p:cNvSpPr>
          <p:nvPr>
            <p:ph idx="1"/>
          </p:nvPr>
        </p:nvSpPr>
        <p:spPr>
          <a:xfrm>
            <a:off x="0" y="2187388"/>
            <a:ext cx="3176729" cy="4670612"/>
          </a:xfrm>
        </p:spPr>
        <p:txBody>
          <a:bodyPr>
            <a:normAutofit/>
          </a:bodyPr>
          <a:lstStyle/>
          <a:p>
            <a:pPr>
              <a:lnSpc>
                <a:spcPct val="90000"/>
              </a:lnSpc>
              <a:defRPr sz="1800"/>
            </a:pPr>
            <a:r>
              <a:rPr lang="en-US" sz="1400" b="1" dirty="0">
                <a:latin typeface="Calibri"/>
              </a:rPr>
              <a:t>Metric: 7-day recontact rate on resolving interactions by agent company.</a:t>
            </a:r>
          </a:p>
          <a:p>
            <a:pPr>
              <a:lnSpc>
                <a:spcPct val="90000"/>
              </a:lnSpc>
              <a:defRPr sz="1800"/>
            </a:pPr>
            <a:r>
              <a:rPr lang="en-US" sz="1400" dirty="0">
                <a:latin typeface="Calibri"/>
              </a:rPr>
              <a:t>COMPANY_3 shows the lowest recontact rate overall → best performance on keeping issues resolved.</a:t>
            </a:r>
          </a:p>
          <a:p>
            <a:pPr>
              <a:lnSpc>
                <a:spcPct val="90000"/>
              </a:lnSpc>
              <a:defRPr sz="1800"/>
            </a:pPr>
            <a:r>
              <a:rPr lang="en-US" sz="1400" dirty="0">
                <a:latin typeface="Calibri"/>
              </a:rPr>
              <a:t>COMPANY_1 is mid-range; COMPANY_2 has the highest recontact rates → opportunity for coaching and process review.</a:t>
            </a:r>
          </a:p>
          <a:p>
            <a:pPr>
              <a:lnSpc>
                <a:spcPct val="90000"/>
              </a:lnSpc>
              <a:defRPr sz="1800"/>
            </a:pPr>
            <a:r>
              <a:rPr lang="en-US" sz="1400" dirty="0">
                <a:latin typeface="Calibri"/>
              </a:rPr>
              <a:t>Next steps: Deep-dive COMPANY_2 by product and channel to identify systematic issues.</a:t>
            </a:r>
          </a:p>
        </p:txBody>
      </p:sp>
      <p:graphicFrame>
        <p:nvGraphicFramePr>
          <p:cNvPr id="4" name="Chart 3">
            <a:extLst>
              <a:ext uri="{FF2B5EF4-FFF2-40B4-BE49-F238E27FC236}">
                <a16:creationId xmlns:a16="http://schemas.microsoft.com/office/drawing/2014/main" id="{AFD1F67C-CF4A-620B-D344-98903A3DBD6C}"/>
              </a:ext>
            </a:extLst>
          </p:cNvPr>
          <p:cNvGraphicFramePr>
            <a:graphicFrameLocks/>
          </p:cNvGraphicFramePr>
          <p:nvPr>
            <p:extLst>
              <p:ext uri="{D42A27DB-BD31-4B8C-83A1-F6EECF244321}">
                <p14:modId xmlns:p14="http://schemas.microsoft.com/office/powerpoint/2010/main" val="2023714215"/>
              </p:ext>
            </p:extLst>
          </p:nvPr>
        </p:nvGraphicFramePr>
        <p:xfrm>
          <a:off x="3585881" y="2187388"/>
          <a:ext cx="5441577" cy="4032437"/>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8824632"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52775" y="365496"/>
            <a:ext cx="7044316" cy="1330841"/>
          </a:xfrm>
        </p:spPr>
        <p:txBody>
          <a:bodyPr>
            <a:normAutofit fontScale="90000"/>
          </a:bodyPr>
          <a:lstStyle/>
          <a:p>
            <a:pPr>
              <a:defRPr sz="1800"/>
            </a:pPr>
            <a:r>
              <a:rPr lang="en-US" sz="1600" b="1" dirty="0"/>
              <a:t>Q4 -What percentage of merchants contacted multiple times, and which products were most frequently recontacted?</a:t>
            </a:r>
            <a:br>
              <a:rPr lang="en-US" sz="2000" b="1" dirty="0"/>
            </a:br>
            <a:br>
              <a:rPr lang="en-US" sz="2000" b="1" dirty="0"/>
            </a:br>
            <a:r>
              <a:rPr lang="en-US" sz="2200" b="1" dirty="0"/>
              <a:t>~50% of merchants contact support more than once in the year; product with highest repeat contacts are Profile, Hardware and Misc.</a:t>
            </a:r>
            <a:endParaRPr lang="en-US" sz="2000" b="1" dirty="0"/>
          </a:p>
        </p:txBody>
      </p:sp>
      <p:sp>
        <p:nvSpPr>
          <p:cNvPr id="3" name="Content Placeholder 2"/>
          <p:cNvSpPr>
            <a:spLocks noGrp="1"/>
          </p:cNvSpPr>
          <p:nvPr>
            <p:ph idx="1"/>
          </p:nvPr>
        </p:nvSpPr>
        <p:spPr>
          <a:xfrm>
            <a:off x="649949" y="2058067"/>
            <a:ext cx="2365554" cy="3917773"/>
          </a:xfrm>
        </p:spPr>
        <p:txBody>
          <a:bodyPr>
            <a:normAutofit/>
          </a:bodyPr>
          <a:lstStyle/>
          <a:p>
            <a:pPr>
              <a:defRPr sz="1800"/>
            </a:pPr>
            <a:r>
              <a:rPr lang="en-US" sz="1700" dirty="0">
                <a:latin typeface="Calibri"/>
              </a:rPr>
              <a:t>Some merchants are heavy support users having up to 5 or 10 contacts</a:t>
            </a:r>
          </a:p>
          <a:p>
            <a:pPr>
              <a:defRPr sz="1800"/>
            </a:pPr>
            <a:r>
              <a:rPr lang="en-US" sz="1700" dirty="0">
                <a:latin typeface="Calibri"/>
              </a:rPr>
              <a:t>These product areas are prime candidates for better self-service, clearer communication, and product improvements.</a:t>
            </a:r>
          </a:p>
        </p:txBody>
      </p:sp>
      <p:sp>
        <p:nvSpPr>
          <p:cNvPr id="25" name="Freeform: Shape 24">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036218" y="6209414"/>
            <a:ext cx="5107781"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4" name="Chart 3">
            <a:extLst>
              <a:ext uri="{FF2B5EF4-FFF2-40B4-BE49-F238E27FC236}">
                <a16:creationId xmlns:a16="http://schemas.microsoft.com/office/drawing/2014/main" id="{212AFBDC-E22B-1DA5-C8AC-4CD371944E3F}"/>
              </a:ext>
            </a:extLst>
          </p:cNvPr>
          <p:cNvGraphicFramePr>
            <a:graphicFrameLocks/>
          </p:cNvGraphicFramePr>
          <p:nvPr>
            <p:extLst>
              <p:ext uri="{D42A27DB-BD31-4B8C-83A1-F6EECF244321}">
                <p14:modId xmlns:p14="http://schemas.microsoft.com/office/powerpoint/2010/main" val="2215230846"/>
              </p:ext>
            </p:extLst>
          </p:nvPr>
        </p:nvGraphicFramePr>
        <p:xfrm>
          <a:off x="3334871" y="1983352"/>
          <a:ext cx="5296033" cy="4067205"/>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557188"/>
            <a:ext cx="7886700" cy="1133499"/>
          </a:xfrm>
        </p:spPr>
        <p:txBody>
          <a:bodyPr>
            <a:normAutofit/>
          </a:bodyPr>
          <a:lstStyle/>
          <a:p>
            <a:pPr>
              <a:lnSpc>
                <a:spcPct val="90000"/>
              </a:lnSpc>
            </a:pPr>
            <a:r>
              <a:rPr lang="en-US" sz="1400" b="1" dirty="0">
                <a:latin typeface="Calibri"/>
              </a:rPr>
              <a:t>Q5 – </a:t>
            </a:r>
            <a:r>
              <a:rPr lang="en-US" sz="1400" b="1" dirty="0"/>
              <a:t>How would you associate costs with each channel?</a:t>
            </a:r>
            <a:br>
              <a:rPr lang="en-US" sz="1400" b="1" dirty="0"/>
            </a:br>
            <a:br>
              <a:rPr lang="en-US" sz="1400" b="1" dirty="0"/>
            </a:br>
            <a:r>
              <a:rPr lang="en-US" sz="2000" b="1" dirty="0"/>
              <a:t>Cost allocation per channel methodology</a:t>
            </a:r>
            <a:endParaRPr lang="en-US" sz="1400" b="1" dirty="0">
              <a:latin typeface="Calibri"/>
            </a:endParaRPr>
          </a:p>
        </p:txBody>
      </p:sp>
      <p:graphicFrame>
        <p:nvGraphicFramePr>
          <p:cNvPr id="18" name="Content Placeholder 2">
            <a:extLst>
              <a:ext uri="{FF2B5EF4-FFF2-40B4-BE49-F238E27FC236}">
                <a16:creationId xmlns:a16="http://schemas.microsoft.com/office/drawing/2014/main" id="{15B6546A-11DC-1A17-B2E9-943557792AB0}"/>
              </a:ext>
            </a:extLst>
          </p:cNvPr>
          <p:cNvGraphicFramePr>
            <a:graphicFrameLocks noGrp="1"/>
          </p:cNvGraphicFramePr>
          <p:nvPr>
            <p:ph idx="1"/>
            <p:extLst>
              <p:ext uri="{D42A27DB-BD31-4B8C-83A1-F6EECF244321}">
                <p14:modId xmlns:p14="http://schemas.microsoft.com/office/powerpoint/2010/main" val="4109421679"/>
              </p:ext>
            </p:extLst>
          </p:nvPr>
        </p:nvGraphicFramePr>
        <p:xfrm>
          <a:off x="628650" y="1828800"/>
          <a:ext cx="78867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85F55C16-BC21-49EF-A4FF-C3155BB93B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86300" y="365125"/>
            <a:ext cx="3829048" cy="1952744"/>
          </a:xfrm>
        </p:spPr>
        <p:txBody>
          <a:bodyPr>
            <a:normAutofit/>
          </a:bodyPr>
          <a:lstStyle/>
          <a:p>
            <a:pPr>
              <a:lnSpc>
                <a:spcPct val="90000"/>
              </a:lnSpc>
            </a:pPr>
            <a:r>
              <a:rPr lang="en-US" sz="1400" b="1" dirty="0"/>
              <a:t>Q5 – How would you associate costs with each channel?</a:t>
            </a:r>
            <a:br>
              <a:rPr lang="en-US" sz="2000" b="1" dirty="0"/>
            </a:br>
            <a:br>
              <a:rPr lang="en-US" sz="2000" b="1" dirty="0"/>
            </a:br>
            <a:r>
              <a:rPr lang="en-US" sz="2000" b="1" dirty="0"/>
              <a:t>Chat channel is the cheapest per interaction  with average cost per interaction being ~</a:t>
            </a:r>
            <a:r>
              <a:rPr lang="en-US" sz="2000" dirty="0"/>
              <a:t>€</a:t>
            </a:r>
            <a:r>
              <a:rPr lang="en-US" sz="2000" b="1" dirty="0"/>
              <a:t>1.72</a:t>
            </a:r>
          </a:p>
        </p:txBody>
      </p:sp>
      <p:sp>
        <p:nvSpPr>
          <p:cNvPr id="34" name="Freeform: Shape 33">
            <a:extLst>
              <a:ext uri="{FF2B5EF4-FFF2-40B4-BE49-F238E27FC236}">
                <a16:creationId xmlns:a16="http://schemas.microsoft.com/office/drawing/2014/main" id="{0C5F069E-AFE6-4825-8945-46F2918A50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4587427" cy="6858000"/>
          </a:xfrm>
          <a:custGeom>
            <a:avLst/>
            <a:gdLst>
              <a:gd name="connsiteX0" fmla="*/ 0 w 6116569"/>
              <a:gd name="connsiteY0" fmla="*/ 0 h 6879321"/>
              <a:gd name="connsiteX1" fmla="*/ 2935851 w 6116569"/>
              <a:gd name="connsiteY1" fmla="*/ 0 h 6879321"/>
              <a:gd name="connsiteX2" fmla="*/ 3238280 w 6116569"/>
              <a:gd name="connsiteY2" fmla="*/ 31980 h 6879321"/>
              <a:gd name="connsiteX3" fmla="*/ 3660541 w 6116569"/>
              <a:gd name="connsiteY3" fmla="*/ 550772 h 6879321"/>
              <a:gd name="connsiteX4" fmla="*/ 3808902 w 6116569"/>
              <a:gd name="connsiteY4" fmla="*/ 589860 h 6879321"/>
              <a:gd name="connsiteX5" fmla="*/ 4413762 w 6116569"/>
              <a:gd name="connsiteY5" fmla="*/ 625393 h 6879321"/>
              <a:gd name="connsiteX6" fmla="*/ 4567830 w 6116569"/>
              <a:gd name="connsiteY6" fmla="*/ 721333 h 6879321"/>
              <a:gd name="connsiteX7" fmla="*/ 4171247 w 6116569"/>
              <a:gd name="connsiteY7" fmla="*/ 792401 h 6879321"/>
              <a:gd name="connsiteX8" fmla="*/ 4376671 w 6116569"/>
              <a:gd name="connsiteY8" fmla="*/ 842148 h 6879321"/>
              <a:gd name="connsiteX9" fmla="*/ 4527887 w 6116569"/>
              <a:gd name="connsiteY9" fmla="*/ 813722 h 6879321"/>
              <a:gd name="connsiteX10" fmla="*/ 4633452 w 6116569"/>
              <a:gd name="connsiteY10" fmla="*/ 799508 h 6879321"/>
              <a:gd name="connsiteX11" fmla="*/ 4947293 w 6116569"/>
              <a:gd name="connsiteY11" fmla="*/ 870576 h 6879321"/>
              <a:gd name="connsiteX12" fmla="*/ 5263988 w 6116569"/>
              <a:gd name="connsiteY12" fmla="*/ 820828 h 6879321"/>
              <a:gd name="connsiteX13" fmla="*/ 5249723 w 6116569"/>
              <a:gd name="connsiteY13" fmla="*/ 895449 h 6879321"/>
              <a:gd name="connsiteX14" fmla="*/ 4744723 w 6116569"/>
              <a:gd name="connsiteY14" fmla="*/ 1197485 h 6879321"/>
              <a:gd name="connsiteX15" fmla="*/ 4767548 w 6116569"/>
              <a:gd name="connsiteY15" fmla="*/ 1346727 h 6879321"/>
              <a:gd name="connsiteX16" fmla="*/ 4539299 w 6116569"/>
              <a:gd name="connsiteY16" fmla="*/ 1421348 h 6879321"/>
              <a:gd name="connsiteX17" fmla="*/ 4607773 w 6116569"/>
              <a:gd name="connsiteY17" fmla="*/ 1485309 h 6879321"/>
              <a:gd name="connsiteX18" fmla="*/ 4579242 w 6116569"/>
              <a:gd name="connsiteY18" fmla="*/ 1535055 h 6879321"/>
              <a:gd name="connsiteX19" fmla="*/ 5278255 w 6116569"/>
              <a:gd name="connsiteY19" fmla="*/ 1609676 h 6879321"/>
              <a:gd name="connsiteX20" fmla="*/ 5771843 w 6116569"/>
              <a:gd name="connsiteY20" fmla="*/ 1630997 h 6879321"/>
              <a:gd name="connsiteX21" fmla="*/ 6105656 w 6116569"/>
              <a:gd name="connsiteY21" fmla="*/ 1748257 h 6879321"/>
              <a:gd name="connsiteX22" fmla="*/ 5691955 w 6116569"/>
              <a:gd name="connsiteY22" fmla="*/ 2167555 h 6879321"/>
              <a:gd name="connsiteX23" fmla="*/ 5475118 w 6116569"/>
              <a:gd name="connsiteY23" fmla="*/ 2348776 h 6879321"/>
              <a:gd name="connsiteX24" fmla="*/ 5826051 w 6116569"/>
              <a:gd name="connsiteY24" fmla="*/ 2291922 h 6879321"/>
              <a:gd name="connsiteX25" fmla="*/ 5552153 w 6116569"/>
              <a:gd name="connsiteY25" fmla="*/ 2597513 h 6879321"/>
              <a:gd name="connsiteX26" fmla="*/ 5603508 w 6116569"/>
              <a:gd name="connsiteY26" fmla="*/ 2647260 h 6879321"/>
              <a:gd name="connsiteX27" fmla="*/ 5700515 w 6116569"/>
              <a:gd name="connsiteY27" fmla="*/ 2679240 h 6879321"/>
              <a:gd name="connsiteX28" fmla="*/ 5246870 w 6116569"/>
              <a:gd name="connsiteY28" fmla="*/ 2888889 h 6879321"/>
              <a:gd name="connsiteX29" fmla="*/ 4836022 w 6116569"/>
              <a:gd name="connsiteY29" fmla="*/ 3169605 h 6879321"/>
              <a:gd name="connsiteX30" fmla="*/ 4736163 w 6116569"/>
              <a:gd name="connsiteY30" fmla="*/ 3233565 h 6879321"/>
              <a:gd name="connsiteX31" fmla="*/ 4853141 w 6116569"/>
              <a:gd name="connsiteY31" fmla="*/ 3233565 h 6879321"/>
              <a:gd name="connsiteX32" fmla="*/ 4944440 w 6116569"/>
              <a:gd name="connsiteY32" fmla="*/ 3226459 h 6879321"/>
              <a:gd name="connsiteX33" fmla="*/ 5109921 w 6116569"/>
              <a:gd name="connsiteY33" fmla="*/ 3283313 h 6879321"/>
              <a:gd name="connsiteX34" fmla="*/ 5694809 w 6116569"/>
              <a:gd name="connsiteY34" fmla="*/ 3141178 h 6879321"/>
              <a:gd name="connsiteX35" fmla="*/ 5566419 w 6116569"/>
              <a:gd name="connsiteY35" fmla="*/ 3301079 h 6879321"/>
              <a:gd name="connsiteX36" fmla="*/ 5415203 w 6116569"/>
              <a:gd name="connsiteY36" fmla="*/ 3397020 h 6879321"/>
              <a:gd name="connsiteX37" fmla="*/ 5612068 w 6116569"/>
              <a:gd name="connsiteY37" fmla="*/ 3432554 h 6879321"/>
              <a:gd name="connsiteX38" fmla="*/ 5206927 w 6116569"/>
              <a:gd name="connsiteY38" fmla="*/ 3599562 h 6879321"/>
              <a:gd name="connsiteX39" fmla="*/ 5301079 w 6116569"/>
              <a:gd name="connsiteY39" fmla="*/ 3723930 h 6879321"/>
              <a:gd name="connsiteX40" fmla="*/ 4507915 w 6116569"/>
              <a:gd name="connsiteY40" fmla="*/ 4306683 h 6879321"/>
              <a:gd name="connsiteX41" fmla="*/ 3982942 w 6116569"/>
              <a:gd name="connsiteY41" fmla="*/ 4587399 h 6879321"/>
              <a:gd name="connsiteX42" fmla="*/ 4185513 w 6116569"/>
              <a:gd name="connsiteY42" fmla="*/ 4541205 h 6879321"/>
              <a:gd name="connsiteX43" fmla="*/ 5212633 w 6116569"/>
              <a:gd name="connsiteY43" fmla="*/ 4455924 h 6879321"/>
              <a:gd name="connsiteX44" fmla="*/ 5312492 w 6116569"/>
              <a:gd name="connsiteY44" fmla="*/ 4473691 h 6879321"/>
              <a:gd name="connsiteX45" fmla="*/ 4596361 w 6116569"/>
              <a:gd name="connsiteY45" fmla="*/ 4818368 h 6879321"/>
              <a:gd name="connsiteX46" fmla="*/ 4873113 w 6116569"/>
              <a:gd name="connsiteY46" fmla="*/ 4885882 h 6879321"/>
              <a:gd name="connsiteX47" fmla="*/ 4935881 w 6116569"/>
              <a:gd name="connsiteY47" fmla="*/ 4914309 h 6879321"/>
              <a:gd name="connsiteX48" fmla="*/ 4873113 w 6116569"/>
              <a:gd name="connsiteY48" fmla="*/ 5003143 h 6879321"/>
              <a:gd name="connsiteX49" fmla="*/ 4721898 w 6116569"/>
              <a:gd name="connsiteY49" fmla="*/ 5095530 h 6879321"/>
              <a:gd name="connsiteX50" fmla="*/ 5132745 w 6116569"/>
              <a:gd name="connsiteY50" fmla="*/ 4949842 h 6879321"/>
              <a:gd name="connsiteX51" fmla="*/ 5101362 w 6116569"/>
              <a:gd name="connsiteY51" fmla="*/ 5081317 h 6879321"/>
              <a:gd name="connsiteX52" fmla="*/ 5138452 w 6116569"/>
              <a:gd name="connsiteY52" fmla="*/ 5198578 h 6879321"/>
              <a:gd name="connsiteX53" fmla="*/ 4904497 w 6116569"/>
              <a:gd name="connsiteY53" fmla="*/ 5362033 h 6879321"/>
              <a:gd name="connsiteX54" fmla="*/ 4579242 w 6116569"/>
              <a:gd name="connsiteY54" fmla="*/ 5674729 h 6879321"/>
              <a:gd name="connsiteX55" fmla="*/ 4253988 w 6116569"/>
              <a:gd name="connsiteY55" fmla="*/ 5884379 h 6879321"/>
              <a:gd name="connsiteX56" fmla="*/ 3985795 w 6116569"/>
              <a:gd name="connsiteY56" fmla="*/ 6069153 h 6879321"/>
              <a:gd name="connsiteX57" fmla="*/ 4231163 w 6116569"/>
              <a:gd name="connsiteY57" fmla="*/ 6030066 h 6879321"/>
              <a:gd name="connsiteX58" fmla="*/ 3814609 w 6116569"/>
              <a:gd name="connsiteY58" fmla="*/ 6317889 h 6879321"/>
              <a:gd name="connsiteX59" fmla="*/ 3751840 w 6116569"/>
              <a:gd name="connsiteY59" fmla="*/ 6339209 h 6879321"/>
              <a:gd name="connsiteX60" fmla="*/ 3089919 w 6116569"/>
              <a:gd name="connsiteY60" fmla="*/ 6563071 h 6879321"/>
              <a:gd name="connsiteX61" fmla="*/ 2961529 w 6116569"/>
              <a:gd name="connsiteY61" fmla="*/ 6662566 h 6879321"/>
              <a:gd name="connsiteX62" fmla="*/ 3107038 w 6116569"/>
              <a:gd name="connsiteY62" fmla="*/ 6673226 h 6879321"/>
              <a:gd name="connsiteX63" fmla="*/ 3594919 w 6116569"/>
              <a:gd name="connsiteY63" fmla="*/ 6591499 h 6879321"/>
              <a:gd name="connsiteX64" fmla="*/ 3261106 w 6116569"/>
              <a:gd name="connsiteY64" fmla="*/ 6726527 h 6879321"/>
              <a:gd name="connsiteX65" fmla="*/ 3620597 w 6116569"/>
              <a:gd name="connsiteY65" fmla="*/ 6740740 h 6879321"/>
              <a:gd name="connsiteX66" fmla="*/ 3703337 w 6116569"/>
              <a:gd name="connsiteY66" fmla="*/ 6826020 h 6879321"/>
              <a:gd name="connsiteX67" fmla="*/ 3689072 w 6116569"/>
              <a:gd name="connsiteY67" fmla="*/ 6879321 h 6879321"/>
              <a:gd name="connsiteX68" fmla="*/ 0 w 6116569"/>
              <a:gd name="connsiteY68" fmla="*/ 6879321 h 6879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3" name="Content Placeholder 2"/>
          <p:cNvSpPr>
            <a:spLocks noGrp="1"/>
          </p:cNvSpPr>
          <p:nvPr>
            <p:ph idx="1"/>
          </p:nvPr>
        </p:nvSpPr>
        <p:spPr>
          <a:xfrm>
            <a:off x="4686300" y="2497257"/>
            <a:ext cx="3829048" cy="3679705"/>
          </a:xfrm>
        </p:spPr>
        <p:txBody>
          <a:bodyPr>
            <a:normAutofit/>
          </a:bodyPr>
          <a:lstStyle/>
          <a:p>
            <a:pPr>
              <a:defRPr sz="1800"/>
            </a:pPr>
            <a:r>
              <a:rPr lang="en-US" sz="1700" b="1" dirty="0">
                <a:latin typeface="Calibri"/>
              </a:rPr>
              <a:t>Email consumes majority of effective agent hours due to long handling times and no concurrency.</a:t>
            </a:r>
          </a:p>
          <a:p>
            <a:pPr>
              <a:defRPr sz="1800"/>
            </a:pPr>
            <a:r>
              <a:rPr lang="en-US" sz="1700" dirty="0">
                <a:latin typeface="Calibri"/>
              </a:rPr>
              <a:t>Chat is the cheapest per interaction, thanks to concurrency.</a:t>
            </a:r>
          </a:p>
          <a:p>
            <a:pPr>
              <a:defRPr sz="1800"/>
            </a:pPr>
            <a:r>
              <a:rPr lang="en-US" sz="1700" dirty="0">
                <a:latin typeface="Calibri"/>
              </a:rPr>
              <a:t>Calls offer a good balance: strong resolution quality at a moderate cost per interaction.</a:t>
            </a:r>
          </a:p>
          <a:p>
            <a:pPr>
              <a:defRPr sz="1800"/>
            </a:pPr>
            <a:r>
              <a:rPr lang="en-US" sz="1700" dirty="0">
                <a:latin typeface="Calibri"/>
              </a:rPr>
              <a:t>Implication: shift simple, repetitive emails into self-service or structured flows; improve chat journeys before scaling.</a:t>
            </a:r>
          </a:p>
        </p:txBody>
      </p:sp>
      <p:graphicFrame>
        <p:nvGraphicFramePr>
          <p:cNvPr id="4" name="Chart 3">
            <a:extLst>
              <a:ext uri="{FF2B5EF4-FFF2-40B4-BE49-F238E27FC236}">
                <a16:creationId xmlns:a16="http://schemas.microsoft.com/office/drawing/2014/main" id="{9881860D-67E3-2782-A1C3-4402795D975C}"/>
              </a:ext>
            </a:extLst>
          </p:cNvPr>
          <p:cNvGraphicFramePr>
            <a:graphicFrameLocks/>
          </p:cNvGraphicFramePr>
          <p:nvPr>
            <p:extLst>
              <p:ext uri="{D42A27DB-BD31-4B8C-83A1-F6EECF244321}">
                <p14:modId xmlns:p14="http://schemas.microsoft.com/office/powerpoint/2010/main" val="3177124633"/>
              </p:ext>
            </p:extLst>
          </p:nvPr>
        </p:nvGraphicFramePr>
        <p:xfrm>
          <a:off x="450850" y="603505"/>
          <a:ext cx="3371342" cy="5444148"/>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2621</TotalTime>
  <Words>1065</Words>
  <Application>Microsoft Office PowerPoint</Application>
  <PresentationFormat>On-screen Show (4:3)</PresentationFormat>
  <Paragraphs>63</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Operations Analytics Lead – Case Study Dec’25 Presenter: Abeer Khan</vt:lpstr>
      <vt:lpstr>Agenda</vt:lpstr>
      <vt:lpstr>Context &amp; Dataset</vt:lpstr>
      <vt:lpstr>Key Concepts &amp; Definitions</vt:lpstr>
      <vt:lpstr>Executive Summary</vt:lpstr>
      <vt:lpstr>Q1 - The resolution window is 7 days; we would like to optimize this timeframe. Recommend a new one and justify.   A 7-day window already captures the majority of recontacts; longer windows add diminishing returns.</vt:lpstr>
      <vt:lpstr>Q2 - Which channel performed the best/worst in each country in 2024?   Overall chat has the lowest 7-day recontact rate, and email has the highest recontact rate</vt:lpstr>
      <vt:lpstr>Q3 – Which Agent Company performed the best?  COMPANY_3 delivers the lowest 7-day recontact rate, while COMPANY_1 has the highest recontact rate on the largest volume</vt:lpstr>
      <vt:lpstr>Q4 -What percentage of merchants contacted multiple times, and which products were most frequently recontacted?  ~50% of merchants contact support more than once in the year; product with highest repeat contacts are Profile, Hardware and Misc.</vt:lpstr>
      <vt:lpstr>Q5 – How would you associate costs with each channel?  Cost allocation per channel methodology</vt:lpstr>
      <vt:lpstr>Q5 – How would you associate costs with each channel?  Chat channel is the cheapest per interaction  with average cost per interaction being ~€1.72</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Abeer Khan</dc:creator>
  <cp:keywords/>
  <dc:description>generated using python-pptx</dc:description>
  <cp:lastModifiedBy>Abeer Khan</cp:lastModifiedBy>
  <cp:revision>30</cp:revision>
  <dcterms:created xsi:type="dcterms:W3CDTF">2013-01-27T09:14:16Z</dcterms:created>
  <dcterms:modified xsi:type="dcterms:W3CDTF">2025-12-11T21:45:57Z</dcterms:modified>
  <cp:category/>
</cp:coreProperties>
</file>