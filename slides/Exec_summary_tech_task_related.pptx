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57" r:id="rId4"/>
    <p:sldId id="258" r:id="rId5"/>
    <p:sldId id="267" r:id="rId6"/>
    <p:sldId id="268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14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A2AC87-2ED0-49C4-91FA-EDD84EB325B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FFF045E-3821-40E4-B021-E446431697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Goal: Understand support performance across BE, CH, IE, NL and identify improvement levers.</a:t>
          </a:r>
          <a:endParaRPr lang="en-US"/>
        </a:p>
      </dgm:t>
    </dgm:pt>
    <dgm:pt modelId="{F099E929-B5C6-4539-AD97-8EE4CA6793D2}" type="parTrans" cxnId="{F100B634-5AF2-40DD-AB12-7595E5C7DBBF}">
      <dgm:prSet/>
      <dgm:spPr/>
      <dgm:t>
        <a:bodyPr/>
        <a:lstStyle/>
        <a:p>
          <a:endParaRPr lang="en-US"/>
        </a:p>
      </dgm:t>
    </dgm:pt>
    <dgm:pt modelId="{677CD9A3-0E76-40EE-899F-B67BA1C55BED}" type="sibTrans" cxnId="{F100B634-5AF2-40DD-AB12-7595E5C7DBB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9F3D3F8-E7C8-43FE-861F-F2E2F37B90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Data: ~430k interactions (1 row = 1 merchant → support interaction) across 2024 sample used as 2022 proxy.</a:t>
          </a:r>
        </a:p>
      </dgm:t>
    </dgm:pt>
    <dgm:pt modelId="{F88E2D90-047C-4078-90BB-027DA2E1E86B}" type="parTrans" cxnId="{B7B963E2-CBEA-45B1-979E-5705CEE24D40}">
      <dgm:prSet/>
      <dgm:spPr/>
      <dgm:t>
        <a:bodyPr/>
        <a:lstStyle/>
        <a:p>
          <a:endParaRPr lang="en-US"/>
        </a:p>
      </dgm:t>
    </dgm:pt>
    <dgm:pt modelId="{E723584F-C96D-4C70-953C-4BA0A6B24B7C}" type="sibTrans" cxnId="{B7B963E2-CBEA-45B1-979E-5705CEE24D4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0B08739-AD66-47B9-9B37-2EF35A16C0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 fields: merchant, product (classification), channel, agent company, dates, handling &amp; response times.</a:t>
          </a:r>
        </a:p>
      </dgm:t>
    </dgm:pt>
    <dgm:pt modelId="{F9FA0043-B53B-45CD-BC01-35F639B11B8C}" type="parTrans" cxnId="{60CE83EC-D892-444D-BBC3-AC7CD5B22746}">
      <dgm:prSet/>
      <dgm:spPr/>
      <dgm:t>
        <a:bodyPr/>
        <a:lstStyle/>
        <a:p>
          <a:endParaRPr lang="en-US"/>
        </a:p>
      </dgm:t>
    </dgm:pt>
    <dgm:pt modelId="{B03B594F-EB4A-4499-919E-F8C06C0E53BB}" type="sibTrans" cxnId="{60CE83EC-D892-444D-BBC3-AC7CD5B2274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BEDA514-F312-428A-B02B-6CC142E52E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Focus metrics: recontacts on the same product, resolution quality, and channel costs.</a:t>
          </a:r>
        </a:p>
      </dgm:t>
    </dgm:pt>
    <dgm:pt modelId="{0DCAF916-B462-489F-A4E5-3666C852B84B}" type="parTrans" cxnId="{9362E340-223F-4DB1-86D6-F6BEF184DA6D}">
      <dgm:prSet/>
      <dgm:spPr/>
      <dgm:t>
        <a:bodyPr/>
        <a:lstStyle/>
        <a:p>
          <a:endParaRPr lang="en-US"/>
        </a:p>
      </dgm:t>
    </dgm:pt>
    <dgm:pt modelId="{ED0CB611-4F76-4D2A-96A1-19DDD15D38F3}" type="sibTrans" cxnId="{9362E340-223F-4DB1-86D6-F6BEF184DA6D}">
      <dgm:prSet/>
      <dgm:spPr/>
      <dgm:t>
        <a:bodyPr/>
        <a:lstStyle/>
        <a:p>
          <a:endParaRPr lang="en-US"/>
        </a:p>
      </dgm:t>
    </dgm:pt>
    <dgm:pt modelId="{6DB29774-E028-4F5D-B20C-7C4B5C809417}" type="pres">
      <dgm:prSet presAssocID="{C3A2AC87-2ED0-49C4-91FA-EDD84EB325B5}" presName="root" presStyleCnt="0">
        <dgm:presLayoutVars>
          <dgm:dir/>
          <dgm:resizeHandles val="exact"/>
        </dgm:presLayoutVars>
      </dgm:prSet>
      <dgm:spPr/>
    </dgm:pt>
    <dgm:pt modelId="{4BFC8AB8-990E-4320-8251-3583BBA087BC}" type="pres">
      <dgm:prSet presAssocID="{C3A2AC87-2ED0-49C4-91FA-EDD84EB325B5}" presName="container" presStyleCnt="0">
        <dgm:presLayoutVars>
          <dgm:dir/>
          <dgm:resizeHandles val="exact"/>
        </dgm:presLayoutVars>
      </dgm:prSet>
      <dgm:spPr/>
    </dgm:pt>
    <dgm:pt modelId="{6BAA6371-1075-47F6-BA81-71A6A8C6E438}" type="pres">
      <dgm:prSet presAssocID="{AFFF045E-3821-40E4-B021-E4464316979F}" presName="compNode" presStyleCnt="0"/>
      <dgm:spPr/>
    </dgm:pt>
    <dgm:pt modelId="{3782F655-7F60-4784-918F-A4C369672E9C}" type="pres">
      <dgm:prSet presAssocID="{AFFF045E-3821-40E4-B021-E4464316979F}" presName="iconBgRect" presStyleLbl="bgShp" presStyleIdx="0" presStyleCnt="4"/>
      <dgm:spPr/>
    </dgm:pt>
    <dgm:pt modelId="{77766DD2-9DD2-4191-BC50-4204EB5013C0}" type="pres">
      <dgm:prSet presAssocID="{AFFF045E-3821-40E4-B021-E4464316979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3B987DDC-3A41-4CB6-A9E1-2F7C4FCBD264}" type="pres">
      <dgm:prSet presAssocID="{AFFF045E-3821-40E4-B021-E4464316979F}" presName="spaceRect" presStyleCnt="0"/>
      <dgm:spPr/>
    </dgm:pt>
    <dgm:pt modelId="{986E10C0-774B-43DA-A191-D5ABDD32783B}" type="pres">
      <dgm:prSet presAssocID="{AFFF045E-3821-40E4-B021-E4464316979F}" presName="textRect" presStyleLbl="revTx" presStyleIdx="0" presStyleCnt="4">
        <dgm:presLayoutVars>
          <dgm:chMax val="1"/>
          <dgm:chPref val="1"/>
        </dgm:presLayoutVars>
      </dgm:prSet>
      <dgm:spPr/>
    </dgm:pt>
    <dgm:pt modelId="{C3004BA6-27C5-4ABA-B304-1014C7E630F6}" type="pres">
      <dgm:prSet presAssocID="{677CD9A3-0E76-40EE-899F-B67BA1C55BED}" presName="sibTrans" presStyleLbl="sibTrans2D1" presStyleIdx="0" presStyleCnt="0"/>
      <dgm:spPr/>
    </dgm:pt>
    <dgm:pt modelId="{F23EAA68-89D0-49AA-81C2-A52FA217327A}" type="pres">
      <dgm:prSet presAssocID="{69F3D3F8-E7C8-43FE-861F-F2E2F37B90AF}" presName="compNode" presStyleCnt="0"/>
      <dgm:spPr/>
    </dgm:pt>
    <dgm:pt modelId="{0D3B8D62-0E79-4025-B451-62D2D54D3566}" type="pres">
      <dgm:prSet presAssocID="{69F3D3F8-E7C8-43FE-861F-F2E2F37B90AF}" presName="iconBgRect" presStyleLbl="bgShp" presStyleIdx="1" presStyleCnt="4"/>
      <dgm:spPr/>
    </dgm:pt>
    <dgm:pt modelId="{C66A7EDD-9526-4953-A572-0A4D1CB436DE}" type="pres">
      <dgm:prSet presAssocID="{69F3D3F8-E7C8-43FE-861F-F2E2F37B90A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Bar Chart"/>
        </a:ext>
      </dgm:extLst>
    </dgm:pt>
    <dgm:pt modelId="{C60B1F61-747E-467D-AAEE-CDEF2A76CD0F}" type="pres">
      <dgm:prSet presAssocID="{69F3D3F8-E7C8-43FE-861F-F2E2F37B90AF}" presName="spaceRect" presStyleCnt="0"/>
      <dgm:spPr/>
    </dgm:pt>
    <dgm:pt modelId="{768F6ABA-F565-49FD-825E-15B7003D78BE}" type="pres">
      <dgm:prSet presAssocID="{69F3D3F8-E7C8-43FE-861F-F2E2F37B90AF}" presName="textRect" presStyleLbl="revTx" presStyleIdx="1" presStyleCnt="4">
        <dgm:presLayoutVars>
          <dgm:chMax val="1"/>
          <dgm:chPref val="1"/>
        </dgm:presLayoutVars>
      </dgm:prSet>
      <dgm:spPr/>
    </dgm:pt>
    <dgm:pt modelId="{3007F51A-179E-42E7-A496-16EB6B3983CC}" type="pres">
      <dgm:prSet presAssocID="{E723584F-C96D-4C70-953C-4BA0A6B24B7C}" presName="sibTrans" presStyleLbl="sibTrans2D1" presStyleIdx="0" presStyleCnt="0"/>
      <dgm:spPr/>
    </dgm:pt>
    <dgm:pt modelId="{B2D948DB-59B8-4E03-9AFC-8AF7B390073C}" type="pres">
      <dgm:prSet presAssocID="{00B08739-AD66-47B9-9B37-2EF35A16C005}" presName="compNode" presStyleCnt="0"/>
      <dgm:spPr/>
    </dgm:pt>
    <dgm:pt modelId="{9324C623-F08D-4F3C-85BB-F3FF08EA8414}" type="pres">
      <dgm:prSet presAssocID="{00B08739-AD66-47B9-9B37-2EF35A16C005}" presName="iconBgRect" presStyleLbl="bgShp" presStyleIdx="2" presStyleCnt="4"/>
      <dgm:spPr/>
    </dgm:pt>
    <dgm:pt modelId="{9B14B43F-CF3C-4543-889B-B5F11AAE5C78}" type="pres">
      <dgm:prSet presAssocID="{00B08739-AD66-47B9-9B37-2EF35A16C00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4586196C-9650-4612-B005-65D47C020A9C}" type="pres">
      <dgm:prSet presAssocID="{00B08739-AD66-47B9-9B37-2EF35A16C005}" presName="spaceRect" presStyleCnt="0"/>
      <dgm:spPr/>
    </dgm:pt>
    <dgm:pt modelId="{46BE9E08-839D-425D-AE4E-064A7325B899}" type="pres">
      <dgm:prSet presAssocID="{00B08739-AD66-47B9-9B37-2EF35A16C005}" presName="textRect" presStyleLbl="revTx" presStyleIdx="2" presStyleCnt="4">
        <dgm:presLayoutVars>
          <dgm:chMax val="1"/>
          <dgm:chPref val="1"/>
        </dgm:presLayoutVars>
      </dgm:prSet>
      <dgm:spPr/>
    </dgm:pt>
    <dgm:pt modelId="{2E597E30-B0DA-4434-931F-6B971ABB6790}" type="pres">
      <dgm:prSet presAssocID="{B03B594F-EB4A-4499-919E-F8C06C0E53BB}" presName="sibTrans" presStyleLbl="sibTrans2D1" presStyleIdx="0" presStyleCnt="0"/>
      <dgm:spPr/>
    </dgm:pt>
    <dgm:pt modelId="{7ABE9679-0608-46E2-8EBE-57336CA8E7A7}" type="pres">
      <dgm:prSet presAssocID="{7BEDA514-F312-428A-B02B-6CC142E52E30}" presName="compNode" presStyleCnt="0"/>
      <dgm:spPr/>
    </dgm:pt>
    <dgm:pt modelId="{875F6074-99BD-4678-B1AF-C44305886D8C}" type="pres">
      <dgm:prSet presAssocID="{7BEDA514-F312-428A-B02B-6CC142E52E30}" presName="iconBgRect" presStyleLbl="bgShp" presStyleIdx="3" presStyleCnt="4"/>
      <dgm:spPr/>
    </dgm:pt>
    <dgm:pt modelId="{3AB610DC-9CFD-48D7-84F7-97775CE590F6}" type="pres">
      <dgm:prSet presAssocID="{7BEDA514-F312-428A-B02B-6CC142E52E3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EBB7F8D-704A-4B48-BF02-F6C106EB632F}" type="pres">
      <dgm:prSet presAssocID="{7BEDA514-F312-428A-B02B-6CC142E52E30}" presName="spaceRect" presStyleCnt="0"/>
      <dgm:spPr/>
    </dgm:pt>
    <dgm:pt modelId="{0EEDCECC-FE82-4B10-A23F-99A84B48FF56}" type="pres">
      <dgm:prSet presAssocID="{7BEDA514-F312-428A-B02B-6CC142E52E3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8A73623-78A1-44F9-822D-40A4A0F48A64}" type="presOf" srcId="{E723584F-C96D-4C70-953C-4BA0A6B24B7C}" destId="{3007F51A-179E-42E7-A496-16EB6B3983CC}" srcOrd="0" destOrd="0" presId="urn:microsoft.com/office/officeart/2018/2/layout/IconCircleList"/>
    <dgm:cxn modelId="{F100B634-5AF2-40DD-AB12-7595E5C7DBBF}" srcId="{C3A2AC87-2ED0-49C4-91FA-EDD84EB325B5}" destId="{AFFF045E-3821-40E4-B021-E4464316979F}" srcOrd="0" destOrd="0" parTransId="{F099E929-B5C6-4539-AD97-8EE4CA6793D2}" sibTransId="{677CD9A3-0E76-40EE-899F-B67BA1C55BED}"/>
    <dgm:cxn modelId="{0F717137-0975-4D76-9864-E46CD60D1889}" type="presOf" srcId="{00B08739-AD66-47B9-9B37-2EF35A16C005}" destId="{46BE9E08-839D-425D-AE4E-064A7325B899}" srcOrd="0" destOrd="0" presId="urn:microsoft.com/office/officeart/2018/2/layout/IconCircleList"/>
    <dgm:cxn modelId="{9362E340-223F-4DB1-86D6-F6BEF184DA6D}" srcId="{C3A2AC87-2ED0-49C4-91FA-EDD84EB325B5}" destId="{7BEDA514-F312-428A-B02B-6CC142E52E30}" srcOrd="3" destOrd="0" parTransId="{0DCAF916-B462-489F-A4E5-3666C852B84B}" sibTransId="{ED0CB611-4F76-4D2A-96A1-19DDD15D38F3}"/>
    <dgm:cxn modelId="{3CC1B25B-7E6F-4490-811B-81401D7FE90A}" type="presOf" srcId="{7BEDA514-F312-428A-B02B-6CC142E52E30}" destId="{0EEDCECC-FE82-4B10-A23F-99A84B48FF56}" srcOrd="0" destOrd="0" presId="urn:microsoft.com/office/officeart/2018/2/layout/IconCircleList"/>
    <dgm:cxn modelId="{A12F447F-A85F-4FEE-8279-73863DAE4BE0}" type="presOf" srcId="{B03B594F-EB4A-4499-919E-F8C06C0E53BB}" destId="{2E597E30-B0DA-4434-931F-6B971ABB6790}" srcOrd="0" destOrd="0" presId="urn:microsoft.com/office/officeart/2018/2/layout/IconCircleList"/>
    <dgm:cxn modelId="{6EA8559F-1718-466E-8FB7-8F7820805F3D}" type="presOf" srcId="{AFFF045E-3821-40E4-B021-E4464316979F}" destId="{986E10C0-774B-43DA-A191-D5ABDD32783B}" srcOrd="0" destOrd="0" presId="urn:microsoft.com/office/officeart/2018/2/layout/IconCircleList"/>
    <dgm:cxn modelId="{28E3ACC2-AE94-4C44-B48A-F6EE709697B7}" type="presOf" srcId="{C3A2AC87-2ED0-49C4-91FA-EDD84EB325B5}" destId="{6DB29774-E028-4F5D-B20C-7C4B5C809417}" srcOrd="0" destOrd="0" presId="urn:microsoft.com/office/officeart/2018/2/layout/IconCircleList"/>
    <dgm:cxn modelId="{411B00C7-618B-46CE-8219-0571C334B30C}" type="presOf" srcId="{69F3D3F8-E7C8-43FE-861F-F2E2F37B90AF}" destId="{768F6ABA-F565-49FD-825E-15B7003D78BE}" srcOrd="0" destOrd="0" presId="urn:microsoft.com/office/officeart/2018/2/layout/IconCircleList"/>
    <dgm:cxn modelId="{75009CDB-79B7-470B-8CBC-0DDDE86EBCF4}" type="presOf" srcId="{677CD9A3-0E76-40EE-899F-B67BA1C55BED}" destId="{C3004BA6-27C5-4ABA-B304-1014C7E630F6}" srcOrd="0" destOrd="0" presId="urn:microsoft.com/office/officeart/2018/2/layout/IconCircleList"/>
    <dgm:cxn modelId="{B7B963E2-CBEA-45B1-979E-5705CEE24D40}" srcId="{C3A2AC87-2ED0-49C4-91FA-EDD84EB325B5}" destId="{69F3D3F8-E7C8-43FE-861F-F2E2F37B90AF}" srcOrd="1" destOrd="0" parTransId="{F88E2D90-047C-4078-90BB-027DA2E1E86B}" sibTransId="{E723584F-C96D-4C70-953C-4BA0A6B24B7C}"/>
    <dgm:cxn modelId="{60CE83EC-D892-444D-BBC3-AC7CD5B22746}" srcId="{C3A2AC87-2ED0-49C4-91FA-EDD84EB325B5}" destId="{00B08739-AD66-47B9-9B37-2EF35A16C005}" srcOrd="2" destOrd="0" parTransId="{F9FA0043-B53B-45CD-BC01-35F639B11B8C}" sibTransId="{B03B594F-EB4A-4499-919E-F8C06C0E53BB}"/>
    <dgm:cxn modelId="{79BD4881-B2FC-46BC-A803-9A7CB46F7ADB}" type="presParOf" srcId="{6DB29774-E028-4F5D-B20C-7C4B5C809417}" destId="{4BFC8AB8-990E-4320-8251-3583BBA087BC}" srcOrd="0" destOrd="0" presId="urn:microsoft.com/office/officeart/2018/2/layout/IconCircleList"/>
    <dgm:cxn modelId="{3B80BF5E-FCA2-4F1E-99DD-6877719C4EBB}" type="presParOf" srcId="{4BFC8AB8-990E-4320-8251-3583BBA087BC}" destId="{6BAA6371-1075-47F6-BA81-71A6A8C6E438}" srcOrd="0" destOrd="0" presId="urn:microsoft.com/office/officeart/2018/2/layout/IconCircleList"/>
    <dgm:cxn modelId="{1102BC4B-B7F5-4766-A2EC-E46CB297C8B6}" type="presParOf" srcId="{6BAA6371-1075-47F6-BA81-71A6A8C6E438}" destId="{3782F655-7F60-4784-918F-A4C369672E9C}" srcOrd="0" destOrd="0" presId="urn:microsoft.com/office/officeart/2018/2/layout/IconCircleList"/>
    <dgm:cxn modelId="{C65E8BD6-FE08-4907-85EF-10D75732394A}" type="presParOf" srcId="{6BAA6371-1075-47F6-BA81-71A6A8C6E438}" destId="{77766DD2-9DD2-4191-BC50-4204EB5013C0}" srcOrd="1" destOrd="0" presId="urn:microsoft.com/office/officeart/2018/2/layout/IconCircleList"/>
    <dgm:cxn modelId="{8BB323E2-D7BA-451D-A5CF-FFDB7A42644A}" type="presParOf" srcId="{6BAA6371-1075-47F6-BA81-71A6A8C6E438}" destId="{3B987DDC-3A41-4CB6-A9E1-2F7C4FCBD264}" srcOrd="2" destOrd="0" presId="urn:microsoft.com/office/officeart/2018/2/layout/IconCircleList"/>
    <dgm:cxn modelId="{7D8EF036-89C3-426C-A8A8-A700F7D597E8}" type="presParOf" srcId="{6BAA6371-1075-47F6-BA81-71A6A8C6E438}" destId="{986E10C0-774B-43DA-A191-D5ABDD32783B}" srcOrd="3" destOrd="0" presId="urn:microsoft.com/office/officeart/2018/2/layout/IconCircleList"/>
    <dgm:cxn modelId="{B01F46FD-E1B1-4CF6-B236-4D1A0A0C2CE9}" type="presParOf" srcId="{4BFC8AB8-990E-4320-8251-3583BBA087BC}" destId="{C3004BA6-27C5-4ABA-B304-1014C7E630F6}" srcOrd="1" destOrd="0" presId="urn:microsoft.com/office/officeart/2018/2/layout/IconCircleList"/>
    <dgm:cxn modelId="{FF0FD726-6137-4263-8D63-C8E822BBB673}" type="presParOf" srcId="{4BFC8AB8-990E-4320-8251-3583BBA087BC}" destId="{F23EAA68-89D0-49AA-81C2-A52FA217327A}" srcOrd="2" destOrd="0" presId="urn:microsoft.com/office/officeart/2018/2/layout/IconCircleList"/>
    <dgm:cxn modelId="{188D8A97-2875-4171-9B7F-1FCE744374E2}" type="presParOf" srcId="{F23EAA68-89D0-49AA-81C2-A52FA217327A}" destId="{0D3B8D62-0E79-4025-B451-62D2D54D3566}" srcOrd="0" destOrd="0" presId="urn:microsoft.com/office/officeart/2018/2/layout/IconCircleList"/>
    <dgm:cxn modelId="{0937ECA5-0461-4306-99E8-064B721CF5FA}" type="presParOf" srcId="{F23EAA68-89D0-49AA-81C2-A52FA217327A}" destId="{C66A7EDD-9526-4953-A572-0A4D1CB436DE}" srcOrd="1" destOrd="0" presId="urn:microsoft.com/office/officeart/2018/2/layout/IconCircleList"/>
    <dgm:cxn modelId="{6F00F86C-9F27-4578-95F3-9A3F116C1C38}" type="presParOf" srcId="{F23EAA68-89D0-49AA-81C2-A52FA217327A}" destId="{C60B1F61-747E-467D-AAEE-CDEF2A76CD0F}" srcOrd="2" destOrd="0" presId="urn:microsoft.com/office/officeart/2018/2/layout/IconCircleList"/>
    <dgm:cxn modelId="{8C6E8B2C-5069-4CCF-9485-9168FC93779B}" type="presParOf" srcId="{F23EAA68-89D0-49AA-81C2-A52FA217327A}" destId="{768F6ABA-F565-49FD-825E-15B7003D78BE}" srcOrd="3" destOrd="0" presId="urn:microsoft.com/office/officeart/2018/2/layout/IconCircleList"/>
    <dgm:cxn modelId="{09404567-DA35-48F2-B566-961A884C88F1}" type="presParOf" srcId="{4BFC8AB8-990E-4320-8251-3583BBA087BC}" destId="{3007F51A-179E-42E7-A496-16EB6B3983CC}" srcOrd="3" destOrd="0" presId="urn:microsoft.com/office/officeart/2018/2/layout/IconCircleList"/>
    <dgm:cxn modelId="{9F937963-83BF-49AA-9505-831561AFB77A}" type="presParOf" srcId="{4BFC8AB8-990E-4320-8251-3583BBA087BC}" destId="{B2D948DB-59B8-4E03-9AFC-8AF7B390073C}" srcOrd="4" destOrd="0" presId="urn:microsoft.com/office/officeart/2018/2/layout/IconCircleList"/>
    <dgm:cxn modelId="{AC8AB82A-3BAA-4941-A841-2F0FAACF2988}" type="presParOf" srcId="{B2D948DB-59B8-4E03-9AFC-8AF7B390073C}" destId="{9324C623-F08D-4F3C-85BB-F3FF08EA8414}" srcOrd="0" destOrd="0" presId="urn:microsoft.com/office/officeart/2018/2/layout/IconCircleList"/>
    <dgm:cxn modelId="{366AFFB1-E028-4DB2-BC41-CADAD5CA79A5}" type="presParOf" srcId="{B2D948DB-59B8-4E03-9AFC-8AF7B390073C}" destId="{9B14B43F-CF3C-4543-889B-B5F11AAE5C78}" srcOrd="1" destOrd="0" presId="urn:microsoft.com/office/officeart/2018/2/layout/IconCircleList"/>
    <dgm:cxn modelId="{50C87CF6-A565-400F-9A51-A2FCAAB591BB}" type="presParOf" srcId="{B2D948DB-59B8-4E03-9AFC-8AF7B390073C}" destId="{4586196C-9650-4612-B005-65D47C020A9C}" srcOrd="2" destOrd="0" presId="urn:microsoft.com/office/officeart/2018/2/layout/IconCircleList"/>
    <dgm:cxn modelId="{F81D1A8B-2497-437F-BEB0-975C71A9BA8E}" type="presParOf" srcId="{B2D948DB-59B8-4E03-9AFC-8AF7B390073C}" destId="{46BE9E08-839D-425D-AE4E-064A7325B899}" srcOrd="3" destOrd="0" presId="urn:microsoft.com/office/officeart/2018/2/layout/IconCircleList"/>
    <dgm:cxn modelId="{221A4A7F-BEA3-4AD1-9D41-7AEC3B2F5FE5}" type="presParOf" srcId="{4BFC8AB8-990E-4320-8251-3583BBA087BC}" destId="{2E597E30-B0DA-4434-931F-6B971ABB6790}" srcOrd="5" destOrd="0" presId="urn:microsoft.com/office/officeart/2018/2/layout/IconCircleList"/>
    <dgm:cxn modelId="{8424AFF5-B6BC-4E1A-8BB5-07CB1EDBE8A1}" type="presParOf" srcId="{4BFC8AB8-990E-4320-8251-3583BBA087BC}" destId="{7ABE9679-0608-46E2-8EBE-57336CA8E7A7}" srcOrd="6" destOrd="0" presId="urn:microsoft.com/office/officeart/2018/2/layout/IconCircleList"/>
    <dgm:cxn modelId="{E538972D-0FD1-4737-9FDA-EC1D8CDE7EF9}" type="presParOf" srcId="{7ABE9679-0608-46E2-8EBE-57336CA8E7A7}" destId="{875F6074-99BD-4678-B1AF-C44305886D8C}" srcOrd="0" destOrd="0" presId="urn:microsoft.com/office/officeart/2018/2/layout/IconCircleList"/>
    <dgm:cxn modelId="{18E9E6BE-A5B7-49DA-BA4B-046C8F9CF3C7}" type="presParOf" srcId="{7ABE9679-0608-46E2-8EBE-57336CA8E7A7}" destId="{3AB610DC-9CFD-48D7-84F7-97775CE590F6}" srcOrd="1" destOrd="0" presId="urn:microsoft.com/office/officeart/2018/2/layout/IconCircleList"/>
    <dgm:cxn modelId="{200FD38B-AE43-4C4F-91B4-FE8BBC86CF02}" type="presParOf" srcId="{7ABE9679-0608-46E2-8EBE-57336CA8E7A7}" destId="{DEBB7F8D-704A-4B48-BF02-F6C106EB632F}" srcOrd="2" destOrd="0" presId="urn:microsoft.com/office/officeart/2018/2/layout/IconCircleList"/>
    <dgm:cxn modelId="{4129AC14-C990-4977-A64C-4C9C23651D7D}" type="presParOf" srcId="{7ABE9679-0608-46E2-8EBE-57336CA8E7A7}" destId="{0EEDCECC-FE82-4B10-A23F-99A84B48FF5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82F655-7F60-4784-918F-A4C369672E9C}">
      <dsp:nvSpPr>
        <dsp:cNvPr id="0" name=""/>
        <dsp:cNvSpPr/>
      </dsp:nvSpPr>
      <dsp:spPr>
        <a:xfrm>
          <a:off x="18535" y="450978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766DD2-9DD2-4191-BC50-4204EB5013C0}">
      <dsp:nvSpPr>
        <dsp:cNvPr id="0" name=""/>
        <dsp:cNvSpPr/>
      </dsp:nvSpPr>
      <dsp:spPr>
        <a:xfrm>
          <a:off x="245361" y="677804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6E10C0-774B-43DA-A191-D5ABDD32783B}">
      <dsp:nvSpPr>
        <dsp:cNvPr id="0" name=""/>
        <dsp:cNvSpPr/>
      </dsp:nvSpPr>
      <dsp:spPr>
        <a:xfrm>
          <a:off x="1330115" y="450978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Goal: Understand support performance across BE, CH, IE, NL and identify improvement levers.</a:t>
          </a:r>
          <a:endParaRPr lang="en-US" sz="1600" kern="1200"/>
        </a:p>
      </dsp:txBody>
      <dsp:txXfrm>
        <a:off x="1330115" y="450978"/>
        <a:ext cx="2546008" cy="1080124"/>
      </dsp:txXfrm>
    </dsp:sp>
    <dsp:sp modelId="{0D3B8D62-0E79-4025-B451-62D2D54D3566}">
      <dsp:nvSpPr>
        <dsp:cNvPr id="0" name=""/>
        <dsp:cNvSpPr/>
      </dsp:nvSpPr>
      <dsp:spPr>
        <a:xfrm>
          <a:off x="4319746" y="450978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6A7EDD-9526-4953-A572-0A4D1CB436DE}">
      <dsp:nvSpPr>
        <dsp:cNvPr id="0" name=""/>
        <dsp:cNvSpPr/>
      </dsp:nvSpPr>
      <dsp:spPr>
        <a:xfrm>
          <a:off x="4546573" y="677804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8F6ABA-F565-49FD-825E-15B7003D78BE}">
      <dsp:nvSpPr>
        <dsp:cNvPr id="0" name=""/>
        <dsp:cNvSpPr/>
      </dsp:nvSpPr>
      <dsp:spPr>
        <a:xfrm>
          <a:off x="5631327" y="450978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Data: ~430k interactions (1 row = 1 merchant → support interaction) across 2024 sample used as 2022 proxy.</a:t>
          </a:r>
        </a:p>
      </dsp:txBody>
      <dsp:txXfrm>
        <a:off x="5631327" y="450978"/>
        <a:ext cx="2546008" cy="1080124"/>
      </dsp:txXfrm>
    </dsp:sp>
    <dsp:sp modelId="{9324C623-F08D-4F3C-85BB-F3FF08EA8414}">
      <dsp:nvSpPr>
        <dsp:cNvPr id="0" name=""/>
        <dsp:cNvSpPr/>
      </dsp:nvSpPr>
      <dsp:spPr>
        <a:xfrm>
          <a:off x="18535" y="2158301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14B43F-CF3C-4543-889B-B5F11AAE5C78}">
      <dsp:nvSpPr>
        <dsp:cNvPr id="0" name=""/>
        <dsp:cNvSpPr/>
      </dsp:nvSpPr>
      <dsp:spPr>
        <a:xfrm>
          <a:off x="245361" y="2385128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BE9E08-839D-425D-AE4E-064A7325B899}">
      <dsp:nvSpPr>
        <dsp:cNvPr id="0" name=""/>
        <dsp:cNvSpPr/>
      </dsp:nvSpPr>
      <dsp:spPr>
        <a:xfrm>
          <a:off x="1330115" y="2158301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Key fields: merchant, product (classification), channel, agent company, dates, handling &amp; response times.</a:t>
          </a:r>
        </a:p>
      </dsp:txBody>
      <dsp:txXfrm>
        <a:off x="1330115" y="2158301"/>
        <a:ext cx="2546008" cy="1080124"/>
      </dsp:txXfrm>
    </dsp:sp>
    <dsp:sp modelId="{875F6074-99BD-4678-B1AF-C44305886D8C}">
      <dsp:nvSpPr>
        <dsp:cNvPr id="0" name=""/>
        <dsp:cNvSpPr/>
      </dsp:nvSpPr>
      <dsp:spPr>
        <a:xfrm>
          <a:off x="4319746" y="2158301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B610DC-9CFD-48D7-84F7-97775CE590F6}">
      <dsp:nvSpPr>
        <dsp:cNvPr id="0" name=""/>
        <dsp:cNvSpPr/>
      </dsp:nvSpPr>
      <dsp:spPr>
        <a:xfrm>
          <a:off x="4546573" y="2385128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EDCECC-FE82-4B10-A23F-99A84B48FF56}">
      <dsp:nvSpPr>
        <dsp:cNvPr id="0" name=""/>
        <dsp:cNvSpPr/>
      </dsp:nvSpPr>
      <dsp:spPr>
        <a:xfrm>
          <a:off x="5631327" y="2158301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Focus metrics: recontacts on the same product, resolution quality, and channel costs.</a:t>
          </a:r>
        </a:p>
      </dsp:txBody>
      <dsp:txXfrm>
        <a:off x="5631327" y="2158301"/>
        <a:ext cx="2546008" cy="10801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 b="1">
                <a:solidFill>
                  <a:srgbClr val="FFFFFF"/>
                </a:solidFill>
                <a:latin typeface="Calibri"/>
              </a:rPr>
              <a:t>Operations Analytics Lead –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b="0">
                <a:latin typeface="Calibri"/>
              </a:rPr>
              <a:t>Merchant Support Performance – 4 Countries, 3 Channels, 3 Agent Companies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en-US" sz="2000"/>
              <a:t>Context &amp; Dataset</a:t>
            </a:r>
          </a:p>
          <a:p>
            <a:pPr>
              <a:defRPr sz="2000"/>
            </a:pPr>
            <a:r>
              <a:rPr lang="en-US" sz="2000"/>
              <a:t>Key Concepts &amp; Definitions</a:t>
            </a:r>
          </a:p>
          <a:p>
            <a:pPr>
              <a:defRPr sz="2000"/>
            </a:pPr>
            <a:r>
              <a:rPr lang="en-US" sz="2000"/>
              <a:t>Executive Summary</a:t>
            </a:r>
          </a:p>
          <a:p>
            <a:pPr>
              <a:defRPr sz="2000"/>
            </a:pPr>
            <a:r>
              <a:rPr lang="en-US" sz="2000"/>
              <a:t>Q1 – Resolution Window</a:t>
            </a:r>
          </a:p>
          <a:p>
            <a:pPr>
              <a:defRPr sz="2000"/>
            </a:pPr>
            <a:r>
              <a:rPr lang="en-US" sz="2000"/>
              <a:t>Q2 – Channel Performance by Country</a:t>
            </a:r>
          </a:p>
          <a:p>
            <a:pPr>
              <a:defRPr sz="2000"/>
            </a:pPr>
            <a:r>
              <a:rPr lang="en-US" sz="2000"/>
              <a:t>Q3 – Agent Company Performance</a:t>
            </a:r>
          </a:p>
          <a:p>
            <a:pPr>
              <a:defRPr sz="2000"/>
            </a:pPr>
            <a:r>
              <a:rPr lang="en-US" sz="2000"/>
              <a:t>Q4 – Merchant Repeat Contacts &amp; Products</a:t>
            </a:r>
          </a:p>
          <a:p>
            <a:pPr>
              <a:defRPr sz="2000"/>
            </a:pPr>
            <a:r>
              <a:rPr lang="en-US" sz="2000"/>
              <a:t>Q5 – Cost per Channel (Methodology &amp; Insights)</a:t>
            </a:r>
          </a:p>
          <a:p>
            <a:pPr>
              <a:defRPr sz="2000"/>
            </a:pPr>
            <a:r>
              <a:rPr lang="en-US" sz="2000"/>
              <a:t>Channel &amp; Operations Strategy –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  <a:latin typeface="Calibri"/>
              </a:rPr>
              <a:t>Context &amp; Dataset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B7EB00-85AA-01BD-A0E6-6B177CFC05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342471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b="1" dirty="0">
                <a:solidFill>
                  <a:srgbClr val="FFFFFF"/>
                </a:solidFill>
                <a:latin typeface="Calibri"/>
              </a:rPr>
              <a:t>Key Concepts &amp;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1700" b="1">
                <a:latin typeface="Calibri"/>
              </a:rPr>
              <a:t>Interaction: One contact from a merchant to Support (via email, call, or chat).</a:t>
            </a:r>
          </a:p>
          <a:p>
            <a:pPr>
              <a:defRPr sz="1800"/>
            </a:pPr>
            <a:r>
              <a:rPr lang="en-US" sz="1700">
                <a:latin typeface="Calibri"/>
              </a:rPr>
              <a:t>Recontact: Same merchant, same product (classification), later interaction within X days.</a:t>
            </a:r>
          </a:p>
          <a:p>
            <a:pPr>
              <a:defRPr sz="1800"/>
            </a:pPr>
            <a:r>
              <a:rPr lang="en-US" sz="1700">
                <a:latin typeface="Calibri"/>
              </a:rPr>
              <a:t>Agent-resolved interaction: IS_RESOLVING_INTERACTION = TRUE.</a:t>
            </a:r>
          </a:p>
          <a:p>
            <a:pPr>
              <a:defRPr sz="1800"/>
            </a:pPr>
            <a:r>
              <a:rPr lang="en-US" sz="1700">
                <a:latin typeface="Calibri"/>
              </a:rPr>
              <a:t>Analytical definition of 'resolved': agent-resolved AND no same-product recontact within chosen window.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9FB5B7-DA5C-9E41-EA0F-7208F8F5A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b="1" dirty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D764D-E0BC-0640-E97B-62AC12C70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I assess support performance using </a:t>
            </a:r>
            <a:r>
              <a:rPr lang="en-US" sz="1700" b="1"/>
              <a:t>7-day recontact rate on resolving interactions</a:t>
            </a:r>
            <a:r>
              <a:rPr lang="en-US" sz="1700"/>
              <a:t> (same merchant + product): lower recontact rate = better first-contact resolution.</a:t>
            </a:r>
          </a:p>
          <a:p>
            <a:r>
              <a:rPr lang="en-US" sz="1700"/>
              <a:t>In </a:t>
            </a:r>
            <a:r>
              <a:rPr lang="en-US" sz="1700" b="1"/>
              <a:t>December 2024</a:t>
            </a:r>
            <a:r>
              <a:rPr lang="en-US" sz="1700"/>
              <a:t>, </a:t>
            </a:r>
            <a:r>
              <a:rPr lang="en-US" sz="1700" b="1"/>
              <a:t>chat</a:t>
            </a:r>
            <a:r>
              <a:rPr lang="en-US" sz="1700"/>
              <a:t> has the best resolution quality (</a:t>
            </a:r>
            <a:r>
              <a:rPr lang="en-US" sz="1700" b="1"/>
              <a:t>32%</a:t>
            </a:r>
            <a:r>
              <a:rPr lang="en-US" sz="1700"/>
              <a:t> recontact rate), followed by </a:t>
            </a:r>
            <a:r>
              <a:rPr lang="en-US" sz="1700" b="1"/>
              <a:t>call</a:t>
            </a:r>
            <a:r>
              <a:rPr lang="en-US" sz="1700"/>
              <a:t> (</a:t>
            </a:r>
            <a:r>
              <a:rPr lang="en-US" sz="1700" b="1"/>
              <a:t>39%</a:t>
            </a:r>
            <a:r>
              <a:rPr lang="en-US" sz="1700"/>
              <a:t>), while </a:t>
            </a:r>
            <a:r>
              <a:rPr lang="en-US" sz="1700" b="1"/>
              <a:t>email</a:t>
            </a:r>
            <a:r>
              <a:rPr lang="en-US" sz="1700"/>
              <a:t> performs worst (</a:t>
            </a:r>
            <a:r>
              <a:rPr lang="en-US" sz="1700" b="1"/>
              <a:t>50%</a:t>
            </a:r>
            <a:r>
              <a:rPr lang="en-US" sz="1700"/>
              <a:t>), confirming that asynchronous tickets are more likely to require follow-ups.</a:t>
            </a:r>
          </a:p>
          <a:p>
            <a:r>
              <a:rPr lang="en-US" sz="1700"/>
              <a:t>Among providers, </a:t>
            </a:r>
            <a:r>
              <a:rPr lang="en-US" sz="1700" b="1"/>
              <a:t>COMPANY_3</a:t>
            </a:r>
            <a:r>
              <a:rPr lang="en-US" sz="1700"/>
              <a:t> shows the strongest performance (</a:t>
            </a:r>
            <a:r>
              <a:rPr lang="en-US" sz="1700" b="1"/>
              <a:t>38%</a:t>
            </a:r>
            <a:r>
              <a:rPr lang="en-US" sz="1700"/>
              <a:t> recontact rate), while </a:t>
            </a:r>
            <a:r>
              <a:rPr lang="en-US" sz="1700" b="1"/>
              <a:t>COMPANY_2</a:t>
            </a:r>
            <a:r>
              <a:rPr lang="en-US" sz="1700"/>
              <a:t> and </a:t>
            </a:r>
            <a:r>
              <a:rPr lang="en-US" sz="1700" b="1"/>
              <a:t>COMPANY_1</a:t>
            </a:r>
            <a:r>
              <a:rPr lang="en-US" sz="1700"/>
              <a:t> trail behind (</a:t>
            </a:r>
            <a:r>
              <a:rPr lang="en-US" sz="1700" b="1"/>
              <a:t>46–47%</a:t>
            </a:r>
            <a:r>
              <a:rPr lang="en-US" sz="1700"/>
              <a:t>); throughout the analysis, **“best” is defined as the </a:t>
            </a:r>
            <a:r>
              <a:rPr lang="en-US" sz="1700" b="1"/>
              <a:t>lowest 7-day recontact rate</a:t>
            </a:r>
            <a:r>
              <a:rPr lang="en-US" sz="1700"/>
              <a:t> and </a:t>
            </a:r>
            <a:r>
              <a:rPr lang="en-US" sz="1700" b="1"/>
              <a:t>“worst” as the highest</a:t>
            </a:r>
            <a:r>
              <a:rPr lang="en-US" sz="1700"/>
              <a:t> on this metric.</a:t>
            </a:r>
          </a:p>
        </p:txBody>
      </p:sp>
    </p:spTree>
    <p:extLst>
      <p:ext uri="{BB962C8B-B14F-4D97-AF65-F5344CB8AC3E}">
        <p14:creationId xmlns:p14="http://schemas.microsoft.com/office/powerpoint/2010/main" val="1225812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3097E-D243-E283-37C3-19B3A79C7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61E83-EBF1-23E3-B324-74400CB3E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7D5FC52-2C95-F7C8-CF40-D1C9DFE08A4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417638"/>
          <a:ext cx="8157884" cy="1935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471">
                  <a:extLst>
                    <a:ext uri="{9D8B030D-6E8A-4147-A177-3AD203B41FA5}">
                      <a16:colId xmlns:a16="http://schemas.microsoft.com/office/drawing/2014/main" val="3061824233"/>
                    </a:ext>
                  </a:extLst>
                </a:gridCol>
                <a:gridCol w="2039471">
                  <a:extLst>
                    <a:ext uri="{9D8B030D-6E8A-4147-A177-3AD203B41FA5}">
                      <a16:colId xmlns:a16="http://schemas.microsoft.com/office/drawing/2014/main" val="2970185961"/>
                    </a:ext>
                  </a:extLst>
                </a:gridCol>
                <a:gridCol w="2039471">
                  <a:extLst>
                    <a:ext uri="{9D8B030D-6E8A-4147-A177-3AD203B41FA5}">
                      <a16:colId xmlns:a16="http://schemas.microsoft.com/office/drawing/2014/main" val="397327584"/>
                    </a:ext>
                  </a:extLst>
                </a:gridCol>
                <a:gridCol w="2039471">
                  <a:extLst>
                    <a:ext uri="{9D8B030D-6E8A-4147-A177-3AD203B41FA5}">
                      <a16:colId xmlns:a16="http://schemas.microsoft.com/office/drawing/2014/main" val="2060473691"/>
                    </a:ext>
                  </a:extLst>
                </a:gridCol>
              </a:tblGrid>
              <a:tr h="706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Channel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Resolving interactions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Recontacts ≤7d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7d recontact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002522"/>
                  </a:ext>
                </a:extLst>
              </a:tr>
              <a:tr h="409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chat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2,711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32.1%</a:t>
                      </a:r>
                      <a:r>
                        <a:rPr lang="en-US"/>
                        <a:t> (best)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206521"/>
                  </a:ext>
                </a:extLst>
              </a:tr>
              <a:tr h="409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call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3,897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1,501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38.5%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3730342"/>
                  </a:ext>
                </a:extLst>
              </a:tr>
              <a:tr h="409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email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18,154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8,997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49.6%</a:t>
                      </a:r>
                      <a:r>
                        <a:rPr lang="en-US" dirty="0"/>
                        <a:t> (worst)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564814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97ABE8B-7369-39B7-A370-17F2824B1B2D}"/>
              </a:ext>
            </a:extLst>
          </p:cNvPr>
          <p:cNvGraphicFramePr>
            <a:graphicFrameLocks noGrp="1"/>
          </p:cNvGraphicFramePr>
          <p:nvPr/>
        </p:nvGraphicFramePr>
        <p:xfrm>
          <a:off x="457199" y="3963620"/>
          <a:ext cx="8157884" cy="1935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471">
                  <a:extLst>
                    <a:ext uri="{9D8B030D-6E8A-4147-A177-3AD203B41FA5}">
                      <a16:colId xmlns:a16="http://schemas.microsoft.com/office/drawing/2014/main" val="1057365897"/>
                    </a:ext>
                  </a:extLst>
                </a:gridCol>
                <a:gridCol w="2039471">
                  <a:extLst>
                    <a:ext uri="{9D8B030D-6E8A-4147-A177-3AD203B41FA5}">
                      <a16:colId xmlns:a16="http://schemas.microsoft.com/office/drawing/2014/main" val="1788365274"/>
                    </a:ext>
                  </a:extLst>
                </a:gridCol>
                <a:gridCol w="2039471">
                  <a:extLst>
                    <a:ext uri="{9D8B030D-6E8A-4147-A177-3AD203B41FA5}">
                      <a16:colId xmlns:a16="http://schemas.microsoft.com/office/drawing/2014/main" val="1042976640"/>
                    </a:ext>
                  </a:extLst>
                </a:gridCol>
                <a:gridCol w="2039471">
                  <a:extLst>
                    <a:ext uri="{9D8B030D-6E8A-4147-A177-3AD203B41FA5}">
                      <a16:colId xmlns:a16="http://schemas.microsoft.com/office/drawing/2014/main" val="3521913743"/>
                    </a:ext>
                  </a:extLst>
                </a:gridCol>
              </a:tblGrid>
              <a:tr h="706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Agent company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Resolving interactions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Recontacts ≤7d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7d recontact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7440536"/>
                  </a:ext>
                </a:extLst>
              </a:tr>
              <a:tr h="409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COMPANY_3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2,387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38.1%</a:t>
                      </a:r>
                      <a:r>
                        <a:rPr lang="en-US"/>
                        <a:t> (best)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6321703"/>
                  </a:ext>
                </a:extLst>
              </a:tr>
              <a:tr h="409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COMPANY_2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7,419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3,415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46.0%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429279"/>
                  </a:ext>
                </a:extLst>
              </a:tr>
              <a:tr h="409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COMPANY_1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14,956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7,042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47.1%</a:t>
                      </a:r>
                      <a:r>
                        <a:rPr lang="en-US" dirty="0"/>
                        <a:t> (worst)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407736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C40BD54-2D40-C94D-93EA-251A78AA6E88}"/>
              </a:ext>
            </a:extLst>
          </p:cNvPr>
          <p:cNvSpPr txBox="1"/>
          <p:nvPr/>
        </p:nvSpPr>
        <p:spPr>
          <a:xfrm>
            <a:off x="457200" y="5898782"/>
            <a:ext cx="43120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Definition: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Best provider</a:t>
            </a:r>
            <a:r>
              <a:rPr lang="en-US" sz="1200" dirty="0"/>
              <a:t> = lowest </a:t>
            </a:r>
            <a:r>
              <a:rPr lang="en-US" sz="1200" dirty="0">
                <a:latin typeface="Courier New" panose="02070309020205020404" pitchFamily="49" charset="0"/>
              </a:rPr>
              <a:t>recontact_rate_7d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Worst provider</a:t>
            </a:r>
            <a:r>
              <a:rPr lang="en-US" sz="1200" dirty="0"/>
              <a:t> = highest </a:t>
            </a:r>
            <a:r>
              <a:rPr lang="en-US" sz="1200" dirty="0">
                <a:latin typeface="Courier New" panose="02070309020205020404" pitchFamily="49" charset="0"/>
              </a:rPr>
              <a:t>recontact_rate_7d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2AEF7B-378B-BC24-FC40-D2FC8AE3D47C}"/>
              </a:ext>
            </a:extLst>
          </p:cNvPr>
          <p:cNvSpPr txBox="1"/>
          <p:nvPr/>
        </p:nvSpPr>
        <p:spPr>
          <a:xfrm>
            <a:off x="457198" y="335372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Definition: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Best channel</a:t>
            </a:r>
            <a:r>
              <a:rPr lang="en-US" sz="1200" dirty="0"/>
              <a:t> = lowest </a:t>
            </a:r>
            <a:r>
              <a:rPr lang="en-US" sz="1200" dirty="0">
                <a:latin typeface="Courier New" panose="02070309020205020404" pitchFamily="49" charset="0"/>
              </a:rPr>
              <a:t>recontact_rate_7d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Worst channel</a:t>
            </a:r>
            <a:r>
              <a:rPr lang="en-US" sz="1200" dirty="0"/>
              <a:t> = highest </a:t>
            </a:r>
            <a:r>
              <a:rPr lang="en-US" sz="1200" dirty="0">
                <a:latin typeface="Courier New" panose="02070309020205020404" pitchFamily="49" charset="0"/>
              </a:rPr>
              <a:t>recontact_rate_7d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94775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1">
                <a:solidFill>
                  <a:srgbClr val="FFFFFF"/>
                </a:solidFill>
                <a:latin typeface="Calibri"/>
              </a:rPr>
              <a:t>Q1 – Resolution Window: Insights &amp;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1700" b="1">
                <a:latin typeface="Calibri"/>
              </a:rPr>
              <a:t>Recontacts are heavily front-loaded: large share within the first 3–7 days.</a:t>
            </a:r>
          </a:p>
          <a:p>
            <a:pPr>
              <a:defRPr sz="1800"/>
            </a:pPr>
            <a:r>
              <a:rPr lang="en-US" sz="1700">
                <a:latin typeface="Calibri"/>
              </a:rPr>
              <a:t>A 7-day window already captures the majority of recontacts; longer windows add diminishing returns.</a:t>
            </a:r>
          </a:p>
          <a:p>
            <a:pPr>
              <a:defRPr sz="1800"/>
            </a:pPr>
            <a:r>
              <a:rPr lang="en-US" sz="1700">
                <a:latin typeface="Calibri"/>
              </a:rPr>
              <a:t>Shorter windows give faster feedback but risk classifying unresolved issues as resolved.</a:t>
            </a:r>
          </a:p>
          <a:p>
            <a:pPr>
              <a:defRPr sz="1800"/>
            </a:pPr>
            <a:r>
              <a:rPr lang="en-US" sz="1700">
                <a:latin typeface="Calibri"/>
              </a:rPr>
              <a:t>Recommendation: Use a 7–10 day window and define 'resolved' as: IS_RESOLVING_INTERACTION = TRUE + no same-product recontact within that window.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  <a:latin typeface="Calibri"/>
              </a:rPr>
              <a:t>Q2 – Channel Performance by Country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1700" b="1">
                <a:latin typeface="Calibri"/>
              </a:rPr>
              <a:t>Metric: 7-day recontact rate on interactions marked as resolving (lower = better).</a:t>
            </a:r>
          </a:p>
          <a:p>
            <a:pPr>
              <a:defRPr sz="1800"/>
            </a:pPr>
            <a:r>
              <a:rPr lang="en-US" sz="1700">
                <a:latin typeface="Calibri"/>
              </a:rPr>
              <a:t>Across BE, CH, IE, NL, calls have the lowest recontact rate → best-performing channel.</a:t>
            </a:r>
          </a:p>
          <a:p>
            <a:pPr>
              <a:defRPr sz="1800"/>
            </a:pPr>
            <a:r>
              <a:rPr lang="en-US" sz="1700">
                <a:latin typeface="Calibri"/>
              </a:rPr>
              <a:t>Chats have by far the highest recontact rates in all countries → worst-performing channel.</a:t>
            </a:r>
          </a:p>
          <a:p>
            <a:pPr>
              <a:defRPr sz="1800"/>
            </a:pPr>
            <a:r>
              <a:rPr lang="en-US" sz="1700">
                <a:latin typeface="Calibri"/>
              </a:rPr>
              <a:t>Email consistently sits in the middle; an opportunity to better triage issues into the right channel.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  <a:latin typeface="Calibri"/>
              </a:rPr>
              <a:t>Q3 – Agent Company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1700" b="1">
                <a:latin typeface="Calibri"/>
              </a:rPr>
              <a:t>Metric: 7-day recontact rate on resolving interactions by agent company.</a:t>
            </a:r>
          </a:p>
          <a:p>
            <a:pPr>
              <a:defRPr sz="1800"/>
            </a:pPr>
            <a:r>
              <a:rPr lang="en-US" sz="1700">
                <a:latin typeface="Calibri"/>
              </a:rPr>
              <a:t>COMPANY_3 shows the lowest recontact rate overall → best performance on keeping issues resolved.</a:t>
            </a:r>
          </a:p>
          <a:p>
            <a:pPr>
              <a:defRPr sz="1800"/>
            </a:pPr>
            <a:r>
              <a:rPr lang="en-US" sz="1700">
                <a:latin typeface="Calibri"/>
              </a:rPr>
              <a:t>COMPANY_1 is mid-range; COMPANY_2 has the highest recontact rates → opportunity for coaching and process review.</a:t>
            </a:r>
          </a:p>
          <a:p>
            <a:pPr>
              <a:defRPr sz="1800"/>
            </a:pPr>
            <a:r>
              <a:rPr lang="en-US" sz="1700">
                <a:latin typeface="Calibri"/>
              </a:rPr>
              <a:t>Next steps: Deep-dive COMPANY_2 by product and channel to identify systematic issues.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1">
                <a:solidFill>
                  <a:srgbClr val="FFFFFF"/>
                </a:solidFill>
                <a:latin typeface="Calibri"/>
              </a:rPr>
              <a:t>Q4 – Merchant Repeat Contacts &amp;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1700" b="1">
                <a:latin typeface="Calibri"/>
              </a:rPr>
              <a:t>Approximately 65% of merchants contact Support more than once in the year.</a:t>
            </a:r>
          </a:p>
          <a:p>
            <a:pPr>
              <a:defRPr sz="1800"/>
            </a:pPr>
            <a:r>
              <a:rPr lang="en-US" sz="1700">
                <a:latin typeface="Calibri"/>
              </a:rPr>
              <a:t>A meaningful minority have 5+ or even 10+ contacts, indicating heavy support users.</a:t>
            </a:r>
          </a:p>
          <a:p>
            <a:pPr>
              <a:defRPr sz="1800"/>
            </a:pPr>
            <a:r>
              <a:rPr lang="en-US" sz="1700">
                <a:latin typeface="Calibri"/>
              </a:rPr>
              <a:t>Products with highest repeat contact volume and/or rate: profile, hardware, misc, banking, online payments.</a:t>
            </a:r>
          </a:p>
          <a:p>
            <a:pPr>
              <a:defRPr sz="1800"/>
            </a:pPr>
            <a:r>
              <a:rPr lang="en-US" sz="1700">
                <a:latin typeface="Calibri"/>
              </a:rPr>
              <a:t>These product areas are prime candidates for better self-service, clearer communication, and product improvements.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  <a:latin typeface="Calibri"/>
              </a:rPr>
              <a:t>Q5 – Cost per Channel: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1700" b="1">
                <a:latin typeface="Calibri"/>
              </a:rPr>
              <a:t>Assumption: Monthly Support budget = €0.5M; main cost driver is agent handling time.</a:t>
            </a:r>
          </a:p>
          <a:p>
            <a:pPr>
              <a:defRPr sz="1800"/>
            </a:pPr>
            <a:r>
              <a:rPr lang="en-US" sz="1700">
                <a:latin typeface="Calibri"/>
              </a:rPr>
              <a:t>Per channel, sum INTERACTION_HANDLING_TIME and convert to hours.</a:t>
            </a:r>
          </a:p>
          <a:p>
            <a:pPr>
              <a:defRPr sz="1800"/>
            </a:pPr>
            <a:r>
              <a:rPr lang="en-US" sz="1700">
                <a:latin typeface="Calibri"/>
              </a:rPr>
              <a:t>Adjust for concurrency: calls &amp; email at 1×, chat at 1/3× (3 chats in parallel).</a:t>
            </a:r>
          </a:p>
          <a:p>
            <a:pPr>
              <a:defRPr sz="1800"/>
            </a:pPr>
            <a:r>
              <a:rPr lang="en-US" sz="1700">
                <a:latin typeface="Calibri"/>
              </a:rPr>
              <a:t>Allocate the €0.5M budget proportional to effective agent hours, then compute cost per interaction (and per resolved interaction).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  <a:latin typeface="Calibri"/>
              </a:rPr>
              <a:t>Q5 – Cost per Channel: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>
              <a:defRPr sz="1800"/>
            </a:pPr>
            <a:r>
              <a:rPr lang="en-US" sz="1700" b="1">
                <a:latin typeface="Calibri"/>
              </a:rPr>
              <a:t>Email consumes the majority of effective agent hours due to long handling times and no concurrency.</a:t>
            </a:r>
          </a:p>
          <a:p>
            <a:pPr>
              <a:defRPr sz="1800"/>
            </a:pPr>
            <a:r>
              <a:rPr lang="en-US" sz="1700">
                <a:latin typeface="Calibri"/>
              </a:rPr>
              <a:t>Chat is the cheapest per interaction, thanks to concurrency, but currently has poor resolution quality.</a:t>
            </a:r>
          </a:p>
          <a:p>
            <a:pPr>
              <a:defRPr sz="1800"/>
            </a:pPr>
            <a:r>
              <a:rPr lang="en-US" sz="1700">
                <a:latin typeface="Calibri"/>
              </a:rPr>
              <a:t>Calls offer a good balance: strong resolution quality at a moderate cost per interaction.</a:t>
            </a:r>
          </a:p>
          <a:p>
            <a:pPr>
              <a:defRPr sz="1800"/>
            </a:pPr>
            <a:r>
              <a:rPr lang="en-US" sz="1700">
                <a:latin typeface="Calibri"/>
              </a:rPr>
              <a:t>Implication: shift simple, repetitive emails into self-service or structured flows; improve chat journeys before scaling.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</TotalTime>
  <Words>899</Words>
  <Application>Microsoft Office PowerPoint</Application>
  <PresentationFormat>On-screen Show (4:3)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Operations Analytics Lead – Case Study</vt:lpstr>
      <vt:lpstr>Agenda</vt:lpstr>
      <vt:lpstr>Context &amp; Dataset</vt:lpstr>
      <vt:lpstr>Key Concepts &amp; Definitions</vt:lpstr>
      <vt:lpstr>Executive Summary</vt:lpstr>
      <vt:lpstr>Executive Summary</vt:lpstr>
      <vt:lpstr>Q1 – Resolution Window: Insights &amp; Recommendation</vt:lpstr>
      <vt:lpstr>Q2 – Channel Performance by Country</vt:lpstr>
      <vt:lpstr>Q3 – Agent Company Performance</vt:lpstr>
      <vt:lpstr>Q4 – Merchant Repeat Contacts &amp; Products</vt:lpstr>
      <vt:lpstr>Q5 – Cost per Channel: Methodology</vt:lpstr>
      <vt:lpstr>Q5 – Cost per Channel: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Abeer Khan</dc:creator>
  <cp:keywords/>
  <dc:description>generated using python-pptx</dc:description>
  <cp:lastModifiedBy>Abeer Khan</cp:lastModifiedBy>
  <cp:revision>6</cp:revision>
  <dcterms:created xsi:type="dcterms:W3CDTF">2013-01-27T09:14:16Z</dcterms:created>
  <dcterms:modified xsi:type="dcterms:W3CDTF">2025-12-08T13:55:24Z</dcterms:modified>
  <cp:category/>
</cp:coreProperties>
</file>