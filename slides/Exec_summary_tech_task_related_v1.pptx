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69" r:id="rId3"/>
    <p:sldId id="257" r:id="rId4"/>
    <p:sldId id="258" r:id="rId5"/>
    <p:sldId id="271" r:id="rId6"/>
    <p:sldId id="260" r:id="rId7"/>
    <p:sldId id="261" r:id="rId8"/>
    <p:sldId id="262" r:id="rId9"/>
    <p:sldId id="263" r:id="rId10"/>
    <p:sldId id="264" r:id="rId11"/>
    <p:sldId id="265" r:id="rId1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71" d="100"/>
          <a:sy n="71" d="100"/>
        </p:scale>
        <p:origin x="1140" y="4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rts/_rels/chart1.xml.rels><?xml version="1.0" encoding="UTF-8" standalone="yes"?>
<Relationships xmlns="http://schemas.openxmlformats.org/package/2006/relationships"><Relationship Id="rId3" Type="http://schemas.openxmlformats.org/officeDocument/2006/relationships/oleObject" Target="file:///C:\Users\AKhan\Downloads\bq-results-20251211-164545-1765472158854.csv"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C:\Users\AKhan\Downloads\bq-results-20251211-164545-1765472158854.csv"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file:///C:\Users\AKhan\Downloads\bq-results-20251211-164545-1765472158854.csv"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C:\Users\AKhan\Downloads\bq-results-20251211-164545-1765472158854.csv"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file:///C:\Users\AKhan\Downloads\bq-results-20251211-164545-1765472158854.csv" TargetMode="External"/><Relationship Id="rId2" Type="http://schemas.microsoft.com/office/2011/relationships/chartColorStyle" Target="colors5.xml"/><Relationship Id="rId1" Type="http://schemas.microsoft.com/office/2011/relationships/chartStyle" Target="style5.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sz="1400" b="0" i="0" u="none" strike="noStrike" kern="1200" spc="0" baseline="0">
                <a:solidFill>
                  <a:sysClr val="windowText" lastClr="000000">
                    <a:lumMod val="65000"/>
                    <a:lumOff val="35000"/>
                  </a:sysClr>
                </a:solidFill>
                <a:latin typeface="+mn-lt"/>
                <a:ea typeface="+mn-ea"/>
                <a:cs typeface="+mn-cs"/>
              </a:defRPr>
            </a:pPr>
            <a:r>
              <a:rPr lang="en-US" dirty="0"/>
              <a:t>Out of ~25k 'resolved’</a:t>
            </a:r>
            <a:r>
              <a:rPr lang="en-US" baseline="0" dirty="0"/>
              <a:t> interactions </a:t>
            </a:r>
            <a:r>
              <a:rPr lang="en-US" sz="1400" b="0" i="0" u="none" strike="noStrike" kern="1200" spc="0" baseline="0" dirty="0">
                <a:solidFill>
                  <a:sysClr val="windowText" lastClr="000000">
                    <a:lumMod val="65000"/>
                    <a:lumOff val="35000"/>
                  </a:sysClr>
                </a:solidFill>
              </a:rPr>
              <a:t>for Dec'24</a:t>
            </a:r>
            <a:r>
              <a:rPr lang="en-US" baseline="0" dirty="0"/>
              <a:t>, ~12k recontacted</a:t>
            </a:r>
            <a:endParaRPr lang="en-US" dirty="0"/>
          </a:p>
        </c:rich>
      </c:tx>
      <c:overlay val="0"/>
      <c:spPr>
        <a:noFill/>
        <a:ln>
          <a:noFill/>
        </a:ln>
        <a:effectLst/>
      </c:spPr>
      <c:txPr>
        <a:bodyPr rot="0" spcFirstLastPara="1" vertOverflow="ellipsis" vert="horz" wrap="square"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sz="1400" b="0" i="0" u="none" strike="noStrike" kern="1200" spc="0" baseline="0">
              <a:solidFill>
                <a:sysClr val="windowText" lastClr="000000">
                  <a:lumMod val="65000"/>
                  <a:lumOff val="35000"/>
                </a:sysClr>
              </a:solidFill>
              <a:latin typeface="+mn-lt"/>
              <a:ea typeface="+mn-ea"/>
              <a:cs typeface="+mn-cs"/>
            </a:defRPr>
          </a:pPr>
          <a:endParaRPr lang="en-US"/>
        </a:p>
      </c:txPr>
    </c:title>
    <c:autoTitleDeleted val="0"/>
    <c:plotArea>
      <c:layout/>
      <c:lineChart>
        <c:grouping val="standard"/>
        <c:varyColors val="0"/>
        <c:ser>
          <c:idx val="0"/>
          <c:order val="0"/>
          <c:spPr>
            <a:ln w="28575" cap="rnd">
              <a:solidFill>
                <a:schemeClr val="accent1"/>
              </a:solidFill>
              <a:round/>
            </a:ln>
            <a:effectLst/>
          </c:spPr>
          <c:marker>
            <c:symbol val="circle"/>
            <c:size val="5"/>
            <c:spPr>
              <a:solidFill>
                <a:schemeClr val="accent1"/>
              </a:solidFill>
              <a:ln w="9525">
                <a:solidFill>
                  <a:schemeClr val="accent1"/>
                </a:solidFill>
              </a:ln>
              <a:effectLst/>
            </c:spPr>
          </c:marker>
          <c:cat>
            <c:strRef>
              <c:f>Sheet5!$D$1:$I$1</c:f>
              <c:strCache>
                <c:ptCount val="6"/>
                <c:pt idx="0">
                  <c:v>% recontacts within 1 day</c:v>
                </c:pt>
                <c:pt idx="1">
                  <c:v>% recontacts within 3 days</c:v>
                </c:pt>
                <c:pt idx="2">
                  <c:v>% recontacts within 7 days</c:v>
                </c:pt>
                <c:pt idx="3">
                  <c:v>% recontacts within 10 days</c:v>
                </c:pt>
                <c:pt idx="4">
                  <c:v>% recontacts within 14 days</c:v>
                </c:pt>
                <c:pt idx="5">
                  <c:v>% recontacts within 30 days</c:v>
                </c:pt>
              </c:strCache>
            </c:strRef>
          </c:cat>
          <c:val>
            <c:numRef>
              <c:f>Sheet5!$D$2:$I$2</c:f>
              <c:numCache>
                <c:formatCode>General</c:formatCode>
                <c:ptCount val="6"/>
                <c:pt idx="0">
                  <c:v>0.74215541317561995</c:v>
                </c:pt>
                <c:pt idx="1">
                  <c:v>0.84327254805322804</c:v>
                </c:pt>
                <c:pt idx="2">
                  <c:v>0.93371118777722995</c:v>
                </c:pt>
                <c:pt idx="3">
                  <c:v>0.96673238048299603</c:v>
                </c:pt>
                <c:pt idx="4">
                  <c:v>0.98776080170855896</c:v>
                </c:pt>
                <c:pt idx="5">
                  <c:v>1</c:v>
                </c:pt>
              </c:numCache>
            </c:numRef>
          </c:val>
          <c:smooth val="0"/>
          <c:extLst>
            <c:ext xmlns:c16="http://schemas.microsoft.com/office/drawing/2014/chart" uri="{C3380CC4-5D6E-409C-BE32-E72D297353CC}">
              <c16:uniqueId val="{00000000-A37D-4CDF-863D-8ED884824A24}"/>
            </c:ext>
          </c:extLst>
        </c:ser>
        <c:dLbls>
          <c:showLegendKey val="0"/>
          <c:showVal val="0"/>
          <c:showCatName val="0"/>
          <c:showSerName val="0"/>
          <c:showPercent val="0"/>
          <c:showBubbleSize val="0"/>
        </c:dLbls>
        <c:marker val="1"/>
        <c:smooth val="0"/>
        <c:axId val="936019968"/>
        <c:axId val="936020448"/>
      </c:lineChart>
      <c:catAx>
        <c:axId val="93601996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36020448"/>
        <c:crosses val="autoZero"/>
        <c:auto val="1"/>
        <c:lblAlgn val="ctr"/>
        <c:lblOffset val="100"/>
        <c:noMultiLvlLbl val="0"/>
      </c:catAx>
      <c:valAx>
        <c:axId val="93602044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36019968"/>
        <c:crosses val="autoZero"/>
        <c:crossBetween val="between"/>
      </c:valAx>
      <c:spPr>
        <a:noFill/>
        <a:ln>
          <a:noFill/>
        </a:ln>
        <a:effectLst/>
      </c:spPr>
    </c:plotArea>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Country - Channel</a:t>
            </a:r>
            <a:r>
              <a:rPr lang="en-US" baseline="0"/>
              <a:t> wise breakdown of 'resolved' interactions(w/wo recontacts) and 7 days recontact rate for </a:t>
            </a:r>
            <a:r>
              <a:rPr lang="en-US"/>
              <a:t>Dec'24</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stacked"/>
        <c:varyColors val="0"/>
        <c:ser>
          <c:idx val="0"/>
          <c:order val="0"/>
          <c:tx>
            <c:strRef>
              <c:f>Sheet6!$J$1</c:f>
              <c:strCache>
                <c:ptCount val="1"/>
                <c:pt idx="0">
                  <c:v>Resolved' interactions with no recontacts</c:v>
                </c:pt>
              </c:strCache>
            </c:strRef>
          </c:tx>
          <c:spPr>
            <a:solidFill>
              <a:schemeClr val="accent1"/>
            </a:solidFill>
            <a:ln>
              <a:noFill/>
            </a:ln>
            <a:effectLst/>
          </c:spPr>
          <c:invertIfNegative val="0"/>
          <c:cat>
            <c:multiLvlStrRef>
              <c:f>Sheet6!$H$2:$I$13</c:f>
              <c:multiLvlStrCache>
                <c:ptCount val="12"/>
                <c:lvl>
                  <c:pt idx="0">
                    <c:v>Chat</c:v>
                  </c:pt>
                  <c:pt idx="1">
                    <c:v>Call</c:v>
                  </c:pt>
                  <c:pt idx="2">
                    <c:v>Email</c:v>
                  </c:pt>
                  <c:pt idx="3">
                    <c:v>Chat</c:v>
                  </c:pt>
                  <c:pt idx="4">
                    <c:v>Call</c:v>
                  </c:pt>
                  <c:pt idx="5">
                    <c:v>Email</c:v>
                  </c:pt>
                  <c:pt idx="6">
                    <c:v>Chat</c:v>
                  </c:pt>
                  <c:pt idx="7">
                    <c:v>Call</c:v>
                  </c:pt>
                  <c:pt idx="8">
                    <c:v>Email</c:v>
                  </c:pt>
                  <c:pt idx="9">
                    <c:v>Call</c:v>
                  </c:pt>
                  <c:pt idx="10">
                    <c:v>Email</c:v>
                  </c:pt>
                  <c:pt idx="11">
                    <c:v>Chat</c:v>
                  </c:pt>
                </c:lvl>
                <c:lvl>
                  <c:pt idx="0">
                    <c:v>BE</c:v>
                  </c:pt>
                  <c:pt idx="3">
                    <c:v>CH</c:v>
                  </c:pt>
                  <c:pt idx="6">
                    <c:v>IE</c:v>
                  </c:pt>
                  <c:pt idx="9">
                    <c:v>NL</c:v>
                  </c:pt>
                </c:lvl>
              </c:multiLvlStrCache>
            </c:multiLvlStrRef>
          </c:cat>
          <c:val>
            <c:numRef>
              <c:f>Sheet6!$J$2:$J$13</c:f>
              <c:numCache>
                <c:formatCode>General</c:formatCode>
                <c:ptCount val="12"/>
                <c:pt idx="0">
                  <c:v>425</c:v>
                </c:pt>
                <c:pt idx="1">
                  <c:v>331</c:v>
                </c:pt>
                <c:pt idx="2">
                  <c:v>1957</c:v>
                </c:pt>
                <c:pt idx="3">
                  <c:v>754</c:v>
                </c:pt>
                <c:pt idx="4">
                  <c:v>504</c:v>
                </c:pt>
                <c:pt idx="5">
                  <c:v>1948</c:v>
                </c:pt>
                <c:pt idx="6">
                  <c:v>593</c:v>
                </c:pt>
                <c:pt idx="7">
                  <c:v>418</c:v>
                </c:pt>
                <c:pt idx="8">
                  <c:v>2371</c:v>
                </c:pt>
                <c:pt idx="9">
                  <c:v>1143</c:v>
                </c:pt>
                <c:pt idx="10">
                  <c:v>2881</c:v>
                </c:pt>
                <c:pt idx="11">
                  <c:v>70</c:v>
                </c:pt>
              </c:numCache>
            </c:numRef>
          </c:val>
          <c:extLst>
            <c:ext xmlns:c16="http://schemas.microsoft.com/office/drawing/2014/chart" uri="{C3380CC4-5D6E-409C-BE32-E72D297353CC}">
              <c16:uniqueId val="{00000000-6ECF-4844-A4C8-27244F354231}"/>
            </c:ext>
          </c:extLst>
        </c:ser>
        <c:ser>
          <c:idx val="1"/>
          <c:order val="1"/>
          <c:tx>
            <c:strRef>
              <c:f>Sheet6!$K$1</c:f>
              <c:strCache>
                <c:ptCount val="1"/>
                <c:pt idx="0">
                  <c:v>Resolved' interactions with recontacts within 7 days</c:v>
                </c:pt>
              </c:strCache>
            </c:strRef>
          </c:tx>
          <c:spPr>
            <a:solidFill>
              <a:schemeClr val="accent2"/>
            </a:solidFill>
            <a:ln>
              <a:noFill/>
            </a:ln>
            <a:effectLst/>
          </c:spPr>
          <c:invertIfNegative val="0"/>
          <c:cat>
            <c:multiLvlStrRef>
              <c:f>Sheet6!$H$2:$I$13</c:f>
              <c:multiLvlStrCache>
                <c:ptCount val="12"/>
                <c:lvl>
                  <c:pt idx="0">
                    <c:v>Chat</c:v>
                  </c:pt>
                  <c:pt idx="1">
                    <c:v>Call</c:v>
                  </c:pt>
                  <c:pt idx="2">
                    <c:v>Email</c:v>
                  </c:pt>
                  <c:pt idx="3">
                    <c:v>Chat</c:v>
                  </c:pt>
                  <c:pt idx="4">
                    <c:v>Call</c:v>
                  </c:pt>
                  <c:pt idx="5">
                    <c:v>Email</c:v>
                  </c:pt>
                  <c:pt idx="6">
                    <c:v>Chat</c:v>
                  </c:pt>
                  <c:pt idx="7">
                    <c:v>Call</c:v>
                  </c:pt>
                  <c:pt idx="8">
                    <c:v>Email</c:v>
                  </c:pt>
                  <c:pt idx="9">
                    <c:v>Call</c:v>
                  </c:pt>
                  <c:pt idx="10">
                    <c:v>Email</c:v>
                  </c:pt>
                  <c:pt idx="11">
                    <c:v>Chat</c:v>
                  </c:pt>
                </c:lvl>
                <c:lvl>
                  <c:pt idx="0">
                    <c:v>BE</c:v>
                  </c:pt>
                  <c:pt idx="3">
                    <c:v>CH</c:v>
                  </c:pt>
                  <c:pt idx="6">
                    <c:v>IE</c:v>
                  </c:pt>
                  <c:pt idx="9">
                    <c:v>NL</c:v>
                  </c:pt>
                </c:lvl>
              </c:multiLvlStrCache>
            </c:multiLvlStrRef>
          </c:cat>
          <c:val>
            <c:numRef>
              <c:f>Sheet6!$K$2:$K$13</c:f>
              <c:numCache>
                <c:formatCode>General</c:formatCode>
                <c:ptCount val="12"/>
                <c:pt idx="0">
                  <c:v>193</c:v>
                </c:pt>
                <c:pt idx="1">
                  <c:v>160</c:v>
                </c:pt>
                <c:pt idx="2">
                  <c:v>1699</c:v>
                </c:pt>
                <c:pt idx="3">
                  <c:v>272</c:v>
                </c:pt>
                <c:pt idx="4">
                  <c:v>266</c:v>
                </c:pt>
                <c:pt idx="5">
                  <c:v>1782</c:v>
                </c:pt>
                <c:pt idx="6">
                  <c:v>336</c:v>
                </c:pt>
                <c:pt idx="7">
                  <c:v>266</c:v>
                </c:pt>
                <c:pt idx="8">
                  <c:v>2837</c:v>
                </c:pt>
                <c:pt idx="9">
                  <c:v>809</c:v>
                </c:pt>
                <c:pt idx="10">
                  <c:v>2679</c:v>
                </c:pt>
                <c:pt idx="11">
                  <c:v>68</c:v>
                </c:pt>
              </c:numCache>
            </c:numRef>
          </c:val>
          <c:extLst>
            <c:ext xmlns:c16="http://schemas.microsoft.com/office/drawing/2014/chart" uri="{C3380CC4-5D6E-409C-BE32-E72D297353CC}">
              <c16:uniqueId val="{00000001-6ECF-4844-A4C8-27244F354231}"/>
            </c:ext>
          </c:extLst>
        </c:ser>
        <c:dLbls>
          <c:showLegendKey val="0"/>
          <c:showVal val="0"/>
          <c:showCatName val="0"/>
          <c:showSerName val="0"/>
          <c:showPercent val="0"/>
          <c:showBubbleSize val="0"/>
        </c:dLbls>
        <c:gapWidth val="219"/>
        <c:overlap val="100"/>
        <c:axId val="754840320"/>
        <c:axId val="754840800"/>
      </c:barChart>
      <c:lineChart>
        <c:grouping val="standard"/>
        <c:varyColors val="0"/>
        <c:ser>
          <c:idx val="2"/>
          <c:order val="2"/>
          <c:tx>
            <c:strRef>
              <c:f>Sheet6!$L$1</c:f>
              <c:strCache>
                <c:ptCount val="1"/>
                <c:pt idx="0">
                  <c:v>7 days recontact rate(%)</c:v>
                </c:pt>
              </c:strCache>
            </c:strRef>
          </c:tx>
          <c:spPr>
            <a:ln w="28575" cap="rnd">
              <a:solidFill>
                <a:schemeClr val="accent3"/>
              </a:solidFill>
              <a:round/>
            </a:ln>
            <a:effectLst/>
          </c:spPr>
          <c:marker>
            <c:symbol val="none"/>
          </c:marker>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multiLvlStrRef>
              <c:f>Sheet6!$H$2:$I$13</c:f>
              <c:multiLvlStrCache>
                <c:ptCount val="12"/>
                <c:lvl>
                  <c:pt idx="0">
                    <c:v>Chat</c:v>
                  </c:pt>
                  <c:pt idx="1">
                    <c:v>Call</c:v>
                  </c:pt>
                  <c:pt idx="2">
                    <c:v>Email</c:v>
                  </c:pt>
                  <c:pt idx="3">
                    <c:v>Chat</c:v>
                  </c:pt>
                  <c:pt idx="4">
                    <c:v>Call</c:v>
                  </c:pt>
                  <c:pt idx="5">
                    <c:v>Email</c:v>
                  </c:pt>
                  <c:pt idx="6">
                    <c:v>Chat</c:v>
                  </c:pt>
                  <c:pt idx="7">
                    <c:v>Call</c:v>
                  </c:pt>
                  <c:pt idx="8">
                    <c:v>Email</c:v>
                  </c:pt>
                  <c:pt idx="9">
                    <c:v>Call</c:v>
                  </c:pt>
                  <c:pt idx="10">
                    <c:v>Email</c:v>
                  </c:pt>
                  <c:pt idx="11">
                    <c:v>Chat</c:v>
                  </c:pt>
                </c:lvl>
                <c:lvl>
                  <c:pt idx="0">
                    <c:v>BE</c:v>
                  </c:pt>
                  <c:pt idx="3">
                    <c:v>CH</c:v>
                  </c:pt>
                  <c:pt idx="6">
                    <c:v>IE</c:v>
                  </c:pt>
                  <c:pt idx="9">
                    <c:v>NL</c:v>
                  </c:pt>
                </c:lvl>
              </c:multiLvlStrCache>
            </c:multiLvlStrRef>
          </c:cat>
          <c:val>
            <c:numRef>
              <c:f>Sheet6!$L$2:$L$13</c:f>
              <c:numCache>
                <c:formatCode>0%</c:formatCode>
                <c:ptCount val="12"/>
                <c:pt idx="0">
                  <c:v>0.312297734627831</c:v>
                </c:pt>
                <c:pt idx="1">
                  <c:v>0.32586558044806502</c:v>
                </c:pt>
                <c:pt idx="2">
                  <c:v>0.46471553610503202</c:v>
                </c:pt>
                <c:pt idx="3">
                  <c:v>0.26510721247563301</c:v>
                </c:pt>
                <c:pt idx="4">
                  <c:v>0.34545454545454501</c:v>
                </c:pt>
                <c:pt idx="5">
                  <c:v>0.47774798927613898</c:v>
                </c:pt>
                <c:pt idx="6">
                  <c:v>0.36167922497308902</c:v>
                </c:pt>
                <c:pt idx="7">
                  <c:v>0.38888888888888801</c:v>
                </c:pt>
                <c:pt idx="8">
                  <c:v>0.54473886328724996</c:v>
                </c:pt>
                <c:pt idx="9">
                  <c:v>0.41444672131147497</c:v>
                </c:pt>
                <c:pt idx="10">
                  <c:v>0.48183453237410001</c:v>
                </c:pt>
                <c:pt idx="11">
                  <c:v>0.49275362318840499</c:v>
                </c:pt>
              </c:numCache>
            </c:numRef>
          </c:val>
          <c:smooth val="0"/>
          <c:extLst>
            <c:ext xmlns:c16="http://schemas.microsoft.com/office/drawing/2014/chart" uri="{C3380CC4-5D6E-409C-BE32-E72D297353CC}">
              <c16:uniqueId val="{00000002-6ECF-4844-A4C8-27244F354231}"/>
            </c:ext>
          </c:extLst>
        </c:ser>
        <c:dLbls>
          <c:showLegendKey val="0"/>
          <c:showVal val="0"/>
          <c:showCatName val="0"/>
          <c:showSerName val="0"/>
          <c:showPercent val="0"/>
          <c:showBubbleSize val="0"/>
        </c:dLbls>
        <c:marker val="1"/>
        <c:smooth val="0"/>
        <c:axId val="750946240"/>
        <c:axId val="750948640"/>
      </c:lineChart>
      <c:catAx>
        <c:axId val="754840320"/>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754840800"/>
        <c:crosses val="autoZero"/>
        <c:auto val="1"/>
        <c:lblAlgn val="ctr"/>
        <c:lblOffset val="100"/>
        <c:noMultiLvlLbl val="0"/>
      </c:catAx>
      <c:valAx>
        <c:axId val="75484080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754840320"/>
        <c:crosses val="autoZero"/>
        <c:crossBetween val="between"/>
      </c:valAx>
      <c:valAx>
        <c:axId val="750948640"/>
        <c:scaling>
          <c:orientation val="minMax"/>
        </c:scaling>
        <c:delete val="0"/>
        <c:axPos val="r"/>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750946240"/>
        <c:crosses val="max"/>
        <c:crossBetween val="between"/>
      </c:valAx>
      <c:catAx>
        <c:axId val="750946240"/>
        <c:scaling>
          <c:orientation val="minMax"/>
        </c:scaling>
        <c:delete val="1"/>
        <c:axPos val="b"/>
        <c:numFmt formatCode="General" sourceLinked="1"/>
        <c:majorTickMark val="none"/>
        <c:minorTickMark val="none"/>
        <c:tickLblPos val="nextTo"/>
        <c:crossAx val="750948640"/>
        <c:crosses val="autoZero"/>
        <c:auto val="1"/>
        <c:lblAlgn val="ctr"/>
        <c:lblOffset val="100"/>
        <c:noMultiLvlLbl val="0"/>
      </c:cat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7 days recontact</a:t>
            </a:r>
            <a:r>
              <a:rPr lang="en-US" baseline="0"/>
              <a:t> rate per Agent Company for Dec'24</a:t>
            </a:r>
            <a:endParaRPr 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Sheet7!$B$1</c:f>
              <c:strCache>
                <c:ptCount val="1"/>
                <c:pt idx="0">
                  <c:v>Resolved' interactions with no recontact within 7 days</c:v>
                </c:pt>
              </c:strCache>
            </c:strRef>
          </c:tx>
          <c:spPr>
            <a:solidFill>
              <a:schemeClr val="accent1"/>
            </a:solidFill>
            <a:ln>
              <a:noFill/>
            </a:ln>
            <a:effectLst/>
          </c:spPr>
          <c:invertIfNegative val="0"/>
          <c:cat>
            <c:strRef>
              <c:f>Sheet7!$A$2:$A$4</c:f>
              <c:strCache>
                <c:ptCount val="3"/>
                <c:pt idx="0">
                  <c:v>COMPANY_3</c:v>
                </c:pt>
                <c:pt idx="1">
                  <c:v>COMPANY_2</c:v>
                </c:pt>
                <c:pt idx="2">
                  <c:v>COMPANY_1</c:v>
                </c:pt>
              </c:strCache>
            </c:strRef>
          </c:cat>
          <c:val>
            <c:numRef>
              <c:f>Sheet7!$B$2:$B$4</c:f>
              <c:numCache>
                <c:formatCode>General</c:formatCode>
                <c:ptCount val="3"/>
                <c:pt idx="0">
                  <c:v>1477</c:v>
                </c:pt>
                <c:pt idx="1">
                  <c:v>4004</c:v>
                </c:pt>
                <c:pt idx="2">
                  <c:v>7914</c:v>
                </c:pt>
              </c:numCache>
            </c:numRef>
          </c:val>
          <c:extLst>
            <c:ext xmlns:c16="http://schemas.microsoft.com/office/drawing/2014/chart" uri="{C3380CC4-5D6E-409C-BE32-E72D297353CC}">
              <c16:uniqueId val="{00000000-C36A-402C-A551-D0AE95F64826}"/>
            </c:ext>
          </c:extLst>
        </c:ser>
        <c:ser>
          <c:idx val="1"/>
          <c:order val="1"/>
          <c:tx>
            <c:strRef>
              <c:f>Sheet7!$C$1</c:f>
              <c:strCache>
                <c:ptCount val="1"/>
                <c:pt idx="0">
                  <c:v>Resolved' interactions with recontacts within 7 days</c:v>
                </c:pt>
              </c:strCache>
            </c:strRef>
          </c:tx>
          <c:spPr>
            <a:solidFill>
              <a:schemeClr val="accent2"/>
            </a:solidFill>
            <a:ln>
              <a:noFill/>
            </a:ln>
            <a:effectLst/>
          </c:spPr>
          <c:invertIfNegative val="0"/>
          <c:cat>
            <c:strRef>
              <c:f>Sheet7!$A$2:$A$4</c:f>
              <c:strCache>
                <c:ptCount val="3"/>
                <c:pt idx="0">
                  <c:v>COMPANY_3</c:v>
                </c:pt>
                <c:pt idx="1">
                  <c:v>COMPANY_2</c:v>
                </c:pt>
                <c:pt idx="2">
                  <c:v>COMPANY_1</c:v>
                </c:pt>
              </c:strCache>
            </c:strRef>
          </c:cat>
          <c:val>
            <c:numRef>
              <c:f>Sheet7!$C$2:$C$4</c:f>
              <c:numCache>
                <c:formatCode>General</c:formatCode>
                <c:ptCount val="3"/>
                <c:pt idx="0">
                  <c:v>910</c:v>
                </c:pt>
                <c:pt idx="1">
                  <c:v>3415</c:v>
                </c:pt>
                <c:pt idx="2">
                  <c:v>7042</c:v>
                </c:pt>
              </c:numCache>
            </c:numRef>
          </c:val>
          <c:extLst>
            <c:ext xmlns:c16="http://schemas.microsoft.com/office/drawing/2014/chart" uri="{C3380CC4-5D6E-409C-BE32-E72D297353CC}">
              <c16:uniqueId val="{00000001-C36A-402C-A551-D0AE95F64826}"/>
            </c:ext>
          </c:extLst>
        </c:ser>
        <c:dLbls>
          <c:showLegendKey val="0"/>
          <c:showVal val="0"/>
          <c:showCatName val="0"/>
          <c:showSerName val="0"/>
          <c:showPercent val="0"/>
          <c:showBubbleSize val="0"/>
        </c:dLbls>
        <c:gapWidth val="219"/>
        <c:overlap val="-27"/>
        <c:axId val="971659056"/>
        <c:axId val="971659536"/>
      </c:barChart>
      <c:lineChart>
        <c:grouping val="standard"/>
        <c:varyColors val="0"/>
        <c:ser>
          <c:idx val="2"/>
          <c:order val="2"/>
          <c:tx>
            <c:strRef>
              <c:f>Sheet7!$D$1</c:f>
              <c:strCache>
                <c:ptCount val="1"/>
                <c:pt idx="0">
                  <c:v>7 Day Recontact Rate</c:v>
                </c:pt>
              </c:strCache>
            </c:strRef>
          </c:tx>
          <c:spPr>
            <a:ln w="28575" cap="rnd">
              <a:solidFill>
                <a:schemeClr val="accent3"/>
              </a:solidFill>
              <a:round/>
            </a:ln>
            <a:effectLst/>
          </c:spPr>
          <c:marker>
            <c:symbol val="none"/>
          </c:marker>
          <c:dLbls>
            <c:dLbl>
              <c:idx val="0"/>
              <c:layout>
                <c:manualLayout>
                  <c:x val="0"/>
                  <c:y val="4.1666666666666623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C36A-402C-A551-D0AE95F64826}"/>
                </c:ext>
              </c:extLst>
            </c:dLbl>
            <c:dLbl>
              <c:idx val="1"/>
              <c:layout>
                <c:manualLayout>
                  <c:x val="0"/>
                  <c:y val="3.240740740740740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C36A-402C-A551-D0AE95F64826}"/>
                </c:ext>
              </c:extLst>
            </c:dLbl>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Sheet7!$A$2:$A$4</c:f>
              <c:strCache>
                <c:ptCount val="3"/>
                <c:pt idx="0">
                  <c:v>COMPANY_3</c:v>
                </c:pt>
                <c:pt idx="1">
                  <c:v>COMPANY_2</c:v>
                </c:pt>
                <c:pt idx="2">
                  <c:v>COMPANY_1</c:v>
                </c:pt>
              </c:strCache>
            </c:strRef>
          </c:cat>
          <c:val>
            <c:numRef>
              <c:f>Sheet7!$D$2:$D$4</c:f>
              <c:numCache>
                <c:formatCode>0%</c:formatCode>
                <c:ptCount val="3"/>
                <c:pt idx="0">
                  <c:v>0.38123167155425203</c:v>
                </c:pt>
                <c:pt idx="1">
                  <c:v>0.46030462326458998</c:v>
                </c:pt>
                <c:pt idx="2">
                  <c:v>0.47084782027279998</c:v>
                </c:pt>
              </c:numCache>
            </c:numRef>
          </c:val>
          <c:smooth val="0"/>
          <c:extLst>
            <c:ext xmlns:c16="http://schemas.microsoft.com/office/drawing/2014/chart" uri="{C3380CC4-5D6E-409C-BE32-E72D297353CC}">
              <c16:uniqueId val="{00000004-C36A-402C-A551-D0AE95F64826}"/>
            </c:ext>
          </c:extLst>
        </c:ser>
        <c:dLbls>
          <c:showLegendKey val="0"/>
          <c:showVal val="0"/>
          <c:showCatName val="0"/>
          <c:showSerName val="0"/>
          <c:showPercent val="0"/>
          <c:showBubbleSize val="0"/>
        </c:dLbls>
        <c:marker val="1"/>
        <c:smooth val="0"/>
        <c:axId val="971650896"/>
        <c:axId val="971660496"/>
      </c:lineChart>
      <c:catAx>
        <c:axId val="97165905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71659536"/>
        <c:crosses val="autoZero"/>
        <c:auto val="1"/>
        <c:lblAlgn val="ctr"/>
        <c:lblOffset val="100"/>
        <c:noMultiLvlLbl val="0"/>
      </c:catAx>
      <c:valAx>
        <c:axId val="971659536"/>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71659056"/>
        <c:crosses val="autoZero"/>
        <c:crossBetween val="between"/>
      </c:valAx>
      <c:valAx>
        <c:axId val="971660496"/>
        <c:scaling>
          <c:orientation val="minMax"/>
        </c:scaling>
        <c:delete val="0"/>
        <c:axPos val="r"/>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71650896"/>
        <c:crosses val="max"/>
        <c:crossBetween val="between"/>
      </c:valAx>
      <c:catAx>
        <c:axId val="971650896"/>
        <c:scaling>
          <c:orientation val="minMax"/>
        </c:scaling>
        <c:delete val="1"/>
        <c:axPos val="b"/>
        <c:numFmt formatCode="General" sourceLinked="1"/>
        <c:majorTickMark val="none"/>
        <c:minorTickMark val="none"/>
        <c:tickLblPos val="nextTo"/>
        <c:crossAx val="971660496"/>
        <c:crosses val="autoZero"/>
        <c:auto val="1"/>
        <c:lblAlgn val="ctr"/>
        <c:lblOffset val="100"/>
        <c:noMultiLvlLbl val="0"/>
      </c:cat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 of Merchants with recontacts by product</a:t>
            </a:r>
            <a:r>
              <a:rPr lang="en-US" baseline="0"/>
              <a:t> for Dec'24</a:t>
            </a:r>
            <a:endParaRPr 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Sheet4!$G$1</c:f>
              <c:strCache>
                <c:ptCount val="1"/>
                <c:pt idx="0">
                  <c:v>Merchants on Product</c:v>
                </c:pt>
              </c:strCache>
            </c:strRef>
          </c:tx>
          <c:spPr>
            <a:solidFill>
              <a:schemeClr val="accent1"/>
            </a:solidFill>
            <a:ln>
              <a:noFill/>
            </a:ln>
            <a:effectLst/>
          </c:spPr>
          <c:invertIfNegative val="0"/>
          <c:cat>
            <c:strRef>
              <c:f>Sheet4!$F$2:$F$9</c:f>
              <c:strCache>
                <c:ptCount val="8"/>
                <c:pt idx="0">
                  <c:v>profile</c:v>
                </c:pt>
                <c:pt idx="1">
                  <c:v>hardware</c:v>
                </c:pt>
                <c:pt idx="2">
                  <c:v>misc</c:v>
                </c:pt>
                <c:pt idx="3">
                  <c:v>banking</c:v>
                </c:pt>
                <c:pt idx="4">
                  <c:v>online payments</c:v>
                </c:pt>
                <c:pt idx="5">
                  <c:v>app / dashboard</c:v>
                </c:pt>
                <c:pt idx="6">
                  <c:v>loyalty</c:v>
                </c:pt>
                <c:pt idx="7">
                  <c:v>others</c:v>
                </c:pt>
              </c:strCache>
            </c:strRef>
          </c:cat>
          <c:val>
            <c:numRef>
              <c:f>Sheet4!$G$2:$G$9</c:f>
              <c:numCache>
                <c:formatCode>General</c:formatCode>
                <c:ptCount val="8"/>
                <c:pt idx="0">
                  <c:v>8315</c:v>
                </c:pt>
                <c:pt idx="1">
                  <c:v>2109</c:v>
                </c:pt>
                <c:pt idx="2">
                  <c:v>1540</c:v>
                </c:pt>
                <c:pt idx="3">
                  <c:v>712</c:v>
                </c:pt>
                <c:pt idx="4">
                  <c:v>338</c:v>
                </c:pt>
                <c:pt idx="5">
                  <c:v>235</c:v>
                </c:pt>
                <c:pt idx="6">
                  <c:v>101</c:v>
                </c:pt>
                <c:pt idx="7">
                  <c:v>271</c:v>
                </c:pt>
              </c:numCache>
            </c:numRef>
          </c:val>
          <c:extLst>
            <c:ext xmlns:c16="http://schemas.microsoft.com/office/drawing/2014/chart" uri="{C3380CC4-5D6E-409C-BE32-E72D297353CC}">
              <c16:uniqueId val="{00000000-0CE8-4F6E-8798-5F4ECB6DB45A}"/>
            </c:ext>
          </c:extLst>
        </c:ser>
        <c:ser>
          <c:idx val="1"/>
          <c:order val="1"/>
          <c:tx>
            <c:strRef>
              <c:f>Sheet4!$H$1</c:f>
              <c:strCache>
                <c:ptCount val="1"/>
                <c:pt idx="0">
                  <c:v>Merchants with 2+ contacts</c:v>
                </c:pt>
              </c:strCache>
            </c:strRef>
          </c:tx>
          <c:spPr>
            <a:solidFill>
              <a:schemeClr val="accent2"/>
            </a:solidFill>
            <a:ln>
              <a:noFill/>
            </a:ln>
            <a:effectLst/>
          </c:spPr>
          <c:invertIfNegative val="0"/>
          <c:cat>
            <c:strRef>
              <c:f>Sheet4!$F$2:$F$9</c:f>
              <c:strCache>
                <c:ptCount val="8"/>
                <c:pt idx="0">
                  <c:v>profile</c:v>
                </c:pt>
                <c:pt idx="1">
                  <c:v>hardware</c:v>
                </c:pt>
                <c:pt idx="2">
                  <c:v>misc</c:v>
                </c:pt>
                <c:pt idx="3">
                  <c:v>banking</c:v>
                </c:pt>
                <c:pt idx="4">
                  <c:v>online payments</c:v>
                </c:pt>
                <c:pt idx="5">
                  <c:v>app / dashboard</c:v>
                </c:pt>
                <c:pt idx="6">
                  <c:v>loyalty</c:v>
                </c:pt>
                <c:pt idx="7">
                  <c:v>others</c:v>
                </c:pt>
              </c:strCache>
            </c:strRef>
          </c:cat>
          <c:val>
            <c:numRef>
              <c:f>Sheet4!$H$2:$H$9</c:f>
              <c:numCache>
                <c:formatCode>General</c:formatCode>
                <c:ptCount val="8"/>
                <c:pt idx="0">
                  <c:v>4674</c:v>
                </c:pt>
                <c:pt idx="1">
                  <c:v>897</c:v>
                </c:pt>
                <c:pt idx="2">
                  <c:v>396</c:v>
                </c:pt>
                <c:pt idx="3">
                  <c:v>237</c:v>
                </c:pt>
                <c:pt idx="4">
                  <c:v>156</c:v>
                </c:pt>
                <c:pt idx="5">
                  <c:v>59</c:v>
                </c:pt>
                <c:pt idx="6">
                  <c:v>45</c:v>
                </c:pt>
                <c:pt idx="7">
                  <c:v>99</c:v>
                </c:pt>
              </c:numCache>
            </c:numRef>
          </c:val>
          <c:extLst>
            <c:ext xmlns:c16="http://schemas.microsoft.com/office/drawing/2014/chart" uri="{C3380CC4-5D6E-409C-BE32-E72D297353CC}">
              <c16:uniqueId val="{00000001-0CE8-4F6E-8798-5F4ECB6DB45A}"/>
            </c:ext>
          </c:extLst>
        </c:ser>
        <c:dLbls>
          <c:showLegendKey val="0"/>
          <c:showVal val="0"/>
          <c:showCatName val="0"/>
          <c:showSerName val="0"/>
          <c:showPercent val="0"/>
          <c:showBubbleSize val="0"/>
        </c:dLbls>
        <c:gapWidth val="219"/>
        <c:overlap val="-27"/>
        <c:axId val="936000288"/>
        <c:axId val="936013728"/>
      </c:barChart>
      <c:lineChart>
        <c:grouping val="standard"/>
        <c:varyColors val="0"/>
        <c:ser>
          <c:idx val="2"/>
          <c:order val="2"/>
          <c:tx>
            <c:strRef>
              <c:f>Sheet4!$I$1</c:f>
              <c:strCache>
                <c:ptCount val="1"/>
                <c:pt idx="0">
                  <c:v>Recontact Rate</c:v>
                </c:pt>
              </c:strCache>
            </c:strRef>
          </c:tx>
          <c:spPr>
            <a:ln w="28575" cap="rnd">
              <a:solidFill>
                <a:schemeClr val="accent3"/>
              </a:solidFill>
              <a:round/>
            </a:ln>
            <a:effectLst/>
          </c:spPr>
          <c:marker>
            <c:symbol val="none"/>
          </c:marker>
          <c:cat>
            <c:strRef>
              <c:f>Sheet4!$F$2:$F$9</c:f>
              <c:strCache>
                <c:ptCount val="8"/>
                <c:pt idx="0">
                  <c:v>profile</c:v>
                </c:pt>
                <c:pt idx="1">
                  <c:v>hardware</c:v>
                </c:pt>
                <c:pt idx="2">
                  <c:v>misc</c:v>
                </c:pt>
                <c:pt idx="3">
                  <c:v>banking</c:v>
                </c:pt>
                <c:pt idx="4">
                  <c:v>online payments</c:v>
                </c:pt>
                <c:pt idx="5">
                  <c:v>app / dashboard</c:v>
                </c:pt>
                <c:pt idx="6">
                  <c:v>loyalty</c:v>
                </c:pt>
                <c:pt idx="7">
                  <c:v>others</c:v>
                </c:pt>
              </c:strCache>
            </c:strRef>
          </c:cat>
          <c:val>
            <c:numRef>
              <c:f>Sheet4!$I$2:$I$9</c:f>
              <c:numCache>
                <c:formatCode>0%</c:formatCode>
                <c:ptCount val="8"/>
                <c:pt idx="0">
                  <c:v>0.56211665664461796</c:v>
                </c:pt>
                <c:pt idx="1">
                  <c:v>0.42532005689900398</c:v>
                </c:pt>
                <c:pt idx="2">
                  <c:v>0.25714285714285701</c:v>
                </c:pt>
                <c:pt idx="3">
                  <c:v>0.33286516853932502</c:v>
                </c:pt>
                <c:pt idx="4">
                  <c:v>0.46153846153846101</c:v>
                </c:pt>
                <c:pt idx="5">
                  <c:v>0.25106382978723402</c:v>
                </c:pt>
                <c:pt idx="6">
                  <c:v>0.445544554455445</c:v>
                </c:pt>
                <c:pt idx="7">
                  <c:v>0.36374204394056842</c:v>
                </c:pt>
              </c:numCache>
            </c:numRef>
          </c:val>
          <c:smooth val="0"/>
          <c:extLst>
            <c:ext xmlns:c16="http://schemas.microsoft.com/office/drawing/2014/chart" uri="{C3380CC4-5D6E-409C-BE32-E72D297353CC}">
              <c16:uniqueId val="{00000002-0CE8-4F6E-8798-5F4ECB6DB45A}"/>
            </c:ext>
          </c:extLst>
        </c:ser>
        <c:dLbls>
          <c:showLegendKey val="0"/>
          <c:showVal val="0"/>
          <c:showCatName val="0"/>
          <c:showSerName val="0"/>
          <c:showPercent val="0"/>
          <c:showBubbleSize val="0"/>
        </c:dLbls>
        <c:marker val="1"/>
        <c:smooth val="0"/>
        <c:axId val="935995968"/>
        <c:axId val="936006048"/>
      </c:lineChart>
      <c:catAx>
        <c:axId val="93600028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36013728"/>
        <c:crosses val="autoZero"/>
        <c:auto val="1"/>
        <c:lblAlgn val="ctr"/>
        <c:lblOffset val="100"/>
        <c:noMultiLvlLbl val="0"/>
      </c:catAx>
      <c:valAx>
        <c:axId val="93601372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36000288"/>
        <c:crosses val="autoZero"/>
        <c:crossBetween val="between"/>
      </c:valAx>
      <c:valAx>
        <c:axId val="936006048"/>
        <c:scaling>
          <c:orientation val="minMax"/>
        </c:scaling>
        <c:delete val="0"/>
        <c:axPos val="r"/>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35995968"/>
        <c:crosses val="max"/>
        <c:crossBetween val="between"/>
      </c:valAx>
      <c:catAx>
        <c:axId val="935995968"/>
        <c:scaling>
          <c:orientation val="minMax"/>
        </c:scaling>
        <c:delete val="1"/>
        <c:axPos val="b"/>
        <c:numFmt formatCode="General" sourceLinked="1"/>
        <c:majorTickMark val="none"/>
        <c:minorTickMark val="none"/>
        <c:tickLblPos val="nextTo"/>
        <c:crossAx val="936006048"/>
        <c:crosses val="autoZero"/>
        <c:auto val="1"/>
        <c:lblAlgn val="ctr"/>
        <c:lblOffset val="100"/>
        <c:noMultiLvlLbl val="0"/>
      </c:cat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Interaction</a:t>
            </a:r>
            <a:r>
              <a:rPr lang="en-US" baseline="0"/>
              <a:t> and avg cost per interaction for Dec'24</a:t>
            </a:r>
            <a:endParaRPr 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'bq-results-20251211-164545-1765'!$C$7</c:f>
              <c:strCache>
                <c:ptCount val="1"/>
                <c:pt idx="0">
                  <c:v>Interactions</c:v>
                </c:pt>
              </c:strCache>
            </c:strRef>
          </c:tx>
          <c:spPr>
            <a:solidFill>
              <a:schemeClr val="accent1"/>
            </a:solidFill>
            <a:ln>
              <a:noFill/>
            </a:ln>
            <a:effectLst/>
          </c:spPr>
          <c:invertIfNegative val="0"/>
          <c:cat>
            <c:strRef>
              <c:f>'bq-results-20251211-164545-1765'!$B$8:$B$10</c:f>
              <c:strCache>
                <c:ptCount val="3"/>
                <c:pt idx="0">
                  <c:v>Email</c:v>
                </c:pt>
                <c:pt idx="1">
                  <c:v>Call</c:v>
                </c:pt>
                <c:pt idx="2">
                  <c:v>Chat</c:v>
                </c:pt>
              </c:strCache>
            </c:strRef>
          </c:cat>
          <c:val>
            <c:numRef>
              <c:f>'bq-results-20251211-164545-1765'!$C$8:$C$10</c:f>
              <c:numCache>
                <c:formatCode>General</c:formatCode>
                <c:ptCount val="3"/>
                <c:pt idx="0">
                  <c:v>8650</c:v>
                </c:pt>
                <c:pt idx="1">
                  <c:v>4958</c:v>
                </c:pt>
                <c:pt idx="2">
                  <c:v>5088</c:v>
                </c:pt>
              </c:numCache>
            </c:numRef>
          </c:val>
          <c:extLst>
            <c:ext xmlns:c16="http://schemas.microsoft.com/office/drawing/2014/chart" uri="{C3380CC4-5D6E-409C-BE32-E72D297353CC}">
              <c16:uniqueId val="{00000000-368D-4B91-A1A6-A157A6E05972}"/>
            </c:ext>
          </c:extLst>
        </c:ser>
        <c:dLbls>
          <c:showLegendKey val="0"/>
          <c:showVal val="0"/>
          <c:showCatName val="0"/>
          <c:showSerName val="0"/>
          <c:showPercent val="0"/>
          <c:showBubbleSize val="0"/>
        </c:dLbls>
        <c:gapWidth val="150"/>
        <c:axId val="868256048"/>
        <c:axId val="868235888"/>
      </c:barChart>
      <c:lineChart>
        <c:grouping val="standard"/>
        <c:varyColors val="0"/>
        <c:ser>
          <c:idx val="1"/>
          <c:order val="1"/>
          <c:tx>
            <c:strRef>
              <c:f>'bq-results-20251211-164545-1765'!$D$7</c:f>
              <c:strCache>
                <c:ptCount val="1"/>
                <c:pt idx="0">
                  <c:v>Cost per interaction</c:v>
                </c:pt>
              </c:strCache>
            </c:strRef>
          </c:tx>
          <c:spPr>
            <a:ln w="28575" cap="rnd">
              <a:solidFill>
                <a:schemeClr val="accent2"/>
              </a:solidFill>
              <a:round/>
            </a:ln>
            <a:effectLst/>
          </c:spPr>
          <c:marker>
            <c:symbol val="none"/>
          </c:marker>
          <c:cat>
            <c:strRef>
              <c:f>'bq-results-20251211-164545-1765'!$B$8:$B$10</c:f>
              <c:strCache>
                <c:ptCount val="3"/>
                <c:pt idx="0">
                  <c:v>Email</c:v>
                </c:pt>
                <c:pt idx="1">
                  <c:v>Call</c:v>
                </c:pt>
                <c:pt idx="2">
                  <c:v>Chat</c:v>
                </c:pt>
              </c:strCache>
            </c:strRef>
          </c:cat>
          <c:val>
            <c:numRef>
              <c:f>'bq-results-20251211-164545-1765'!$D$8:$D$10</c:f>
              <c:numCache>
                <c:formatCode>General</c:formatCode>
                <c:ptCount val="3"/>
                <c:pt idx="0">
                  <c:v>55.286116963821499</c:v>
                </c:pt>
                <c:pt idx="1">
                  <c:v>2.6187569910456099</c:v>
                </c:pt>
                <c:pt idx="2">
                  <c:v>1.72784809381678</c:v>
                </c:pt>
              </c:numCache>
            </c:numRef>
          </c:val>
          <c:smooth val="0"/>
          <c:extLst>
            <c:ext xmlns:c16="http://schemas.microsoft.com/office/drawing/2014/chart" uri="{C3380CC4-5D6E-409C-BE32-E72D297353CC}">
              <c16:uniqueId val="{00000001-368D-4B91-A1A6-A157A6E05972}"/>
            </c:ext>
          </c:extLst>
        </c:ser>
        <c:dLbls>
          <c:showLegendKey val="0"/>
          <c:showVal val="0"/>
          <c:showCatName val="0"/>
          <c:showSerName val="0"/>
          <c:showPercent val="0"/>
          <c:showBubbleSize val="0"/>
        </c:dLbls>
        <c:marker val="1"/>
        <c:smooth val="0"/>
        <c:axId val="868230608"/>
        <c:axId val="868216688"/>
      </c:lineChart>
      <c:catAx>
        <c:axId val="86825604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868235888"/>
        <c:crosses val="autoZero"/>
        <c:auto val="1"/>
        <c:lblAlgn val="ctr"/>
        <c:lblOffset val="100"/>
        <c:noMultiLvlLbl val="0"/>
      </c:catAx>
      <c:valAx>
        <c:axId val="86823588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868256048"/>
        <c:crosses val="autoZero"/>
        <c:crossBetween val="between"/>
      </c:valAx>
      <c:valAx>
        <c:axId val="868216688"/>
        <c:scaling>
          <c:orientation val="minMax"/>
        </c:scaling>
        <c:delete val="0"/>
        <c:axPos val="r"/>
        <c:numFmt formatCode="General" sourceLinked="1"/>
        <c:majorTickMark val="out"/>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868230608"/>
        <c:crosses val="max"/>
        <c:crossBetween val="between"/>
      </c:valAx>
      <c:catAx>
        <c:axId val="868230608"/>
        <c:scaling>
          <c:orientation val="minMax"/>
        </c:scaling>
        <c:delete val="1"/>
        <c:axPos val="b"/>
        <c:numFmt formatCode="General" sourceLinked="1"/>
        <c:majorTickMark val="out"/>
        <c:minorTickMark val="none"/>
        <c:tickLblPos val="nextTo"/>
        <c:crossAx val="868216688"/>
        <c:crosses val="autoZero"/>
        <c:auto val="1"/>
        <c:lblAlgn val="ctr"/>
        <c:lblOffset val="100"/>
        <c:noMultiLvlLbl val="0"/>
      </c:cat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diagrams/_rels/data1.xml.rels><?xml version="1.0" encoding="UTF-8" standalone="yes"?>
<Relationships xmlns="http://schemas.openxmlformats.org/package/2006/relationships"><Relationship Id="rId8" Type="http://schemas.openxmlformats.org/officeDocument/2006/relationships/image" Target="../media/image8.sv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image" Target="../media/image2.svg"/><Relationship Id="rId1" Type="http://schemas.openxmlformats.org/officeDocument/2006/relationships/image" Target="../media/image1.png"/><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diagrams/_rels/data2.xml.rels><?xml version="1.0" encoding="UTF-8" standalone="yes"?>
<Relationships xmlns="http://schemas.openxmlformats.org/package/2006/relationships"><Relationship Id="rId8" Type="http://schemas.openxmlformats.org/officeDocument/2006/relationships/image" Target="../media/image16.svg"/><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image" Target="../media/image10.svg"/><Relationship Id="rId1" Type="http://schemas.openxmlformats.org/officeDocument/2006/relationships/image" Target="../media/image9.png"/><Relationship Id="rId6" Type="http://schemas.openxmlformats.org/officeDocument/2006/relationships/image" Target="../media/image14.svg"/><Relationship Id="rId5" Type="http://schemas.openxmlformats.org/officeDocument/2006/relationships/image" Target="../media/image13.png"/><Relationship Id="rId4" Type="http://schemas.openxmlformats.org/officeDocument/2006/relationships/image" Target="../media/image12.svg"/></Relationships>
</file>

<file path=ppt/diagrams/_rels/drawing1.xml.rels><?xml version="1.0" encoding="UTF-8" standalone="yes"?>
<Relationships xmlns="http://schemas.openxmlformats.org/package/2006/relationships"><Relationship Id="rId8" Type="http://schemas.openxmlformats.org/officeDocument/2006/relationships/image" Target="../media/image8.sv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image" Target="../media/image2.svg"/><Relationship Id="rId1" Type="http://schemas.openxmlformats.org/officeDocument/2006/relationships/image" Target="../media/image1.png"/><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diagrams/_rels/drawing2.xml.rels><?xml version="1.0" encoding="UTF-8" standalone="yes"?>
<Relationships xmlns="http://schemas.openxmlformats.org/package/2006/relationships"><Relationship Id="rId8" Type="http://schemas.openxmlformats.org/officeDocument/2006/relationships/image" Target="../media/image16.svg"/><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image" Target="../media/image10.svg"/><Relationship Id="rId1" Type="http://schemas.openxmlformats.org/officeDocument/2006/relationships/image" Target="../media/image9.png"/><Relationship Id="rId6" Type="http://schemas.openxmlformats.org/officeDocument/2006/relationships/image" Target="../media/image14.svg"/><Relationship Id="rId5" Type="http://schemas.openxmlformats.org/officeDocument/2006/relationships/image" Target="../media/image13.png"/><Relationship Id="rId4" Type="http://schemas.openxmlformats.org/officeDocument/2006/relationships/image" Target="../media/image12.svg"/></Relationships>
</file>

<file path=ppt/diagrams/colors1.xml><?xml version="1.0" encoding="utf-8"?>
<dgm:colorsDef xmlns:dgm="http://schemas.openxmlformats.org/drawingml/2006/diagram" xmlns:a="http://schemas.openxmlformats.org/drawingml/2006/main" uniqueId="urn:microsoft.com/office/officeart/2018/5/colors/Iconchunking_neutralbg_accent5_2">
  <dgm:title val=""/>
  <dgm:desc val=""/>
  <dgm:catLst>
    <dgm:cat type="accent5" pri="15200"/>
  </dgm:catLst>
  <dgm:styleLbl name="node0">
    <dgm:fillClrLst meth="repeat">
      <a:schemeClr val="accent5"/>
    </dgm:fillClrLst>
    <dgm:linClrLst meth="repeat">
      <a:schemeClr val="lt1"/>
    </dgm:linClrLst>
    <dgm:effectClrLst/>
    <dgm:txLinClrLst/>
    <dgm:txFillClrLst/>
    <dgm:txEffectClrLst/>
  </dgm:styleLbl>
  <dgm:styleLbl name="node1">
    <dgm:fillClrLst meth="repeat">
      <a:schemeClr val="accent5"/>
    </dgm:fillClrLst>
    <dgm:linClrLst meth="repeat">
      <a:schemeClr val="lt1">
        <a:alpha val="0"/>
      </a:schemeClr>
    </dgm:linClrLst>
    <dgm:effectClrLst/>
    <dgm:txLinClrLst/>
    <dgm:txFillClrLst/>
    <dgm:txEffectClrLst/>
  </dgm:styleLbl>
  <dgm:styleLbl name="alignNode1">
    <dgm:fillClrLst meth="repeat">
      <a:schemeClr val="accent5"/>
    </dgm:fillClrLst>
    <dgm:linClrLst meth="repeat">
      <a:schemeClr val="accent5"/>
    </dgm:linClrLst>
    <dgm:effectClrLst/>
    <dgm:txLinClrLst/>
    <dgm:txFillClrLst/>
    <dgm:txEffectClrLst/>
  </dgm:styleLbl>
  <dgm:styleLbl name="lnNode1">
    <dgm:fillClrLst meth="repeat">
      <a:schemeClr val="accent5"/>
    </dgm:fillClrLst>
    <dgm:linClrLst meth="repeat">
      <a:schemeClr val="lt1"/>
    </dgm:linClrLst>
    <dgm:effectClrLst/>
    <dgm:txLinClrLst/>
    <dgm:txFillClrLst/>
    <dgm:txEffectClrLst/>
  </dgm:styleLbl>
  <dgm:styleLbl name="vennNode1">
    <dgm:fillClrLst meth="repeat">
      <a:schemeClr val="accent5">
        <a:alpha val="50000"/>
      </a:schemeClr>
    </dgm:fillClrLst>
    <dgm:linClrLst meth="repeat">
      <a:schemeClr val="lt1"/>
    </dgm:linClrLst>
    <dgm:effectClrLst/>
    <dgm:txLinClrLst/>
    <dgm:txFillClrLst/>
    <dgm:txEffectClrLst/>
  </dgm:styleLbl>
  <dgm:styleLbl name="node2">
    <dgm:fillClrLst meth="repeat">
      <a:schemeClr val="accent5"/>
    </dgm:fillClrLst>
    <dgm:linClrLst meth="repeat">
      <a:schemeClr val="lt1"/>
    </dgm:linClrLst>
    <dgm:effectClrLst/>
    <dgm:txLinClrLst/>
    <dgm:txFillClrLst/>
    <dgm:txEffectClrLst/>
  </dgm:styleLbl>
  <dgm:styleLbl name="node3">
    <dgm:fillClrLst meth="repeat">
      <a:schemeClr val="accent5"/>
    </dgm:fillClrLst>
    <dgm:linClrLst meth="repeat">
      <a:schemeClr val="lt1"/>
    </dgm:linClrLst>
    <dgm:effectClrLst/>
    <dgm:txLinClrLst/>
    <dgm:txFillClrLst/>
    <dgm:txEffectClrLst/>
  </dgm:styleLbl>
  <dgm:styleLbl name="node4">
    <dgm:fillClrLst meth="repeat">
      <a:schemeClr val="accent5"/>
    </dgm:fillClrLst>
    <dgm:linClrLst meth="repeat">
      <a:schemeClr val="lt1"/>
    </dgm:linClrLst>
    <dgm:effectClrLst/>
    <dgm:txLinClrLst/>
    <dgm:txFillClrLst/>
    <dgm:txEffectClrLst/>
  </dgm:styleLbl>
  <dgm:styleLbl name="fg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5">
        <a:tint val="60000"/>
      </a:schemeClr>
    </dgm:fillClrLst>
    <dgm:linClrLst meth="repeat">
      <a:schemeClr val="accent5">
        <a:tint val="60000"/>
      </a:schemeClr>
    </dgm:linClrLst>
    <dgm:effectClrLst/>
    <dgm:txLinClrLst/>
    <dgm:txFillClrLst/>
    <dgm:txEffectClrLst/>
  </dgm:styleLbl>
  <dgm:styleLbl name="fgSibTrans2D1">
    <dgm:fillClrLst meth="repeat">
      <a:schemeClr val="accent5">
        <a:tint val="60000"/>
      </a:schemeClr>
    </dgm:fillClrLst>
    <dgm:linClrLst meth="repeat">
      <a:schemeClr val="accent5">
        <a:tint val="60000"/>
      </a:schemeClr>
    </dgm:linClrLst>
    <dgm:effectClrLst/>
    <dgm:txLinClrLst/>
    <dgm:txFillClrLst/>
    <dgm:txEffectClrLst/>
  </dgm:styleLbl>
  <dgm:styleLbl name="bgSibTrans2D1">
    <dgm:fillClrLst meth="repeat">
      <a:schemeClr val="accent5">
        <a:tint val="60000"/>
      </a:schemeClr>
    </dgm:fillClrLst>
    <dgm:linClrLst meth="repeat">
      <a:schemeClr val="accent5">
        <a:tint val="60000"/>
      </a:schemeClr>
    </dgm:linClrLst>
    <dgm:effectClrLst/>
    <dgm:txLinClrLst/>
    <dgm:txFillClrLst/>
    <dgm:txEffectClrLst/>
  </dgm:styleLbl>
  <dgm:styleLbl name="sibTrans1D1">
    <dgm:fillClrLst meth="repeat">
      <a:schemeClr val="accent5"/>
    </dgm:fillClrLst>
    <dgm:linClrLst meth="repeat">
      <a:schemeClr val="accent5"/>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dgm:linClrLst>
    <dgm:effectClrLst/>
    <dgm:txLinClrLst/>
    <dgm:txFillClrLst/>
    <dgm:txEffectClrLst/>
  </dgm:styleLbl>
  <dgm:styleLbl name="asst1">
    <dgm:fillClrLst meth="repeat">
      <a:schemeClr val="accent5"/>
    </dgm:fillClrLst>
    <dgm:linClrLst meth="repeat">
      <a:schemeClr val="lt1"/>
    </dgm:linClrLst>
    <dgm:effectClrLst/>
    <dgm:txLinClrLst/>
    <dgm:txFillClrLst/>
    <dgm:txEffectClrLst/>
  </dgm:styleLbl>
  <dgm:styleLbl name="asst2">
    <dgm:fillClrLst meth="repeat">
      <a:schemeClr val="accent5"/>
    </dgm:fillClrLst>
    <dgm:linClrLst meth="repeat">
      <a:schemeClr val="lt1"/>
    </dgm:linClrLst>
    <dgm:effectClrLst/>
    <dgm:txLinClrLst/>
    <dgm:txFillClrLst/>
    <dgm:txEffectClrLst/>
  </dgm:styleLbl>
  <dgm:styleLbl name="asst3">
    <dgm:fillClrLst meth="repeat">
      <a:schemeClr val="accent5"/>
    </dgm:fillClrLst>
    <dgm:linClrLst meth="repeat">
      <a:schemeClr val="lt1"/>
    </dgm:linClrLst>
    <dgm:effectClrLst/>
    <dgm:txLinClrLst/>
    <dgm:txFillClrLst/>
    <dgm:txEffectClrLst/>
  </dgm:styleLbl>
  <dgm:styleLbl name="asst4">
    <dgm:fillClrLst meth="repeat">
      <a:schemeClr val="accent5"/>
    </dgm:fillClrLst>
    <dgm:linClrLst meth="repeat">
      <a:schemeClr val="lt1"/>
    </dgm:linClrLst>
    <dgm:effectClrLst/>
    <dgm:txLinClrLst/>
    <dgm:txFillClrLst/>
    <dgm:txEffectClrLst/>
  </dgm:styleLbl>
  <dgm:styleLbl name="parChTrans2D1">
    <dgm:fillClrLst meth="repeat">
      <a:schemeClr val="accent5">
        <a:tint val="60000"/>
      </a:schemeClr>
    </dgm:fillClrLst>
    <dgm:linClrLst meth="repeat">
      <a:schemeClr val="accent5">
        <a:tint val="60000"/>
      </a:schemeClr>
    </dgm:linClrLst>
    <dgm:effectClrLst/>
    <dgm:txLinClrLst/>
    <dgm:txFillClrLst meth="repeat">
      <a:schemeClr val="lt1"/>
    </dgm:txFillClrLst>
    <dgm:txEffectClrLst/>
  </dgm:styleLbl>
  <dgm:styleLbl name="parChTrans2D2">
    <dgm:fillClrLst meth="repeat">
      <a:schemeClr val="accent5"/>
    </dgm:fillClrLst>
    <dgm:linClrLst meth="repeat">
      <a:schemeClr val="accent5"/>
    </dgm:linClrLst>
    <dgm:effectClrLst/>
    <dgm:txLinClrLst/>
    <dgm:txFillClrLst meth="repeat">
      <a:schemeClr val="lt1"/>
    </dgm:txFillClrLst>
    <dgm:txEffectClrLst/>
  </dgm:styleLbl>
  <dgm:styleLbl name="parChTrans2D3">
    <dgm:fillClrLst meth="repeat">
      <a:schemeClr val="accent5"/>
    </dgm:fillClrLst>
    <dgm:linClrLst meth="repeat">
      <a:schemeClr val="accent5"/>
    </dgm:linClrLst>
    <dgm:effectClrLst/>
    <dgm:txLinClrLst/>
    <dgm:txFillClrLst meth="repeat">
      <a:schemeClr val="lt1"/>
    </dgm:txFillClrLst>
    <dgm:txEffectClrLst/>
  </dgm:styleLbl>
  <dgm:styleLbl name="parChTrans2D4">
    <dgm:fillClrLst meth="repeat">
      <a:schemeClr val="accent5"/>
    </dgm:fillClrLst>
    <dgm:linClrLst meth="repeat">
      <a:schemeClr val="accent5"/>
    </dgm:linClrLst>
    <dgm:effectClrLst/>
    <dgm:txLinClrLst/>
    <dgm:txFillClrLst meth="repeat">
      <a:schemeClr val="lt1"/>
    </dgm:txFillClrLst>
    <dgm:txEffectClrLst/>
  </dgm:styleLbl>
  <dgm:styleLbl name="parChTrans1D1">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2">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3">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parChTrans1D4">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solidFgAcc1">
    <dgm:fillClrLst meth="repeat">
      <a:schemeClr val="lt1"/>
    </dgm:fillClrLst>
    <dgm:linClrLst meth="repeat">
      <a:schemeClr val="accent5"/>
    </dgm:linClrLst>
    <dgm:effectClrLst/>
    <dgm:txLinClrLst/>
    <dgm:txFillClrLst meth="repeat">
      <a:schemeClr val="dk1"/>
    </dgm:txFillClrLst>
    <dgm:txEffectClrLst/>
  </dgm:styleLbl>
  <dgm:styleLbl name="solidAlignAcc1">
    <dgm:fillClrLst meth="repeat">
      <a:schemeClr val="lt1"/>
    </dgm:fillClrLst>
    <dgm:linClrLst meth="repeat">
      <a:schemeClr val="accent5"/>
    </dgm:linClrLst>
    <dgm:effectClrLst/>
    <dgm:txLinClrLst/>
    <dgm:txFillClrLst meth="repeat">
      <a:schemeClr val="dk1"/>
    </dgm:txFillClrLst>
    <dgm:txEffectClrLst/>
  </dgm:styleLbl>
  <dgm:styleLbl name="solidBgAcc1">
    <dgm:fillClrLst meth="repeat">
      <a:schemeClr val="lt1"/>
    </dgm:fillClrLst>
    <dgm:linClrLst meth="repeat">
      <a:schemeClr val="accent5"/>
    </dgm:linClrLst>
    <dgm:effectClrLst/>
    <dgm:txLinClrLst/>
    <dgm:txFillClrLst meth="repeat">
      <a:schemeClr val="dk1"/>
    </dgm:txFillClrLst>
    <dgm:txEffectClrLst/>
  </dgm:styleLbl>
  <dgm:styleLbl name="fg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align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bg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accent5"/>
    </dgm:linClrLst>
    <dgm:effectClrLst/>
    <dgm:txLinClrLst/>
    <dgm:txFillClrLst meth="repeat">
      <a:schemeClr val="dk1"/>
    </dgm:txFillClrLst>
    <dgm:txEffectClrLst/>
  </dgm:styleLbl>
  <dgm:styleLbl name="dkBgShp">
    <dgm:fillClrLst meth="repeat">
      <a:schemeClr val="accent5">
        <a:shade val="80000"/>
      </a:schemeClr>
    </dgm:fillClrLst>
    <dgm:linClrLst meth="repeat">
      <a:schemeClr val="accent5"/>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a:alpha val="0"/>
      </a:schemeClr>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3A2AC87-2ED0-49C4-91FA-EDD84EB325B5}" type="doc">
      <dgm:prSet loTypeId="urn:microsoft.com/office/officeart/2018/2/layout/IconCircleList" loCatId="icon" qsTypeId="urn:microsoft.com/office/officeart/2005/8/quickstyle/simple1" qsCatId="simple" csTypeId="urn:microsoft.com/office/officeart/2018/5/colors/Iconchunking_neutralbg_accent5_2" csCatId="accent5" phldr="1"/>
      <dgm:spPr/>
      <dgm:t>
        <a:bodyPr/>
        <a:lstStyle/>
        <a:p>
          <a:endParaRPr lang="en-US"/>
        </a:p>
      </dgm:t>
    </dgm:pt>
    <dgm:pt modelId="{AFFF045E-3821-40E4-B021-E4464316979F}">
      <dgm:prSet/>
      <dgm:spPr/>
      <dgm:t>
        <a:bodyPr/>
        <a:lstStyle/>
        <a:p>
          <a:r>
            <a:rPr lang="en-US" b="1"/>
            <a:t>Goal: Understand support performance across BE, CH, IE, NL and identify improvement levers.</a:t>
          </a:r>
          <a:endParaRPr lang="en-US"/>
        </a:p>
      </dgm:t>
    </dgm:pt>
    <dgm:pt modelId="{F099E929-B5C6-4539-AD97-8EE4CA6793D2}" type="parTrans" cxnId="{F100B634-5AF2-40DD-AB12-7595E5C7DBBF}">
      <dgm:prSet/>
      <dgm:spPr/>
      <dgm:t>
        <a:bodyPr/>
        <a:lstStyle/>
        <a:p>
          <a:endParaRPr lang="en-US"/>
        </a:p>
      </dgm:t>
    </dgm:pt>
    <dgm:pt modelId="{677CD9A3-0E76-40EE-899F-B67BA1C55BED}" type="sibTrans" cxnId="{F100B634-5AF2-40DD-AB12-7595E5C7DBBF}">
      <dgm:prSet/>
      <dgm:spPr/>
      <dgm:t>
        <a:bodyPr/>
        <a:lstStyle/>
        <a:p>
          <a:endParaRPr lang="en-US"/>
        </a:p>
      </dgm:t>
    </dgm:pt>
    <dgm:pt modelId="{69F3D3F8-E7C8-43FE-861F-F2E2F37B90AF}">
      <dgm:prSet/>
      <dgm:spPr/>
      <dgm:t>
        <a:bodyPr/>
        <a:lstStyle/>
        <a:p>
          <a:r>
            <a:rPr lang="en-US"/>
            <a:t>Data: ~430k interactions (1 row = 1 merchant → support interaction) across 2024 sample used as 2022 proxy.</a:t>
          </a:r>
        </a:p>
      </dgm:t>
    </dgm:pt>
    <dgm:pt modelId="{F88E2D90-047C-4078-90BB-027DA2E1E86B}" type="parTrans" cxnId="{B7B963E2-CBEA-45B1-979E-5705CEE24D40}">
      <dgm:prSet/>
      <dgm:spPr/>
      <dgm:t>
        <a:bodyPr/>
        <a:lstStyle/>
        <a:p>
          <a:endParaRPr lang="en-US"/>
        </a:p>
      </dgm:t>
    </dgm:pt>
    <dgm:pt modelId="{E723584F-C96D-4C70-953C-4BA0A6B24B7C}" type="sibTrans" cxnId="{B7B963E2-CBEA-45B1-979E-5705CEE24D40}">
      <dgm:prSet/>
      <dgm:spPr/>
      <dgm:t>
        <a:bodyPr/>
        <a:lstStyle/>
        <a:p>
          <a:endParaRPr lang="en-US"/>
        </a:p>
      </dgm:t>
    </dgm:pt>
    <dgm:pt modelId="{00B08739-AD66-47B9-9B37-2EF35A16C005}">
      <dgm:prSet/>
      <dgm:spPr/>
      <dgm:t>
        <a:bodyPr/>
        <a:lstStyle/>
        <a:p>
          <a:r>
            <a:rPr lang="en-US"/>
            <a:t>Key fields: merchant, product (classification), channel, agent company, dates, handling &amp; response times.</a:t>
          </a:r>
        </a:p>
      </dgm:t>
    </dgm:pt>
    <dgm:pt modelId="{F9FA0043-B53B-45CD-BC01-35F639B11B8C}" type="parTrans" cxnId="{60CE83EC-D892-444D-BBC3-AC7CD5B22746}">
      <dgm:prSet/>
      <dgm:spPr/>
      <dgm:t>
        <a:bodyPr/>
        <a:lstStyle/>
        <a:p>
          <a:endParaRPr lang="en-US"/>
        </a:p>
      </dgm:t>
    </dgm:pt>
    <dgm:pt modelId="{B03B594F-EB4A-4499-919E-F8C06C0E53BB}" type="sibTrans" cxnId="{60CE83EC-D892-444D-BBC3-AC7CD5B22746}">
      <dgm:prSet/>
      <dgm:spPr/>
      <dgm:t>
        <a:bodyPr/>
        <a:lstStyle/>
        <a:p>
          <a:endParaRPr lang="en-US"/>
        </a:p>
      </dgm:t>
    </dgm:pt>
    <dgm:pt modelId="{7BEDA514-F312-428A-B02B-6CC142E52E30}">
      <dgm:prSet/>
      <dgm:spPr/>
      <dgm:t>
        <a:bodyPr/>
        <a:lstStyle/>
        <a:p>
          <a:r>
            <a:rPr lang="en-US" dirty="0"/>
            <a:t>Focus metrics: recontacts on the same product and channel costs.</a:t>
          </a:r>
        </a:p>
      </dgm:t>
    </dgm:pt>
    <dgm:pt modelId="{0DCAF916-B462-489F-A4E5-3666C852B84B}" type="parTrans" cxnId="{9362E340-223F-4DB1-86D6-F6BEF184DA6D}">
      <dgm:prSet/>
      <dgm:spPr/>
      <dgm:t>
        <a:bodyPr/>
        <a:lstStyle/>
        <a:p>
          <a:endParaRPr lang="en-US"/>
        </a:p>
      </dgm:t>
    </dgm:pt>
    <dgm:pt modelId="{ED0CB611-4F76-4D2A-96A1-19DDD15D38F3}" type="sibTrans" cxnId="{9362E340-223F-4DB1-86D6-F6BEF184DA6D}">
      <dgm:prSet/>
      <dgm:spPr/>
      <dgm:t>
        <a:bodyPr/>
        <a:lstStyle/>
        <a:p>
          <a:endParaRPr lang="en-US"/>
        </a:p>
      </dgm:t>
    </dgm:pt>
    <dgm:pt modelId="{6DB29774-E028-4F5D-B20C-7C4B5C809417}" type="pres">
      <dgm:prSet presAssocID="{C3A2AC87-2ED0-49C4-91FA-EDD84EB325B5}" presName="root" presStyleCnt="0">
        <dgm:presLayoutVars>
          <dgm:dir/>
          <dgm:resizeHandles val="exact"/>
        </dgm:presLayoutVars>
      </dgm:prSet>
      <dgm:spPr/>
    </dgm:pt>
    <dgm:pt modelId="{4BFC8AB8-990E-4320-8251-3583BBA087BC}" type="pres">
      <dgm:prSet presAssocID="{C3A2AC87-2ED0-49C4-91FA-EDD84EB325B5}" presName="container" presStyleCnt="0">
        <dgm:presLayoutVars>
          <dgm:dir/>
          <dgm:resizeHandles val="exact"/>
        </dgm:presLayoutVars>
      </dgm:prSet>
      <dgm:spPr/>
    </dgm:pt>
    <dgm:pt modelId="{6BAA6371-1075-47F6-BA81-71A6A8C6E438}" type="pres">
      <dgm:prSet presAssocID="{AFFF045E-3821-40E4-B021-E4464316979F}" presName="compNode" presStyleCnt="0"/>
      <dgm:spPr/>
    </dgm:pt>
    <dgm:pt modelId="{3782F655-7F60-4784-918F-A4C369672E9C}" type="pres">
      <dgm:prSet presAssocID="{AFFF045E-3821-40E4-B021-E4464316979F}" presName="iconBgRect" presStyleLbl="bgShp" presStyleIdx="0" presStyleCnt="4"/>
      <dgm:spPr/>
    </dgm:pt>
    <dgm:pt modelId="{77766DD2-9DD2-4191-BC50-4204EB5013C0}" type="pres">
      <dgm:prSet presAssocID="{AFFF045E-3821-40E4-B021-E4464316979F}"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Bullseye"/>
        </a:ext>
      </dgm:extLst>
    </dgm:pt>
    <dgm:pt modelId="{3B987DDC-3A41-4CB6-A9E1-2F7C4FCBD264}" type="pres">
      <dgm:prSet presAssocID="{AFFF045E-3821-40E4-B021-E4464316979F}" presName="spaceRect" presStyleCnt="0"/>
      <dgm:spPr/>
    </dgm:pt>
    <dgm:pt modelId="{986E10C0-774B-43DA-A191-D5ABDD32783B}" type="pres">
      <dgm:prSet presAssocID="{AFFF045E-3821-40E4-B021-E4464316979F}" presName="textRect" presStyleLbl="revTx" presStyleIdx="0" presStyleCnt="4">
        <dgm:presLayoutVars>
          <dgm:chMax val="1"/>
          <dgm:chPref val="1"/>
        </dgm:presLayoutVars>
      </dgm:prSet>
      <dgm:spPr/>
    </dgm:pt>
    <dgm:pt modelId="{C3004BA6-27C5-4ABA-B304-1014C7E630F6}" type="pres">
      <dgm:prSet presAssocID="{677CD9A3-0E76-40EE-899F-B67BA1C55BED}" presName="sibTrans" presStyleLbl="sibTrans2D1" presStyleIdx="0" presStyleCnt="0"/>
      <dgm:spPr/>
    </dgm:pt>
    <dgm:pt modelId="{F23EAA68-89D0-49AA-81C2-A52FA217327A}" type="pres">
      <dgm:prSet presAssocID="{69F3D3F8-E7C8-43FE-861F-F2E2F37B90AF}" presName="compNode" presStyleCnt="0"/>
      <dgm:spPr/>
    </dgm:pt>
    <dgm:pt modelId="{0D3B8D62-0E79-4025-B451-62D2D54D3566}" type="pres">
      <dgm:prSet presAssocID="{69F3D3F8-E7C8-43FE-861F-F2E2F37B90AF}" presName="iconBgRect" presStyleLbl="bgShp" presStyleIdx="1" presStyleCnt="4"/>
      <dgm:spPr/>
    </dgm:pt>
    <dgm:pt modelId="{C66A7EDD-9526-4953-A572-0A4D1CB436DE}" type="pres">
      <dgm:prSet presAssocID="{69F3D3F8-E7C8-43FE-861F-F2E2F37B90AF}"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Presentation with Bar Chart"/>
        </a:ext>
      </dgm:extLst>
    </dgm:pt>
    <dgm:pt modelId="{C60B1F61-747E-467D-AAEE-CDEF2A76CD0F}" type="pres">
      <dgm:prSet presAssocID="{69F3D3F8-E7C8-43FE-861F-F2E2F37B90AF}" presName="spaceRect" presStyleCnt="0"/>
      <dgm:spPr/>
    </dgm:pt>
    <dgm:pt modelId="{768F6ABA-F565-49FD-825E-15B7003D78BE}" type="pres">
      <dgm:prSet presAssocID="{69F3D3F8-E7C8-43FE-861F-F2E2F37B90AF}" presName="textRect" presStyleLbl="revTx" presStyleIdx="1" presStyleCnt="4">
        <dgm:presLayoutVars>
          <dgm:chMax val="1"/>
          <dgm:chPref val="1"/>
        </dgm:presLayoutVars>
      </dgm:prSet>
      <dgm:spPr/>
    </dgm:pt>
    <dgm:pt modelId="{3007F51A-179E-42E7-A496-16EB6B3983CC}" type="pres">
      <dgm:prSet presAssocID="{E723584F-C96D-4C70-953C-4BA0A6B24B7C}" presName="sibTrans" presStyleLbl="sibTrans2D1" presStyleIdx="0" presStyleCnt="0"/>
      <dgm:spPr/>
    </dgm:pt>
    <dgm:pt modelId="{B2D948DB-59B8-4E03-9AFC-8AF7B390073C}" type="pres">
      <dgm:prSet presAssocID="{00B08739-AD66-47B9-9B37-2EF35A16C005}" presName="compNode" presStyleCnt="0"/>
      <dgm:spPr/>
    </dgm:pt>
    <dgm:pt modelId="{9324C623-F08D-4F3C-85BB-F3FF08EA8414}" type="pres">
      <dgm:prSet presAssocID="{00B08739-AD66-47B9-9B37-2EF35A16C005}" presName="iconBgRect" presStyleLbl="bgShp" presStyleIdx="2" presStyleCnt="4"/>
      <dgm:spPr/>
    </dgm:pt>
    <dgm:pt modelId="{9B14B43F-CF3C-4543-889B-B5F11AAE5C78}" type="pres">
      <dgm:prSet presAssocID="{00B08739-AD66-47B9-9B37-2EF35A16C005}"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Filter"/>
        </a:ext>
      </dgm:extLst>
    </dgm:pt>
    <dgm:pt modelId="{4586196C-9650-4612-B005-65D47C020A9C}" type="pres">
      <dgm:prSet presAssocID="{00B08739-AD66-47B9-9B37-2EF35A16C005}" presName="spaceRect" presStyleCnt="0"/>
      <dgm:spPr/>
    </dgm:pt>
    <dgm:pt modelId="{46BE9E08-839D-425D-AE4E-064A7325B899}" type="pres">
      <dgm:prSet presAssocID="{00B08739-AD66-47B9-9B37-2EF35A16C005}" presName="textRect" presStyleLbl="revTx" presStyleIdx="2" presStyleCnt="4">
        <dgm:presLayoutVars>
          <dgm:chMax val="1"/>
          <dgm:chPref val="1"/>
        </dgm:presLayoutVars>
      </dgm:prSet>
      <dgm:spPr/>
    </dgm:pt>
    <dgm:pt modelId="{2E597E30-B0DA-4434-931F-6B971ABB6790}" type="pres">
      <dgm:prSet presAssocID="{B03B594F-EB4A-4499-919E-F8C06C0E53BB}" presName="sibTrans" presStyleLbl="sibTrans2D1" presStyleIdx="0" presStyleCnt="0"/>
      <dgm:spPr/>
    </dgm:pt>
    <dgm:pt modelId="{7ABE9679-0608-46E2-8EBE-57336CA8E7A7}" type="pres">
      <dgm:prSet presAssocID="{7BEDA514-F312-428A-B02B-6CC142E52E30}" presName="compNode" presStyleCnt="0"/>
      <dgm:spPr/>
    </dgm:pt>
    <dgm:pt modelId="{875F6074-99BD-4678-B1AF-C44305886D8C}" type="pres">
      <dgm:prSet presAssocID="{7BEDA514-F312-428A-B02B-6CC142E52E30}" presName="iconBgRect" presStyleLbl="bgShp" presStyleIdx="3" presStyleCnt="4"/>
      <dgm:spPr/>
    </dgm:pt>
    <dgm:pt modelId="{3AB610DC-9CFD-48D7-84F7-97775CE590F6}" type="pres">
      <dgm:prSet presAssocID="{7BEDA514-F312-428A-B02B-6CC142E52E30}"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Magnifying glass"/>
        </a:ext>
      </dgm:extLst>
    </dgm:pt>
    <dgm:pt modelId="{DEBB7F8D-704A-4B48-BF02-F6C106EB632F}" type="pres">
      <dgm:prSet presAssocID="{7BEDA514-F312-428A-B02B-6CC142E52E30}" presName="spaceRect" presStyleCnt="0"/>
      <dgm:spPr/>
    </dgm:pt>
    <dgm:pt modelId="{0EEDCECC-FE82-4B10-A23F-99A84B48FF56}" type="pres">
      <dgm:prSet presAssocID="{7BEDA514-F312-428A-B02B-6CC142E52E30}" presName="textRect" presStyleLbl="revTx" presStyleIdx="3" presStyleCnt="4">
        <dgm:presLayoutVars>
          <dgm:chMax val="1"/>
          <dgm:chPref val="1"/>
        </dgm:presLayoutVars>
      </dgm:prSet>
      <dgm:spPr/>
    </dgm:pt>
  </dgm:ptLst>
  <dgm:cxnLst>
    <dgm:cxn modelId="{14D08106-C1EB-45FD-AD86-BF53443110D6}" type="presOf" srcId="{677CD9A3-0E76-40EE-899F-B67BA1C55BED}" destId="{C3004BA6-27C5-4ABA-B304-1014C7E630F6}" srcOrd="0" destOrd="0" presId="urn:microsoft.com/office/officeart/2018/2/layout/IconCircleList"/>
    <dgm:cxn modelId="{97A95F20-8A72-42C9-A704-0D314117328E}" type="presOf" srcId="{00B08739-AD66-47B9-9B37-2EF35A16C005}" destId="{46BE9E08-839D-425D-AE4E-064A7325B899}" srcOrd="0" destOrd="0" presId="urn:microsoft.com/office/officeart/2018/2/layout/IconCircleList"/>
    <dgm:cxn modelId="{F100B634-5AF2-40DD-AB12-7595E5C7DBBF}" srcId="{C3A2AC87-2ED0-49C4-91FA-EDD84EB325B5}" destId="{AFFF045E-3821-40E4-B021-E4464316979F}" srcOrd="0" destOrd="0" parTransId="{F099E929-B5C6-4539-AD97-8EE4CA6793D2}" sibTransId="{677CD9A3-0E76-40EE-899F-B67BA1C55BED}"/>
    <dgm:cxn modelId="{65A4A63F-9618-4AA5-96E2-1D2A0E7B3F8D}" type="presOf" srcId="{69F3D3F8-E7C8-43FE-861F-F2E2F37B90AF}" destId="{768F6ABA-F565-49FD-825E-15B7003D78BE}" srcOrd="0" destOrd="0" presId="urn:microsoft.com/office/officeart/2018/2/layout/IconCircleList"/>
    <dgm:cxn modelId="{9362E340-223F-4DB1-86D6-F6BEF184DA6D}" srcId="{C3A2AC87-2ED0-49C4-91FA-EDD84EB325B5}" destId="{7BEDA514-F312-428A-B02B-6CC142E52E30}" srcOrd="3" destOrd="0" parTransId="{0DCAF916-B462-489F-A4E5-3666C852B84B}" sibTransId="{ED0CB611-4F76-4D2A-96A1-19DDD15D38F3}"/>
    <dgm:cxn modelId="{BC5F9358-FDD1-4920-8BFF-5BCF7F177E40}" type="presOf" srcId="{E723584F-C96D-4C70-953C-4BA0A6B24B7C}" destId="{3007F51A-179E-42E7-A496-16EB6B3983CC}" srcOrd="0" destOrd="0" presId="urn:microsoft.com/office/officeart/2018/2/layout/IconCircleList"/>
    <dgm:cxn modelId="{2D4546B1-3515-4E9F-9D16-15E13B955541}" type="presOf" srcId="{B03B594F-EB4A-4499-919E-F8C06C0E53BB}" destId="{2E597E30-B0DA-4434-931F-6B971ABB6790}" srcOrd="0" destOrd="0" presId="urn:microsoft.com/office/officeart/2018/2/layout/IconCircleList"/>
    <dgm:cxn modelId="{C2CC71BD-4CD5-4453-A266-8C3696A6187C}" type="presOf" srcId="{7BEDA514-F312-428A-B02B-6CC142E52E30}" destId="{0EEDCECC-FE82-4B10-A23F-99A84B48FF56}" srcOrd="0" destOrd="0" presId="urn:microsoft.com/office/officeart/2018/2/layout/IconCircleList"/>
    <dgm:cxn modelId="{5074F6CF-C031-4FCB-92E5-AE799B0C079A}" type="presOf" srcId="{C3A2AC87-2ED0-49C4-91FA-EDD84EB325B5}" destId="{6DB29774-E028-4F5D-B20C-7C4B5C809417}" srcOrd="0" destOrd="0" presId="urn:microsoft.com/office/officeart/2018/2/layout/IconCircleList"/>
    <dgm:cxn modelId="{2C02A5D1-9140-4D12-BC17-CE7AC59636A6}" type="presOf" srcId="{AFFF045E-3821-40E4-B021-E4464316979F}" destId="{986E10C0-774B-43DA-A191-D5ABDD32783B}" srcOrd="0" destOrd="0" presId="urn:microsoft.com/office/officeart/2018/2/layout/IconCircleList"/>
    <dgm:cxn modelId="{B7B963E2-CBEA-45B1-979E-5705CEE24D40}" srcId="{C3A2AC87-2ED0-49C4-91FA-EDD84EB325B5}" destId="{69F3D3F8-E7C8-43FE-861F-F2E2F37B90AF}" srcOrd="1" destOrd="0" parTransId="{F88E2D90-047C-4078-90BB-027DA2E1E86B}" sibTransId="{E723584F-C96D-4C70-953C-4BA0A6B24B7C}"/>
    <dgm:cxn modelId="{60CE83EC-D892-444D-BBC3-AC7CD5B22746}" srcId="{C3A2AC87-2ED0-49C4-91FA-EDD84EB325B5}" destId="{00B08739-AD66-47B9-9B37-2EF35A16C005}" srcOrd="2" destOrd="0" parTransId="{F9FA0043-B53B-45CD-BC01-35F639B11B8C}" sibTransId="{B03B594F-EB4A-4499-919E-F8C06C0E53BB}"/>
    <dgm:cxn modelId="{E99C3E5E-46CB-44A6-AA6F-423E42A44FC6}" type="presParOf" srcId="{6DB29774-E028-4F5D-B20C-7C4B5C809417}" destId="{4BFC8AB8-990E-4320-8251-3583BBA087BC}" srcOrd="0" destOrd="0" presId="urn:microsoft.com/office/officeart/2018/2/layout/IconCircleList"/>
    <dgm:cxn modelId="{13C42F37-E961-4131-B0E7-D728186480B3}" type="presParOf" srcId="{4BFC8AB8-990E-4320-8251-3583BBA087BC}" destId="{6BAA6371-1075-47F6-BA81-71A6A8C6E438}" srcOrd="0" destOrd="0" presId="urn:microsoft.com/office/officeart/2018/2/layout/IconCircleList"/>
    <dgm:cxn modelId="{FFA5BB04-4EBD-4645-90EF-6A31704C2AAD}" type="presParOf" srcId="{6BAA6371-1075-47F6-BA81-71A6A8C6E438}" destId="{3782F655-7F60-4784-918F-A4C369672E9C}" srcOrd="0" destOrd="0" presId="urn:microsoft.com/office/officeart/2018/2/layout/IconCircleList"/>
    <dgm:cxn modelId="{08C7909B-E054-4350-BC71-3F349F050597}" type="presParOf" srcId="{6BAA6371-1075-47F6-BA81-71A6A8C6E438}" destId="{77766DD2-9DD2-4191-BC50-4204EB5013C0}" srcOrd="1" destOrd="0" presId="urn:microsoft.com/office/officeart/2018/2/layout/IconCircleList"/>
    <dgm:cxn modelId="{5C9ECE8A-AA47-449B-88BB-C4762E4FF537}" type="presParOf" srcId="{6BAA6371-1075-47F6-BA81-71A6A8C6E438}" destId="{3B987DDC-3A41-4CB6-A9E1-2F7C4FCBD264}" srcOrd="2" destOrd="0" presId="urn:microsoft.com/office/officeart/2018/2/layout/IconCircleList"/>
    <dgm:cxn modelId="{ED831AC7-175E-47C0-A38A-B27424801BD8}" type="presParOf" srcId="{6BAA6371-1075-47F6-BA81-71A6A8C6E438}" destId="{986E10C0-774B-43DA-A191-D5ABDD32783B}" srcOrd="3" destOrd="0" presId="urn:microsoft.com/office/officeart/2018/2/layout/IconCircleList"/>
    <dgm:cxn modelId="{94471C72-2A49-419B-A940-DA0A8E647E69}" type="presParOf" srcId="{4BFC8AB8-990E-4320-8251-3583BBA087BC}" destId="{C3004BA6-27C5-4ABA-B304-1014C7E630F6}" srcOrd="1" destOrd="0" presId="urn:microsoft.com/office/officeart/2018/2/layout/IconCircleList"/>
    <dgm:cxn modelId="{D18BA685-AADB-4ECD-A0D3-8ED6A4932781}" type="presParOf" srcId="{4BFC8AB8-990E-4320-8251-3583BBA087BC}" destId="{F23EAA68-89D0-49AA-81C2-A52FA217327A}" srcOrd="2" destOrd="0" presId="urn:microsoft.com/office/officeart/2018/2/layout/IconCircleList"/>
    <dgm:cxn modelId="{463E21B8-A5AF-4303-8495-45B531421D98}" type="presParOf" srcId="{F23EAA68-89D0-49AA-81C2-A52FA217327A}" destId="{0D3B8D62-0E79-4025-B451-62D2D54D3566}" srcOrd="0" destOrd="0" presId="urn:microsoft.com/office/officeart/2018/2/layout/IconCircleList"/>
    <dgm:cxn modelId="{C1DC1B3E-7E48-4D5D-B8FD-36E5106CC25B}" type="presParOf" srcId="{F23EAA68-89D0-49AA-81C2-A52FA217327A}" destId="{C66A7EDD-9526-4953-A572-0A4D1CB436DE}" srcOrd="1" destOrd="0" presId="urn:microsoft.com/office/officeart/2018/2/layout/IconCircleList"/>
    <dgm:cxn modelId="{B867E136-68C8-45DF-9B13-BA2296B96E75}" type="presParOf" srcId="{F23EAA68-89D0-49AA-81C2-A52FA217327A}" destId="{C60B1F61-747E-467D-AAEE-CDEF2A76CD0F}" srcOrd="2" destOrd="0" presId="urn:microsoft.com/office/officeart/2018/2/layout/IconCircleList"/>
    <dgm:cxn modelId="{09EC73EC-3F6D-4173-9CC6-832D28D01307}" type="presParOf" srcId="{F23EAA68-89D0-49AA-81C2-A52FA217327A}" destId="{768F6ABA-F565-49FD-825E-15B7003D78BE}" srcOrd="3" destOrd="0" presId="urn:microsoft.com/office/officeart/2018/2/layout/IconCircleList"/>
    <dgm:cxn modelId="{99A7E02A-4371-47F7-8BF1-4E655290D939}" type="presParOf" srcId="{4BFC8AB8-990E-4320-8251-3583BBA087BC}" destId="{3007F51A-179E-42E7-A496-16EB6B3983CC}" srcOrd="3" destOrd="0" presId="urn:microsoft.com/office/officeart/2018/2/layout/IconCircleList"/>
    <dgm:cxn modelId="{B2E910D5-7F9B-4F3A-B652-37F37D47D120}" type="presParOf" srcId="{4BFC8AB8-990E-4320-8251-3583BBA087BC}" destId="{B2D948DB-59B8-4E03-9AFC-8AF7B390073C}" srcOrd="4" destOrd="0" presId="urn:microsoft.com/office/officeart/2018/2/layout/IconCircleList"/>
    <dgm:cxn modelId="{2E71F39C-46DF-4670-A2C8-C172088FB23B}" type="presParOf" srcId="{B2D948DB-59B8-4E03-9AFC-8AF7B390073C}" destId="{9324C623-F08D-4F3C-85BB-F3FF08EA8414}" srcOrd="0" destOrd="0" presId="urn:microsoft.com/office/officeart/2018/2/layout/IconCircleList"/>
    <dgm:cxn modelId="{5F537EB0-2E68-4C8B-A82F-8688A048E27C}" type="presParOf" srcId="{B2D948DB-59B8-4E03-9AFC-8AF7B390073C}" destId="{9B14B43F-CF3C-4543-889B-B5F11AAE5C78}" srcOrd="1" destOrd="0" presId="urn:microsoft.com/office/officeart/2018/2/layout/IconCircleList"/>
    <dgm:cxn modelId="{89C8D5CF-7A3B-460A-A286-BA7482C6D0A6}" type="presParOf" srcId="{B2D948DB-59B8-4E03-9AFC-8AF7B390073C}" destId="{4586196C-9650-4612-B005-65D47C020A9C}" srcOrd="2" destOrd="0" presId="urn:microsoft.com/office/officeart/2018/2/layout/IconCircleList"/>
    <dgm:cxn modelId="{3176C558-751B-452E-805F-E9B44EFE1F77}" type="presParOf" srcId="{B2D948DB-59B8-4E03-9AFC-8AF7B390073C}" destId="{46BE9E08-839D-425D-AE4E-064A7325B899}" srcOrd="3" destOrd="0" presId="urn:microsoft.com/office/officeart/2018/2/layout/IconCircleList"/>
    <dgm:cxn modelId="{9B14ABC8-BE2F-4611-8466-EADDEBFC3E83}" type="presParOf" srcId="{4BFC8AB8-990E-4320-8251-3583BBA087BC}" destId="{2E597E30-B0DA-4434-931F-6B971ABB6790}" srcOrd="5" destOrd="0" presId="urn:microsoft.com/office/officeart/2018/2/layout/IconCircleList"/>
    <dgm:cxn modelId="{F3377777-831F-4EC1-A177-942733438659}" type="presParOf" srcId="{4BFC8AB8-990E-4320-8251-3583BBA087BC}" destId="{7ABE9679-0608-46E2-8EBE-57336CA8E7A7}" srcOrd="6" destOrd="0" presId="urn:microsoft.com/office/officeart/2018/2/layout/IconCircleList"/>
    <dgm:cxn modelId="{DFCB0327-379A-474D-85F4-83E5BFC161D8}" type="presParOf" srcId="{7ABE9679-0608-46E2-8EBE-57336CA8E7A7}" destId="{875F6074-99BD-4678-B1AF-C44305886D8C}" srcOrd="0" destOrd="0" presId="urn:microsoft.com/office/officeart/2018/2/layout/IconCircleList"/>
    <dgm:cxn modelId="{EE2CD313-ED99-43DA-8869-0E1B476A8B90}" type="presParOf" srcId="{7ABE9679-0608-46E2-8EBE-57336CA8E7A7}" destId="{3AB610DC-9CFD-48D7-84F7-97775CE590F6}" srcOrd="1" destOrd="0" presId="urn:microsoft.com/office/officeart/2018/2/layout/IconCircleList"/>
    <dgm:cxn modelId="{26AD1064-AEC2-4CAD-A204-B5D822670DC5}" type="presParOf" srcId="{7ABE9679-0608-46E2-8EBE-57336CA8E7A7}" destId="{DEBB7F8D-704A-4B48-BF02-F6C106EB632F}" srcOrd="2" destOrd="0" presId="urn:microsoft.com/office/officeart/2018/2/layout/IconCircleList"/>
    <dgm:cxn modelId="{9C031D87-5C3F-4E97-B73D-9E3889B9B573}" type="presParOf" srcId="{7ABE9679-0608-46E2-8EBE-57336CA8E7A7}" destId="{0EEDCECC-FE82-4B10-A23F-99A84B48FF56}" srcOrd="3" destOrd="0" presId="urn:microsoft.com/office/officeart/2018/2/layout/IconCircle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854877B1-B5F1-4093-BCBC-328248295E4F}" type="doc">
      <dgm:prSet loTypeId="urn:microsoft.com/office/officeart/2018/5/layout/IconCircleLabelList" loCatId="icon" qsTypeId="urn:microsoft.com/office/officeart/2005/8/quickstyle/simple1" qsCatId="simple" csTypeId="urn:microsoft.com/office/officeart/2018/5/colors/Iconchunking_neutralbg_accent1_2" csCatId="accent1" phldr="1"/>
      <dgm:spPr/>
      <dgm:t>
        <a:bodyPr/>
        <a:lstStyle/>
        <a:p>
          <a:endParaRPr lang="en-US"/>
        </a:p>
      </dgm:t>
    </dgm:pt>
    <dgm:pt modelId="{D9F1F452-F5FB-43B8-8122-BAF38B721CAA}">
      <dgm:prSet/>
      <dgm:spPr/>
      <dgm:t>
        <a:bodyPr/>
        <a:lstStyle/>
        <a:p>
          <a:pPr>
            <a:defRPr cap="all"/>
          </a:pPr>
          <a:r>
            <a:rPr lang="en-US" b="1"/>
            <a:t>Assumption: Monthly Support budget = €0.5M; main cost driver is agent handling time.</a:t>
          </a:r>
          <a:endParaRPr lang="en-US"/>
        </a:p>
      </dgm:t>
    </dgm:pt>
    <dgm:pt modelId="{1E8F42E1-255B-4E82-9477-82266436B2C8}" type="parTrans" cxnId="{56A56975-7532-4E45-882C-91CDFAC07414}">
      <dgm:prSet/>
      <dgm:spPr/>
      <dgm:t>
        <a:bodyPr/>
        <a:lstStyle/>
        <a:p>
          <a:endParaRPr lang="en-US"/>
        </a:p>
      </dgm:t>
    </dgm:pt>
    <dgm:pt modelId="{A140573F-7016-4B14-80A2-3FF3DF18F923}" type="sibTrans" cxnId="{56A56975-7532-4E45-882C-91CDFAC07414}">
      <dgm:prSet/>
      <dgm:spPr/>
      <dgm:t>
        <a:bodyPr/>
        <a:lstStyle/>
        <a:p>
          <a:endParaRPr lang="en-US"/>
        </a:p>
      </dgm:t>
    </dgm:pt>
    <dgm:pt modelId="{5D18E87A-A8F8-4A2D-97A7-3F9C107DFF9D}">
      <dgm:prSet/>
      <dgm:spPr/>
      <dgm:t>
        <a:bodyPr/>
        <a:lstStyle/>
        <a:p>
          <a:pPr>
            <a:defRPr cap="all"/>
          </a:pPr>
          <a:r>
            <a:rPr lang="en-US"/>
            <a:t>Per channel, sum INTERACTION_HANDLING_TIME and convert to hours.</a:t>
          </a:r>
        </a:p>
      </dgm:t>
    </dgm:pt>
    <dgm:pt modelId="{4A73C0FE-4DF3-4204-B3D6-676EECEC6E15}" type="parTrans" cxnId="{6B851AFC-1434-4776-995B-39CC115C3D00}">
      <dgm:prSet/>
      <dgm:spPr/>
      <dgm:t>
        <a:bodyPr/>
        <a:lstStyle/>
        <a:p>
          <a:endParaRPr lang="en-US"/>
        </a:p>
      </dgm:t>
    </dgm:pt>
    <dgm:pt modelId="{4E1004AA-C9FC-4FD0-AEA7-EA1F47C96AA0}" type="sibTrans" cxnId="{6B851AFC-1434-4776-995B-39CC115C3D00}">
      <dgm:prSet/>
      <dgm:spPr/>
      <dgm:t>
        <a:bodyPr/>
        <a:lstStyle/>
        <a:p>
          <a:endParaRPr lang="en-US"/>
        </a:p>
      </dgm:t>
    </dgm:pt>
    <dgm:pt modelId="{7BDEB58F-07E1-4A3D-8522-F337488FE76B}">
      <dgm:prSet/>
      <dgm:spPr/>
      <dgm:t>
        <a:bodyPr/>
        <a:lstStyle/>
        <a:p>
          <a:pPr>
            <a:defRPr cap="all"/>
          </a:pPr>
          <a:r>
            <a:rPr lang="en-US"/>
            <a:t>Adjust for concurrency: calls &amp; email at 1×, chat at 1/3× (3 chats in parallel).</a:t>
          </a:r>
        </a:p>
      </dgm:t>
    </dgm:pt>
    <dgm:pt modelId="{CAB81633-90A2-4358-8525-2B5292134544}" type="parTrans" cxnId="{CF92D9CF-DA33-45EF-BE5F-90E9353476F2}">
      <dgm:prSet/>
      <dgm:spPr/>
      <dgm:t>
        <a:bodyPr/>
        <a:lstStyle/>
        <a:p>
          <a:endParaRPr lang="en-US"/>
        </a:p>
      </dgm:t>
    </dgm:pt>
    <dgm:pt modelId="{A101281C-B784-4E50-BA78-CD1261E95508}" type="sibTrans" cxnId="{CF92D9CF-DA33-45EF-BE5F-90E9353476F2}">
      <dgm:prSet/>
      <dgm:spPr/>
      <dgm:t>
        <a:bodyPr/>
        <a:lstStyle/>
        <a:p>
          <a:endParaRPr lang="en-US"/>
        </a:p>
      </dgm:t>
    </dgm:pt>
    <dgm:pt modelId="{D08AC078-FC02-4B02-9FC2-C5957DEC5EAF}">
      <dgm:prSet/>
      <dgm:spPr/>
      <dgm:t>
        <a:bodyPr/>
        <a:lstStyle/>
        <a:p>
          <a:pPr>
            <a:defRPr cap="all"/>
          </a:pPr>
          <a:r>
            <a:rPr lang="en-US"/>
            <a:t>Allocate the €0.5M budget proportional to effective agent hours, then compute cost per interaction (and per resolved interaction).</a:t>
          </a:r>
        </a:p>
      </dgm:t>
    </dgm:pt>
    <dgm:pt modelId="{23391CAE-E4DB-4DDF-8622-B7AD67D7B18E}" type="parTrans" cxnId="{7C6AE1BA-9D47-430A-B075-7AF4845628AD}">
      <dgm:prSet/>
      <dgm:spPr/>
      <dgm:t>
        <a:bodyPr/>
        <a:lstStyle/>
        <a:p>
          <a:endParaRPr lang="en-US"/>
        </a:p>
      </dgm:t>
    </dgm:pt>
    <dgm:pt modelId="{5D88C46F-164E-4A98-B250-86CDBA8E9AB3}" type="sibTrans" cxnId="{7C6AE1BA-9D47-430A-B075-7AF4845628AD}">
      <dgm:prSet/>
      <dgm:spPr/>
      <dgm:t>
        <a:bodyPr/>
        <a:lstStyle/>
        <a:p>
          <a:endParaRPr lang="en-US"/>
        </a:p>
      </dgm:t>
    </dgm:pt>
    <dgm:pt modelId="{7493600E-C4B1-4725-8646-786F005B08F2}" type="pres">
      <dgm:prSet presAssocID="{854877B1-B5F1-4093-BCBC-328248295E4F}" presName="root" presStyleCnt="0">
        <dgm:presLayoutVars>
          <dgm:dir/>
          <dgm:resizeHandles val="exact"/>
        </dgm:presLayoutVars>
      </dgm:prSet>
      <dgm:spPr/>
    </dgm:pt>
    <dgm:pt modelId="{647468FD-08AF-4B20-903F-426954A114BE}" type="pres">
      <dgm:prSet presAssocID="{D9F1F452-F5FB-43B8-8122-BAF38B721CAA}" presName="compNode" presStyleCnt="0"/>
      <dgm:spPr/>
    </dgm:pt>
    <dgm:pt modelId="{E102C6E4-DE1F-4C11-BF4B-98C63BC9204B}" type="pres">
      <dgm:prSet presAssocID="{D9F1F452-F5FB-43B8-8122-BAF38B721CAA}" presName="iconBgRect" presStyleLbl="bgShp" presStyleIdx="0" presStyleCnt="4"/>
      <dgm:spPr/>
    </dgm:pt>
    <dgm:pt modelId="{DE402EBB-7ACA-4135-B034-88E83AB489B0}" type="pres">
      <dgm:prSet presAssocID="{D9F1F452-F5FB-43B8-8122-BAF38B721CAA}"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Money"/>
        </a:ext>
      </dgm:extLst>
    </dgm:pt>
    <dgm:pt modelId="{3C8A8368-9825-4261-B64D-04F4DEF05884}" type="pres">
      <dgm:prSet presAssocID="{D9F1F452-F5FB-43B8-8122-BAF38B721CAA}" presName="spaceRect" presStyleCnt="0"/>
      <dgm:spPr/>
    </dgm:pt>
    <dgm:pt modelId="{6FE502E6-D759-42F2-B5D1-B8FF4D768CAA}" type="pres">
      <dgm:prSet presAssocID="{D9F1F452-F5FB-43B8-8122-BAF38B721CAA}" presName="textRect" presStyleLbl="revTx" presStyleIdx="0" presStyleCnt="4">
        <dgm:presLayoutVars>
          <dgm:chMax val="1"/>
          <dgm:chPref val="1"/>
        </dgm:presLayoutVars>
      </dgm:prSet>
      <dgm:spPr/>
    </dgm:pt>
    <dgm:pt modelId="{94984616-BC8C-4101-8838-85869C1F9544}" type="pres">
      <dgm:prSet presAssocID="{A140573F-7016-4B14-80A2-3FF3DF18F923}" presName="sibTrans" presStyleCnt="0"/>
      <dgm:spPr/>
    </dgm:pt>
    <dgm:pt modelId="{283591B0-49C5-4A61-9B55-4D7D0191C572}" type="pres">
      <dgm:prSet presAssocID="{5D18E87A-A8F8-4A2D-97A7-3F9C107DFF9D}" presName="compNode" presStyleCnt="0"/>
      <dgm:spPr/>
    </dgm:pt>
    <dgm:pt modelId="{79EDD496-CCBD-4780-8899-30D8FABD99A7}" type="pres">
      <dgm:prSet presAssocID="{5D18E87A-A8F8-4A2D-97A7-3F9C107DFF9D}" presName="iconBgRect" presStyleLbl="bgShp" presStyleIdx="1" presStyleCnt="4"/>
      <dgm:spPr/>
    </dgm:pt>
    <dgm:pt modelId="{30434B4E-26BF-4A3D-921F-0A476E6788ED}" type="pres">
      <dgm:prSet presAssocID="{5D18E87A-A8F8-4A2D-97A7-3F9C107DFF9D}"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Share With Person"/>
        </a:ext>
      </dgm:extLst>
    </dgm:pt>
    <dgm:pt modelId="{D64A72D8-2427-40B6-9F6B-A14FB8DE8DFD}" type="pres">
      <dgm:prSet presAssocID="{5D18E87A-A8F8-4A2D-97A7-3F9C107DFF9D}" presName="spaceRect" presStyleCnt="0"/>
      <dgm:spPr/>
    </dgm:pt>
    <dgm:pt modelId="{90CB644E-8A11-4AA1-857D-D1D36F4DA271}" type="pres">
      <dgm:prSet presAssocID="{5D18E87A-A8F8-4A2D-97A7-3F9C107DFF9D}" presName="textRect" presStyleLbl="revTx" presStyleIdx="1" presStyleCnt="4">
        <dgm:presLayoutVars>
          <dgm:chMax val="1"/>
          <dgm:chPref val="1"/>
        </dgm:presLayoutVars>
      </dgm:prSet>
      <dgm:spPr/>
    </dgm:pt>
    <dgm:pt modelId="{0E606D27-CF73-4EA6-BEC9-7D8C462541E5}" type="pres">
      <dgm:prSet presAssocID="{4E1004AA-C9FC-4FD0-AEA7-EA1F47C96AA0}" presName="sibTrans" presStyleCnt="0"/>
      <dgm:spPr/>
    </dgm:pt>
    <dgm:pt modelId="{061FF552-212B-41B9-9A63-010A4578DB47}" type="pres">
      <dgm:prSet presAssocID="{7BDEB58F-07E1-4A3D-8522-F337488FE76B}" presName="compNode" presStyleCnt="0"/>
      <dgm:spPr/>
    </dgm:pt>
    <dgm:pt modelId="{AE1BFE1B-C87A-46F1-9163-6F816B4746AF}" type="pres">
      <dgm:prSet presAssocID="{7BDEB58F-07E1-4A3D-8522-F337488FE76B}" presName="iconBgRect" presStyleLbl="bgShp" presStyleIdx="2" presStyleCnt="4"/>
      <dgm:spPr/>
    </dgm:pt>
    <dgm:pt modelId="{028EE07C-E8D1-4145-B21C-FECDD72CAED7}" type="pres">
      <dgm:prSet presAssocID="{7BDEB58F-07E1-4A3D-8522-F337488FE76B}"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Subtitles"/>
        </a:ext>
      </dgm:extLst>
    </dgm:pt>
    <dgm:pt modelId="{FA9AD49A-7471-4D9A-AF59-1C6E36E6C5A3}" type="pres">
      <dgm:prSet presAssocID="{7BDEB58F-07E1-4A3D-8522-F337488FE76B}" presName="spaceRect" presStyleCnt="0"/>
      <dgm:spPr/>
    </dgm:pt>
    <dgm:pt modelId="{982DBEEC-A973-420A-A313-C2DD2528165C}" type="pres">
      <dgm:prSet presAssocID="{7BDEB58F-07E1-4A3D-8522-F337488FE76B}" presName="textRect" presStyleLbl="revTx" presStyleIdx="2" presStyleCnt="4">
        <dgm:presLayoutVars>
          <dgm:chMax val="1"/>
          <dgm:chPref val="1"/>
        </dgm:presLayoutVars>
      </dgm:prSet>
      <dgm:spPr/>
    </dgm:pt>
    <dgm:pt modelId="{12A04530-9B0E-4081-8B29-66F21009D67A}" type="pres">
      <dgm:prSet presAssocID="{A101281C-B784-4E50-BA78-CD1261E95508}" presName="sibTrans" presStyleCnt="0"/>
      <dgm:spPr/>
    </dgm:pt>
    <dgm:pt modelId="{B405604A-8640-4459-9733-B0FBB97FBFCB}" type="pres">
      <dgm:prSet presAssocID="{D08AC078-FC02-4B02-9FC2-C5957DEC5EAF}" presName="compNode" presStyleCnt="0"/>
      <dgm:spPr/>
    </dgm:pt>
    <dgm:pt modelId="{F8468493-D0DF-417F-AF8B-96802B8F2F90}" type="pres">
      <dgm:prSet presAssocID="{D08AC078-FC02-4B02-9FC2-C5957DEC5EAF}" presName="iconBgRect" presStyleLbl="bgShp" presStyleIdx="3" presStyleCnt="4"/>
      <dgm:spPr/>
    </dgm:pt>
    <dgm:pt modelId="{0255E3F4-DA2D-49BF-87D0-5510A8A3337A}" type="pres">
      <dgm:prSet presAssocID="{D08AC078-FC02-4B02-9FC2-C5957DEC5EAF}"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Calculator"/>
        </a:ext>
      </dgm:extLst>
    </dgm:pt>
    <dgm:pt modelId="{D3A30DE2-4581-4FEA-9F71-10B95EBA62EC}" type="pres">
      <dgm:prSet presAssocID="{D08AC078-FC02-4B02-9FC2-C5957DEC5EAF}" presName="spaceRect" presStyleCnt="0"/>
      <dgm:spPr/>
    </dgm:pt>
    <dgm:pt modelId="{9D0C6C3A-27C5-44E3-B90E-A4C96F3D628F}" type="pres">
      <dgm:prSet presAssocID="{D08AC078-FC02-4B02-9FC2-C5957DEC5EAF}" presName="textRect" presStyleLbl="revTx" presStyleIdx="3" presStyleCnt="4">
        <dgm:presLayoutVars>
          <dgm:chMax val="1"/>
          <dgm:chPref val="1"/>
        </dgm:presLayoutVars>
      </dgm:prSet>
      <dgm:spPr/>
    </dgm:pt>
  </dgm:ptLst>
  <dgm:cxnLst>
    <dgm:cxn modelId="{DF931720-D6A8-40F1-82F1-F132E071D241}" type="presOf" srcId="{D9F1F452-F5FB-43B8-8122-BAF38B721CAA}" destId="{6FE502E6-D759-42F2-B5D1-B8FF4D768CAA}" srcOrd="0" destOrd="0" presId="urn:microsoft.com/office/officeart/2018/5/layout/IconCircleLabelList"/>
    <dgm:cxn modelId="{82D8462C-8313-4B7B-A670-45787F6C2881}" type="presOf" srcId="{854877B1-B5F1-4093-BCBC-328248295E4F}" destId="{7493600E-C4B1-4725-8646-786F005B08F2}" srcOrd="0" destOrd="0" presId="urn:microsoft.com/office/officeart/2018/5/layout/IconCircleLabelList"/>
    <dgm:cxn modelId="{01453A32-F01B-401B-878D-79757873D00A}" type="presOf" srcId="{5D18E87A-A8F8-4A2D-97A7-3F9C107DFF9D}" destId="{90CB644E-8A11-4AA1-857D-D1D36F4DA271}" srcOrd="0" destOrd="0" presId="urn:microsoft.com/office/officeart/2018/5/layout/IconCircleLabelList"/>
    <dgm:cxn modelId="{5A22335D-EF64-4E34-B835-F3941FF19F07}" type="presOf" srcId="{D08AC078-FC02-4B02-9FC2-C5957DEC5EAF}" destId="{9D0C6C3A-27C5-44E3-B90E-A4C96F3D628F}" srcOrd="0" destOrd="0" presId="urn:microsoft.com/office/officeart/2018/5/layout/IconCircleLabelList"/>
    <dgm:cxn modelId="{56A56975-7532-4E45-882C-91CDFAC07414}" srcId="{854877B1-B5F1-4093-BCBC-328248295E4F}" destId="{D9F1F452-F5FB-43B8-8122-BAF38B721CAA}" srcOrd="0" destOrd="0" parTransId="{1E8F42E1-255B-4E82-9477-82266436B2C8}" sibTransId="{A140573F-7016-4B14-80A2-3FF3DF18F923}"/>
    <dgm:cxn modelId="{2597B356-38D1-431A-9EA2-5F698467C8FC}" type="presOf" srcId="{7BDEB58F-07E1-4A3D-8522-F337488FE76B}" destId="{982DBEEC-A973-420A-A313-C2DD2528165C}" srcOrd="0" destOrd="0" presId="urn:microsoft.com/office/officeart/2018/5/layout/IconCircleLabelList"/>
    <dgm:cxn modelId="{7C6AE1BA-9D47-430A-B075-7AF4845628AD}" srcId="{854877B1-B5F1-4093-BCBC-328248295E4F}" destId="{D08AC078-FC02-4B02-9FC2-C5957DEC5EAF}" srcOrd="3" destOrd="0" parTransId="{23391CAE-E4DB-4DDF-8622-B7AD67D7B18E}" sibTransId="{5D88C46F-164E-4A98-B250-86CDBA8E9AB3}"/>
    <dgm:cxn modelId="{CF92D9CF-DA33-45EF-BE5F-90E9353476F2}" srcId="{854877B1-B5F1-4093-BCBC-328248295E4F}" destId="{7BDEB58F-07E1-4A3D-8522-F337488FE76B}" srcOrd="2" destOrd="0" parTransId="{CAB81633-90A2-4358-8525-2B5292134544}" sibTransId="{A101281C-B784-4E50-BA78-CD1261E95508}"/>
    <dgm:cxn modelId="{6B851AFC-1434-4776-995B-39CC115C3D00}" srcId="{854877B1-B5F1-4093-BCBC-328248295E4F}" destId="{5D18E87A-A8F8-4A2D-97A7-3F9C107DFF9D}" srcOrd="1" destOrd="0" parTransId="{4A73C0FE-4DF3-4204-B3D6-676EECEC6E15}" sibTransId="{4E1004AA-C9FC-4FD0-AEA7-EA1F47C96AA0}"/>
    <dgm:cxn modelId="{A3CE9464-36EA-4077-986C-8A46C65AE0E0}" type="presParOf" srcId="{7493600E-C4B1-4725-8646-786F005B08F2}" destId="{647468FD-08AF-4B20-903F-426954A114BE}" srcOrd="0" destOrd="0" presId="urn:microsoft.com/office/officeart/2018/5/layout/IconCircleLabelList"/>
    <dgm:cxn modelId="{B6A94E9C-294A-4D75-9B11-1177CA639579}" type="presParOf" srcId="{647468FD-08AF-4B20-903F-426954A114BE}" destId="{E102C6E4-DE1F-4C11-BF4B-98C63BC9204B}" srcOrd="0" destOrd="0" presId="urn:microsoft.com/office/officeart/2018/5/layout/IconCircleLabelList"/>
    <dgm:cxn modelId="{D01ED172-918A-4414-BA0A-FEA670097D44}" type="presParOf" srcId="{647468FD-08AF-4B20-903F-426954A114BE}" destId="{DE402EBB-7ACA-4135-B034-88E83AB489B0}" srcOrd="1" destOrd="0" presId="urn:microsoft.com/office/officeart/2018/5/layout/IconCircleLabelList"/>
    <dgm:cxn modelId="{AB431A64-3576-4E16-ABD8-6D03D06F2B0D}" type="presParOf" srcId="{647468FD-08AF-4B20-903F-426954A114BE}" destId="{3C8A8368-9825-4261-B64D-04F4DEF05884}" srcOrd="2" destOrd="0" presId="urn:microsoft.com/office/officeart/2018/5/layout/IconCircleLabelList"/>
    <dgm:cxn modelId="{7731C78C-785F-40B9-B7B8-3A54EF595249}" type="presParOf" srcId="{647468FD-08AF-4B20-903F-426954A114BE}" destId="{6FE502E6-D759-42F2-B5D1-B8FF4D768CAA}" srcOrd="3" destOrd="0" presId="urn:microsoft.com/office/officeart/2018/5/layout/IconCircleLabelList"/>
    <dgm:cxn modelId="{9571DA86-9A22-4913-A4F9-264B0A2840C2}" type="presParOf" srcId="{7493600E-C4B1-4725-8646-786F005B08F2}" destId="{94984616-BC8C-4101-8838-85869C1F9544}" srcOrd="1" destOrd="0" presId="urn:microsoft.com/office/officeart/2018/5/layout/IconCircleLabelList"/>
    <dgm:cxn modelId="{232346A2-EB8D-45D7-93C3-7BB32C7D9F6C}" type="presParOf" srcId="{7493600E-C4B1-4725-8646-786F005B08F2}" destId="{283591B0-49C5-4A61-9B55-4D7D0191C572}" srcOrd="2" destOrd="0" presId="urn:microsoft.com/office/officeart/2018/5/layout/IconCircleLabelList"/>
    <dgm:cxn modelId="{776F96C8-C0D4-4458-8C43-FA721F5DD2C7}" type="presParOf" srcId="{283591B0-49C5-4A61-9B55-4D7D0191C572}" destId="{79EDD496-CCBD-4780-8899-30D8FABD99A7}" srcOrd="0" destOrd="0" presId="urn:microsoft.com/office/officeart/2018/5/layout/IconCircleLabelList"/>
    <dgm:cxn modelId="{163BF0FD-C469-491B-BDAE-EE4BE24FA8A8}" type="presParOf" srcId="{283591B0-49C5-4A61-9B55-4D7D0191C572}" destId="{30434B4E-26BF-4A3D-921F-0A476E6788ED}" srcOrd="1" destOrd="0" presId="urn:microsoft.com/office/officeart/2018/5/layout/IconCircleLabelList"/>
    <dgm:cxn modelId="{97147D8B-FD83-455F-B06C-94E8F772BCA3}" type="presParOf" srcId="{283591B0-49C5-4A61-9B55-4D7D0191C572}" destId="{D64A72D8-2427-40B6-9F6B-A14FB8DE8DFD}" srcOrd="2" destOrd="0" presId="urn:microsoft.com/office/officeart/2018/5/layout/IconCircleLabelList"/>
    <dgm:cxn modelId="{917C8292-F0F5-418D-974F-E28F08517209}" type="presParOf" srcId="{283591B0-49C5-4A61-9B55-4D7D0191C572}" destId="{90CB644E-8A11-4AA1-857D-D1D36F4DA271}" srcOrd="3" destOrd="0" presId="urn:microsoft.com/office/officeart/2018/5/layout/IconCircleLabelList"/>
    <dgm:cxn modelId="{BA7A7C77-CC99-449D-9885-20CAE9DA8257}" type="presParOf" srcId="{7493600E-C4B1-4725-8646-786F005B08F2}" destId="{0E606D27-CF73-4EA6-BEC9-7D8C462541E5}" srcOrd="3" destOrd="0" presId="urn:microsoft.com/office/officeart/2018/5/layout/IconCircleLabelList"/>
    <dgm:cxn modelId="{ED81D10B-C8FF-4665-8C15-23B4D7C62F8F}" type="presParOf" srcId="{7493600E-C4B1-4725-8646-786F005B08F2}" destId="{061FF552-212B-41B9-9A63-010A4578DB47}" srcOrd="4" destOrd="0" presId="urn:microsoft.com/office/officeart/2018/5/layout/IconCircleLabelList"/>
    <dgm:cxn modelId="{4377E214-5EC5-4C14-92A1-26564400951D}" type="presParOf" srcId="{061FF552-212B-41B9-9A63-010A4578DB47}" destId="{AE1BFE1B-C87A-46F1-9163-6F816B4746AF}" srcOrd="0" destOrd="0" presId="urn:microsoft.com/office/officeart/2018/5/layout/IconCircleLabelList"/>
    <dgm:cxn modelId="{440D117D-70A8-4E87-8CDD-7EEBBF85F50E}" type="presParOf" srcId="{061FF552-212B-41B9-9A63-010A4578DB47}" destId="{028EE07C-E8D1-4145-B21C-FECDD72CAED7}" srcOrd="1" destOrd="0" presId="urn:microsoft.com/office/officeart/2018/5/layout/IconCircleLabelList"/>
    <dgm:cxn modelId="{9AC4A27B-E5C5-4987-B4A7-9603A73C763E}" type="presParOf" srcId="{061FF552-212B-41B9-9A63-010A4578DB47}" destId="{FA9AD49A-7471-4D9A-AF59-1C6E36E6C5A3}" srcOrd="2" destOrd="0" presId="urn:microsoft.com/office/officeart/2018/5/layout/IconCircleLabelList"/>
    <dgm:cxn modelId="{EFEAA193-DFF6-4288-BCD2-B7C75D1FEB14}" type="presParOf" srcId="{061FF552-212B-41B9-9A63-010A4578DB47}" destId="{982DBEEC-A973-420A-A313-C2DD2528165C}" srcOrd="3" destOrd="0" presId="urn:microsoft.com/office/officeart/2018/5/layout/IconCircleLabelList"/>
    <dgm:cxn modelId="{152A4E05-4EB1-49CC-8F44-EE23FC77C398}" type="presParOf" srcId="{7493600E-C4B1-4725-8646-786F005B08F2}" destId="{12A04530-9B0E-4081-8B29-66F21009D67A}" srcOrd="5" destOrd="0" presId="urn:microsoft.com/office/officeart/2018/5/layout/IconCircleLabelList"/>
    <dgm:cxn modelId="{1B2F01FE-F5BD-4FAD-8F99-8C49432EE507}" type="presParOf" srcId="{7493600E-C4B1-4725-8646-786F005B08F2}" destId="{B405604A-8640-4459-9733-B0FBB97FBFCB}" srcOrd="6" destOrd="0" presId="urn:microsoft.com/office/officeart/2018/5/layout/IconCircleLabelList"/>
    <dgm:cxn modelId="{892FCB5F-9E00-4547-A7D9-1752A6D03095}" type="presParOf" srcId="{B405604A-8640-4459-9733-B0FBB97FBFCB}" destId="{F8468493-D0DF-417F-AF8B-96802B8F2F90}" srcOrd="0" destOrd="0" presId="urn:microsoft.com/office/officeart/2018/5/layout/IconCircleLabelList"/>
    <dgm:cxn modelId="{F282A4F1-4800-45BE-B1A1-A8761D7BBE9B}" type="presParOf" srcId="{B405604A-8640-4459-9733-B0FBB97FBFCB}" destId="{0255E3F4-DA2D-49BF-87D0-5510A8A3337A}" srcOrd="1" destOrd="0" presId="urn:microsoft.com/office/officeart/2018/5/layout/IconCircleLabelList"/>
    <dgm:cxn modelId="{9D6675B5-D007-4D86-8F5E-AA485A4675C9}" type="presParOf" srcId="{B405604A-8640-4459-9733-B0FBB97FBFCB}" destId="{D3A30DE2-4581-4FEA-9F71-10B95EBA62EC}" srcOrd="2" destOrd="0" presId="urn:microsoft.com/office/officeart/2018/5/layout/IconCircleLabelList"/>
    <dgm:cxn modelId="{6A5D9237-6581-4515-A8AA-12BE139A6AE0}" type="presParOf" srcId="{B405604A-8640-4459-9733-B0FBB97FBFCB}" destId="{9D0C6C3A-27C5-44E3-B90E-A4C96F3D628F}" srcOrd="3" destOrd="0" presId="urn:microsoft.com/office/officeart/2018/5/layout/IconCircle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782F655-7F60-4784-918F-A4C369672E9C}">
      <dsp:nvSpPr>
        <dsp:cNvPr id="0" name=""/>
        <dsp:cNvSpPr/>
      </dsp:nvSpPr>
      <dsp:spPr>
        <a:xfrm>
          <a:off x="145153" y="800136"/>
          <a:ext cx="1005669" cy="1005669"/>
        </a:xfrm>
        <a:prstGeom prst="ellipse">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7766DD2-9DD2-4191-BC50-4204EB5013C0}">
      <dsp:nvSpPr>
        <dsp:cNvPr id="0" name=""/>
        <dsp:cNvSpPr/>
      </dsp:nvSpPr>
      <dsp:spPr>
        <a:xfrm>
          <a:off x="356344" y="1011326"/>
          <a:ext cx="583288" cy="583288"/>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986E10C0-774B-43DA-A191-D5ABDD32783B}">
      <dsp:nvSpPr>
        <dsp:cNvPr id="0" name=""/>
        <dsp:cNvSpPr/>
      </dsp:nvSpPr>
      <dsp:spPr>
        <a:xfrm>
          <a:off x="1366323" y="800136"/>
          <a:ext cx="2370505" cy="100566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666750">
            <a:lnSpc>
              <a:spcPct val="90000"/>
            </a:lnSpc>
            <a:spcBef>
              <a:spcPct val="0"/>
            </a:spcBef>
            <a:spcAft>
              <a:spcPct val="35000"/>
            </a:spcAft>
            <a:buNone/>
          </a:pPr>
          <a:r>
            <a:rPr lang="en-US" sz="1500" b="1" kern="1200"/>
            <a:t>Goal: Understand support performance across BE, CH, IE, NL and identify improvement levers.</a:t>
          </a:r>
          <a:endParaRPr lang="en-US" sz="1500" kern="1200"/>
        </a:p>
      </dsp:txBody>
      <dsp:txXfrm>
        <a:off x="1366323" y="800136"/>
        <a:ext cx="2370505" cy="1005669"/>
      </dsp:txXfrm>
    </dsp:sp>
    <dsp:sp modelId="{0D3B8D62-0E79-4025-B451-62D2D54D3566}">
      <dsp:nvSpPr>
        <dsp:cNvPr id="0" name=""/>
        <dsp:cNvSpPr/>
      </dsp:nvSpPr>
      <dsp:spPr>
        <a:xfrm>
          <a:off x="4149871" y="800136"/>
          <a:ext cx="1005669" cy="1005669"/>
        </a:xfrm>
        <a:prstGeom prst="ellipse">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66A7EDD-9526-4953-A572-0A4D1CB436DE}">
      <dsp:nvSpPr>
        <dsp:cNvPr id="0" name=""/>
        <dsp:cNvSpPr/>
      </dsp:nvSpPr>
      <dsp:spPr>
        <a:xfrm>
          <a:off x="4361061" y="1011326"/>
          <a:ext cx="583288" cy="583288"/>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768F6ABA-F565-49FD-825E-15B7003D78BE}">
      <dsp:nvSpPr>
        <dsp:cNvPr id="0" name=""/>
        <dsp:cNvSpPr/>
      </dsp:nvSpPr>
      <dsp:spPr>
        <a:xfrm>
          <a:off x="5371040" y="800136"/>
          <a:ext cx="2370505" cy="100566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666750">
            <a:lnSpc>
              <a:spcPct val="90000"/>
            </a:lnSpc>
            <a:spcBef>
              <a:spcPct val="0"/>
            </a:spcBef>
            <a:spcAft>
              <a:spcPct val="35000"/>
            </a:spcAft>
            <a:buNone/>
          </a:pPr>
          <a:r>
            <a:rPr lang="en-US" sz="1500" kern="1200"/>
            <a:t>Data: ~430k interactions (1 row = 1 merchant → support interaction) across 2024 sample used as 2022 proxy.</a:t>
          </a:r>
        </a:p>
      </dsp:txBody>
      <dsp:txXfrm>
        <a:off x="5371040" y="800136"/>
        <a:ext cx="2370505" cy="1005669"/>
      </dsp:txXfrm>
    </dsp:sp>
    <dsp:sp modelId="{9324C623-F08D-4F3C-85BB-F3FF08EA8414}">
      <dsp:nvSpPr>
        <dsp:cNvPr id="0" name=""/>
        <dsp:cNvSpPr/>
      </dsp:nvSpPr>
      <dsp:spPr>
        <a:xfrm>
          <a:off x="145153" y="2545532"/>
          <a:ext cx="1005669" cy="1005669"/>
        </a:xfrm>
        <a:prstGeom prst="ellipse">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B14B43F-CF3C-4543-889B-B5F11AAE5C78}">
      <dsp:nvSpPr>
        <dsp:cNvPr id="0" name=""/>
        <dsp:cNvSpPr/>
      </dsp:nvSpPr>
      <dsp:spPr>
        <a:xfrm>
          <a:off x="356344" y="2756723"/>
          <a:ext cx="583288" cy="583288"/>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46BE9E08-839D-425D-AE4E-064A7325B899}">
      <dsp:nvSpPr>
        <dsp:cNvPr id="0" name=""/>
        <dsp:cNvSpPr/>
      </dsp:nvSpPr>
      <dsp:spPr>
        <a:xfrm>
          <a:off x="1366323" y="2545532"/>
          <a:ext cx="2370505" cy="100566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666750">
            <a:lnSpc>
              <a:spcPct val="90000"/>
            </a:lnSpc>
            <a:spcBef>
              <a:spcPct val="0"/>
            </a:spcBef>
            <a:spcAft>
              <a:spcPct val="35000"/>
            </a:spcAft>
            <a:buNone/>
          </a:pPr>
          <a:r>
            <a:rPr lang="en-US" sz="1500" kern="1200"/>
            <a:t>Key fields: merchant, product (classification), channel, agent company, dates, handling &amp; response times.</a:t>
          </a:r>
        </a:p>
      </dsp:txBody>
      <dsp:txXfrm>
        <a:off x="1366323" y="2545532"/>
        <a:ext cx="2370505" cy="1005669"/>
      </dsp:txXfrm>
    </dsp:sp>
    <dsp:sp modelId="{875F6074-99BD-4678-B1AF-C44305886D8C}">
      <dsp:nvSpPr>
        <dsp:cNvPr id="0" name=""/>
        <dsp:cNvSpPr/>
      </dsp:nvSpPr>
      <dsp:spPr>
        <a:xfrm>
          <a:off x="4149871" y="2545532"/>
          <a:ext cx="1005669" cy="1005669"/>
        </a:xfrm>
        <a:prstGeom prst="ellipse">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AB610DC-9CFD-48D7-84F7-97775CE590F6}">
      <dsp:nvSpPr>
        <dsp:cNvPr id="0" name=""/>
        <dsp:cNvSpPr/>
      </dsp:nvSpPr>
      <dsp:spPr>
        <a:xfrm>
          <a:off x="4361061" y="2756723"/>
          <a:ext cx="583288" cy="583288"/>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0EEDCECC-FE82-4B10-A23F-99A84B48FF56}">
      <dsp:nvSpPr>
        <dsp:cNvPr id="0" name=""/>
        <dsp:cNvSpPr/>
      </dsp:nvSpPr>
      <dsp:spPr>
        <a:xfrm>
          <a:off x="5371040" y="2545532"/>
          <a:ext cx="2370505" cy="100566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666750">
            <a:lnSpc>
              <a:spcPct val="90000"/>
            </a:lnSpc>
            <a:spcBef>
              <a:spcPct val="0"/>
            </a:spcBef>
            <a:spcAft>
              <a:spcPct val="35000"/>
            </a:spcAft>
            <a:buNone/>
          </a:pPr>
          <a:r>
            <a:rPr lang="en-US" sz="1500" kern="1200" dirty="0"/>
            <a:t>Focus metrics: recontacts on the same product and channel costs.</a:t>
          </a:r>
        </a:p>
      </dsp:txBody>
      <dsp:txXfrm>
        <a:off x="5371040" y="2545532"/>
        <a:ext cx="2370505" cy="1005669"/>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102C6E4-DE1F-4C11-BF4B-98C63BC9204B}">
      <dsp:nvSpPr>
        <dsp:cNvPr id="0" name=""/>
        <dsp:cNvSpPr/>
      </dsp:nvSpPr>
      <dsp:spPr>
        <a:xfrm>
          <a:off x="341781" y="1033089"/>
          <a:ext cx="1062615" cy="1062615"/>
        </a:xfrm>
        <a:prstGeom prst="ellipse">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E402EBB-7ACA-4135-B034-88E83AB489B0}">
      <dsp:nvSpPr>
        <dsp:cNvPr id="0" name=""/>
        <dsp:cNvSpPr/>
      </dsp:nvSpPr>
      <dsp:spPr>
        <a:xfrm>
          <a:off x="568240" y="1259548"/>
          <a:ext cx="609697" cy="609697"/>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6FE502E6-D759-42F2-B5D1-B8FF4D768CAA}">
      <dsp:nvSpPr>
        <dsp:cNvPr id="0" name=""/>
        <dsp:cNvSpPr/>
      </dsp:nvSpPr>
      <dsp:spPr>
        <a:xfrm>
          <a:off x="2092" y="2426683"/>
          <a:ext cx="1741992" cy="8927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90000"/>
            </a:lnSpc>
            <a:spcBef>
              <a:spcPct val="0"/>
            </a:spcBef>
            <a:spcAft>
              <a:spcPct val="35000"/>
            </a:spcAft>
            <a:buNone/>
            <a:defRPr cap="all"/>
          </a:pPr>
          <a:r>
            <a:rPr lang="en-US" sz="1100" b="1" kern="1200"/>
            <a:t>Assumption: Monthly Support budget = €0.5M; main cost driver is agent handling time.</a:t>
          </a:r>
          <a:endParaRPr lang="en-US" sz="1100" kern="1200"/>
        </a:p>
      </dsp:txBody>
      <dsp:txXfrm>
        <a:off x="2092" y="2426683"/>
        <a:ext cx="1741992" cy="892770"/>
      </dsp:txXfrm>
    </dsp:sp>
    <dsp:sp modelId="{79EDD496-CCBD-4780-8899-30D8FABD99A7}">
      <dsp:nvSpPr>
        <dsp:cNvPr id="0" name=""/>
        <dsp:cNvSpPr/>
      </dsp:nvSpPr>
      <dsp:spPr>
        <a:xfrm>
          <a:off x="2388621" y="1033089"/>
          <a:ext cx="1062615" cy="1062615"/>
        </a:xfrm>
        <a:prstGeom prst="ellipse">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0434B4E-26BF-4A3D-921F-0A476E6788ED}">
      <dsp:nvSpPr>
        <dsp:cNvPr id="0" name=""/>
        <dsp:cNvSpPr/>
      </dsp:nvSpPr>
      <dsp:spPr>
        <a:xfrm>
          <a:off x="2615080" y="1259548"/>
          <a:ext cx="609697" cy="609697"/>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90CB644E-8A11-4AA1-857D-D1D36F4DA271}">
      <dsp:nvSpPr>
        <dsp:cNvPr id="0" name=""/>
        <dsp:cNvSpPr/>
      </dsp:nvSpPr>
      <dsp:spPr>
        <a:xfrm>
          <a:off x="2048933" y="2426683"/>
          <a:ext cx="1741992" cy="8927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90000"/>
            </a:lnSpc>
            <a:spcBef>
              <a:spcPct val="0"/>
            </a:spcBef>
            <a:spcAft>
              <a:spcPct val="35000"/>
            </a:spcAft>
            <a:buNone/>
            <a:defRPr cap="all"/>
          </a:pPr>
          <a:r>
            <a:rPr lang="en-US" sz="1100" kern="1200"/>
            <a:t>Per channel, sum INTERACTION_HANDLING_TIME and convert to hours.</a:t>
          </a:r>
        </a:p>
      </dsp:txBody>
      <dsp:txXfrm>
        <a:off x="2048933" y="2426683"/>
        <a:ext cx="1741992" cy="892770"/>
      </dsp:txXfrm>
    </dsp:sp>
    <dsp:sp modelId="{AE1BFE1B-C87A-46F1-9163-6F816B4746AF}">
      <dsp:nvSpPr>
        <dsp:cNvPr id="0" name=""/>
        <dsp:cNvSpPr/>
      </dsp:nvSpPr>
      <dsp:spPr>
        <a:xfrm>
          <a:off x="4435462" y="1033089"/>
          <a:ext cx="1062615" cy="1062615"/>
        </a:xfrm>
        <a:prstGeom prst="ellipse">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28EE07C-E8D1-4145-B21C-FECDD72CAED7}">
      <dsp:nvSpPr>
        <dsp:cNvPr id="0" name=""/>
        <dsp:cNvSpPr/>
      </dsp:nvSpPr>
      <dsp:spPr>
        <a:xfrm>
          <a:off x="4661921" y="1259548"/>
          <a:ext cx="609697" cy="609697"/>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982DBEEC-A973-420A-A313-C2DD2528165C}">
      <dsp:nvSpPr>
        <dsp:cNvPr id="0" name=""/>
        <dsp:cNvSpPr/>
      </dsp:nvSpPr>
      <dsp:spPr>
        <a:xfrm>
          <a:off x="4095774" y="2426683"/>
          <a:ext cx="1741992" cy="8927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90000"/>
            </a:lnSpc>
            <a:spcBef>
              <a:spcPct val="0"/>
            </a:spcBef>
            <a:spcAft>
              <a:spcPct val="35000"/>
            </a:spcAft>
            <a:buNone/>
            <a:defRPr cap="all"/>
          </a:pPr>
          <a:r>
            <a:rPr lang="en-US" sz="1100" kern="1200"/>
            <a:t>Adjust for concurrency: calls &amp; email at 1×, chat at 1/3× (3 chats in parallel).</a:t>
          </a:r>
        </a:p>
      </dsp:txBody>
      <dsp:txXfrm>
        <a:off x="4095774" y="2426683"/>
        <a:ext cx="1741992" cy="892770"/>
      </dsp:txXfrm>
    </dsp:sp>
    <dsp:sp modelId="{F8468493-D0DF-417F-AF8B-96802B8F2F90}">
      <dsp:nvSpPr>
        <dsp:cNvPr id="0" name=""/>
        <dsp:cNvSpPr/>
      </dsp:nvSpPr>
      <dsp:spPr>
        <a:xfrm>
          <a:off x="6482303" y="1033089"/>
          <a:ext cx="1062615" cy="1062615"/>
        </a:xfrm>
        <a:prstGeom prst="ellipse">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255E3F4-DA2D-49BF-87D0-5510A8A3337A}">
      <dsp:nvSpPr>
        <dsp:cNvPr id="0" name=""/>
        <dsp:cNvSpPr/>
      </dsp:nvSpPr>
      <dsp:spPr>
        <a:xfrm>
          <a:off x="6708762" y="1259548"/>
          <a:ext cx="609697" cy="609697"/>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9D0C6C3A-27C5-44E3-B90E-A4C96F3D628F}">
      <dsp:nvSpPr>
        <dsp:cNvPr id="0" name=""/>
        <dsp:cNvSpPr/>
      </dsp:nvSpPr>
      <dsp:spPr>
        <a:xfrm>
          <a:off x="6142615" y="2426683"/>
          <a:ext cx="1741992" cy="8927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488950">
            <a:lnSpc>
              <a:spcPct val="90000"/>
            </a:lnSpc>
            <a:spcBef>
              <a:spcPct val="0"/>
            </a:spcBef>
            <a:spcAft>
              <a:spcPct val="35000"/>
            </a:spcAft>
            <a:buNone/>
            <a:defRPr cap="all"/>
          </a:pPr>
          <a:r>
            <a:rPr lang="en-US" sz="1100" kern="1200"/>
            <a:t>Allocate the €0.5M budget proportional to effective agent hours, then compute cost per interaction (and per resolved interaction).</a:t>
          </a:r>
        </a:p>
      </dsp:txBody>
      <dsp:txXfrm>
        <a:off x="6142615" y="2426683"/>
        <a:ext cx="1741992" cy="892770"/>
      </dsp:txXfrm>
    </dsp:sp>
  </dsp:spTree>
</dsp:drawing>
</file>

<file path=ppt/diagrams/layout1.xml><?xml version="1.0" encoding="utf-8"?>
<dgm:layoutDef xmlns:dgm="http://schemas.openxmlformats.org/drawingml/2006/diagram" xmlns:a="http://schemas.openxmlformats.org/drawingml/2006/main" uniqueId="urn:microsoft.com/office/officeart/2018/2/layout/IconCircleList">
  <dgm:title val="Icon Circle List"/>
  <dgm:desc val="Use to show non-sequential or grouped chunks of information accompanied by related visuals. Circular shapes can hold an icon or small picture and corresponding text box shows Level 1 text. Works best for icons or small pictures with medium-length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alg type="sp"/>
    <dgm:shape xmlns:r="http://schemas.openxmlformats.org/officeDocument/2006/relationships" r:blip="">
      <dgm:adjLst/>
    </dgm:shape>
    <dgm:presOf/>
    <dgm:choose name="Name0">
      <dgm:if name="Name1" axis="ch" ptType="node" func="cnt" op="lte" val="3">
        <dgm:constrLst>
          <dgm:constr type="w" for="ch" forName="container" refType="w"/>
          <dgm:constr type="h" for="ch" forName="container" refType="h" fact="0.4"/>
        </dgm:constrLst>
      </dgm:if>
      <dgm:else name="Name2">
        <dgm:constrLst>
          <dgm:constr type="w" for="ch" forName="container" refType="w"/>
          <dgm:constr type="h" for="ch" forName="container" refType="h"/>
        </dgm:constrLst>
      </dgm:else>
    </dgm:choose>
    <dgm:ruleLst>
      <dgm:rule type="h" for="ch" forName="container" val="INF" fact="NaN" max="NaN"/>
    </dgm:ruleLst>
    <dgm:layoutNode name="container">
      <dgm:varLst>
        <dgm:dir/>
        <dgm:resizeHandles val="exact"/>
      </dgm:varLst>
      <dgm:choose name="Name3">
        <dgm:if name="Name4" axis="self" func="var" arg="dir" op="equ" val="norm">
          <dgm:alg type="snake">
            <dgm:param type="grDir" val="tL"/>
            <dgm:param type="flowDir" val="row"/>
            <dgm:param type="contDir" val="sameDir"/>
          </dgm:alg>
        </dgm:if>
        <dgm:else name="Name5">
          <dgm:alg type="snake">
            <dgm:param type="grDir" val="tR"/>
            <dgm:param type="flowDir" val="row"/>
            <dgm:param type="contDir" val="sameDir"/>
          </dgm:alg>
        </dgm:else>
      </dgm:choose>
      <dgm:shape xmlns:r="http://schemas.openxmlformats.org/officeDocument/2006/relationships" r:blip="">
        <dgm:adjLst/>
      </dgm:shape>
      <dgm:presOf/>
      <dgm:constrLst>
        <dgm:constr type="w" for="ch" forName="compNode" refType="w"/>
        <dgm:constr type="h" for="ch" forName="compNode" refType="w" fact="0.28"/>
        <dgm:constr type="w" for="ch" forName="sibTrans" refType="w" refFor="ch" refForName="compNode" fact="0.115"/>
        <dgm:constr type="sp" refType="h" op="equ" fact="0.17"/>
        <dgm:constr type="primFontSz" for="des" ptType="node" op="equ" val="24"/>
        <dgm:constr type="h" for="des" forName="compNode" op="equ"/>
        <dgm:constr type="h" for="des" forName="iconBgRect" op="equ"/>
      </dgm:constrLst>
      <dgm:ruleLst>
        <dgm:rule type="w" for="ch" forName="compNode" val="60" fact="NaN" max="NaN"/>
      </dgm:ruleLst>
      <dgm:forEach name="Name6" axis="ch" ptType="node">
        <dgm:layoutNode name="compNode">
          <dgm:alg type="composite"/>
          <dgm:shape xmlns:r="http://schemas.openxmlformats.org/officeDocument/2006/relationships" r:blip="">
            <dgm:adjLst/>
          </dgm:shape>
          <dgm:presOf axis="self"/>
          <dgm:constrLst>
            <dgm:constr type="w" for="ch" forName="iconBgRect" refType="w" fact="0.28"/>
            <dgm:constr type="h" for="ch" forName="iconBgRect" refType="w" refFor="ch" refForName="iconBgRect"/>
            <dgm:constr type="t" for="ch" forName="iconBgRect"/>
            <dgm:constr type="l" for="ch" forName="iconBgRect"/>
            <dgm:constr type="w" for="ch" forName="iconRect" refType="w" refFor="ch" refForName="iconBgRect" fact="0.58"/>
            <dgm:constr type="h" for="ch" forName="iconRect" refType="w" refFor="ch" refForName="iconRect"/>
            <dgm:constr type="ctrX" for="ch" forName="iconRect" refType="ctrX" refFor="ch" refForName="iconBgRect"/>
            <dgm:constr type="ctrY" for="ch" forName="iconRect" refType="ctrY" refFor="ch" refForName="iconBgRect"/>
            <dgm:constr type="w" for="ch" forName="spaceRect" refType="w" fact="0.06"/>
            <dgm:constr type="h" for="ch" forName="spaceRect" refType="h" refFor="ch" refForName="iconBgRect"/>
            <dgm:constr type="t" for="ch" forName="spaceRect" refType="t" refFor="ch" refForName="iconBgRect"/>
            <dgm:constr type="l" for="ch" forName="spaceRect" refType="r" refFor="ch" refForName="iconBgRect"/>
            <dgm:constr type="h" for="ch" forName="textRect" refType="h" refFor="ch" refForName="iconBgRect"/>
            <dgm:constr type="t" for="ch" forName="textRect" refType="t" refFor="ch" refForName="iconBgRect"/>
            <dgm:constr type="l" for="ch" forName="textRect" refType="r" refFor="ch" refForName="spaceRect"/>
          </dgm:constrLst>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choose name="Name7">
              <dgm:if name="Name8" func="var" arg="dir" op="equ" val="norm">
                <dgm:alg type="tx">
                  <dgm:param type="txAnchorVert" val="mid"/>
                  <dgm:param type="parTxLTRAlign" val="l"/>
                  <dgm:param type="shpTxLTRAlignCh" val="l"/>
                  <dgm:param type="parTxRTLAlign" val="l"/>
                  <dgm:param type="shpTxRTLAlignCh" val="l"/>
                </dgm:alg>
              </dgm:if>
              <dgm:else name="Name9">
                <dgm:alg type="tx">
                  <dgm:param type="txAnchorVert" val="mid"/>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Lst>
          </dgm:layoutNode>
        </dgm:layoutNode>
        <dgm:forEach name="Name10"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layoutNode>
  <dgm:extLst>
    <a:ext uri="{68A01E43-0DF5-4B5B-8FA6-DAF915123BFB}">
      <dgm1612:lstStyle xmlns:dgm1612="http://schemas.microsoft.com/office/drawing/2016/12/diagram">
        <a:lvl1pPr>
          <a:lnSpc>
            <a:spcPct val="100000"/>
          </a:lnSpc>
        </a:lvl1pPr>
      </dgm1612:lstStyle>
    </a:ext>
  </dgm:extLst>
</dgm:layoutDef>
</file>

<file path=ppt/diagrams/layout2.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12/11/2025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12/11/2025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12/11/2025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12/11/2025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12/11/2025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12/11/2025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12/11/2025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12/11/2025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12/11/2025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12/11/2025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12/11/2025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chart" Target="../charts/chart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1.xml.rels><?xml version="1.0" encoding="UTF-8" standalone="yes"?>
<Relationships xmlns="http://schemas.openxmlformats.org/package/2006/relationships"><Relationship Id="rId2" Type="http://schemas.openxmlformats.org/officeDocument/2006/relationships/chart" Target="../charts/chart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943CAA20-3569-4189-9E48-239A229A86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p:nvPr>
        </p:nvSpPr>
        <p:spPr>
          <a:xfrm>
            <a:off x="628650" y="451381"/>
            <a:ext cx="7884414" cy="4066540"/>
          </a:xfrm>
        </p:spPr>
        <p:txBody>
          <a:bodyPr anchor="b">
            <a:normAutofit/>
          </a:bodyPr>
          <a:lstStyle/>
          <a:p>
            <a:pPr algn="l"/>
            <a:r>
              <a:rPr lang="en-US" sz="5700" b="1" dirty="0">
                <a:latin typeface="Calibri"/>
              </a:rPr>
              <a:t>Operations Analytics Lead – Case Study</a:t>
            </a:r>
            <a:br>
              <a:rPr lang="en-US" sz="5700" b="1" dirty="0">
                <a:latin typeface="Calibri"/>
              </a:rPr>
            </a:br>
            <a:r>
              <a:rPr lang="en-US" sz="1800" b="1" dirty="0">
                <a:latin typeface="Calibri"/>
              </a:rPr>
              <a:t>Dec’25</a:t>
            </a:r>
            <a:endParaRPr lang="en-US" sz="5700" b="1" dirty="0">
              <a:latin typeface="Calibri"/>
            </a:endParaRPr>
          </a:p>
        </p:txBody>
      </p:sp>
      <p:sp>
        <p:nvSpPr>
          <p:cNvPr id="3" name="Subtitle 2"/>
          <p:cNvSpPr>
            <a:spLocks noGrp="1"/>
          </p:cNvSpPr>
          <p:nvPr>
            <p:ph type="subTitle" idx="1"/>
          </p:nvPr>
        </p:nvSpPr>
        <p:spPr>
          <a:xfrm>
            <a:off x="628649" y="4983276"/>
            <a:ext cx="7884414" cy="1126680"/>
          </a:xfrm>
        </p:spPr>
        <p:txBody>
          <a:bodyPr>
            <a:normAutofit/>
          </a:bodyPr>
          <a:lstStyle/>
          <a:p>
            <a:pPr algn="l"/>
            <a:r>
              <a:rPr lang="en-US" b="0">
                <a:latin typeface="Calibri"/>
              </a:rPr>
              <a:t>Merchant Support Performance – 4 Countries, 3 Channels, 3 Agent Companies</a:t>
            </a:r>
          </a:p>
        </p:txBody>
      </p:sp>
      <p:sp>
        <p:nvSpPr>
          <p:cNvPr id="30" name="sketch line">
            <a:extLst>
              <a:ext uri="{FF2B5EF4-FFF2-40B4-BE49-F238E27FC236}">
                <a16:creationId xmlns:a16="http://schemas.microsoft.com/office/drawing/2014/main" id="{DA542B6D-E775-4832-91DC-2D20F85781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28650" y="4718595"/>
            <a:ext cx="4057650" cy="18288"/>
          </a:xfrm>
          <a:custGeom>
            <a:avLst/>
            <a:gdLst>
              <a:gd name="csX0" fmla="*/ 0 w 4057650"/>
              <a:gd name="csY0" fmla="*/ 0 h 18288"/>
              <a:gd name="csX1" fmla="*/ 757428 w 4057650"/>
              <a:gd name="csY1" fmla="*/ 0 h 18288"/>
              <a:gd name="csX2" fmla="*/ 1474279 w 4057650"/>
              <a:gd name="csY2" fmla="*/ 0 h 18288"/>
              <a:gd name="csX3" fmla="*/ 2191131 w 4057650"/>
              <a:gd name="csY3" fmla="*/ 0 h 18288"/>
              <a:gd name="csX4" fmla="*/ 2745676 w 4057650"/>
              <a:gd name="csY4" fmla="*/ 0 h 18288"/>
              <a:gd name="csX5" fmla="*/ 3340798 w 4057650"/>
              <a:gd name="csY5" fmla="*/ 0 h 18288"/>
              <a:gd name="csX6" fmla="*/ 4057650 w 4057650"/>
              <a:gd name="csY6" fmla="*/ 0 h 18288"/>
              <a:gd name="csX7" fmla="*/ 4057650 w 4057650"/>
              <a:gd name="csY7" fmla="*/ 18288 h 18288"/>
              <a:gd name="csX8" fmla="*/ 3381375 w 4057650"/>
              <a:gd name="csY8" fmla="*/ 18288 h 18288"/>
              <a:gd name="csX9" fmla="*/ 2826830 w 4057650"/>
              <a:gd name="csY9" fmla="*/ 18288 h 18288"/>
              <a:gd name="csX10" fmla="*/ 2272284 w 4057650"/>
              <a:gd name="csY10" fmla="*/ 18288 h 18288"/>
              <a:gd name="csX11" fmla="*/ 1555432 w 4057650"/>
              <a:gd name="csY11" fmla="*/ 18288 h 18288"/>
              <a:gd name="csX12" fmla="*/ 960310 w 4057650"/>
              <a:gd name="csY12" fmla="*/ 18288 h 18288"/>
              <a:gd name="csX13" fmla="*/ 0 w 4057650"/>
              <a:gd name="csY13" fmla="*/ 18288 h 18288"/>
              <a:gd name="csX14" fmla="*/ 0 w 4057650"/>
              <a:gd name="csY14"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057650" h="18288" fill="none" extrusionOk="0">
                <a:moveTo>
                  <a:pt x="0" y="0"/>
                </a:moveTo>
                <a:cubicBezTo>
                  <a:pt x="371182" y="3227"/>
                  <a:pt x="494372" y="9222"/>
                  <a:pt x="757428" y="0"/>
                </a:cubicBezTo>
                <a:cubicBezTo>
                  <a:pt x="1020484" y="-9222"/>
                  <a:pt x="1116719" y="-4357"/>
                  <a:pt x="1474279" y="0"/>
                </a:cubicBezTo>
                <a:cubicBezTo>
                  <a:pt x="1831839" y="4357"/>
                  <a:pt x="1920973" y="-11809"/>
                  <a:pt x="2191131" y="0"/>
                </a:cubicBezTo>
                <a:cubicBezTo>
                  <a:pt x="2461289" y="11809"/>
                  <a:pt x="2589480" y="-22604"/>
                  <a:pt x="2745676" y="0"/>
                </a:cubicBezTo>
                <a:cubicBezTo>
                  <a:pt x="2901872" y="22604"/>
                  <a:pt x="3136452" y="-12306"/>
                  <a:pt x="3340798" y="0"/>
                </a:cubicBezTo>
                <a:cubicBezTo>
                  <a:pt x="3545144" y="12306"/>
                  <a:pt x="3766934" y="-21556"/>
                  <a:pt x="4057650" y="0"/>
                </a:cubicBezTo>
                <a:cubicBezTo>
                  <a:pt x="4057150" y="8855"/>
                  <a:pt x="4057759" y="14521"/>
                  <a:pt x="4057650" y="18288"/>
                </a:cubicBezTo>
                <a:cubicBezTo>
                  <a:pt x="3743404" y="40125"/>
                  <a:pt x="3625516" y="-14923"/>
                  <a:pt x="3381375" y="18288"/>
                </a:cubicBezTo>
                <a:cubicBezTo>
                  <a:pt x="3137235" y="51499"/>
                  <a:pt x="2946571" y="1"/>
                  <a:pt x="2826830" y="18288"/>
                </a:cubicBezTo>
                <a:cubicBezTo>
                  <a:pt x="2707090" y="36575"/>
                  <a:pt x="2402756" y="1432"/>
                  <a:pt x="2272284" y="18288"/>
                </a:cubicBezTo>
                <a:cubicBezTo>
                  <a:pt x="2141812" y="35144"/>
                  <a:pt x="1895935" y="18199"/>
                  <a:pt x="1555432" y="18288"/>
                </a:cubicBezTo>
                <a:cubicBezTo>
                  <a:pt x="1214929" y="18377"/>
                  <a:pt x="1103072" y="14503"/>
                  <a:pt x="960310" y="18288"/>
                </a:cubicBezTo>
                <a:cubicBezTo>
                  <a:pt x="817548" y="22073"/>
                  <a:pt x="402272" y="-29359"/>
                  <a:pt x="0" y="18288"/>
                </a:cubicBezTo>
                <a:cubicBezTo>
                  <a:pt x="683" y="12014"/>
                  <a:pt x="724" y="5908"/>
                  <a:pt x="0" y="0"/>
                </a:cubicBezTo>
                <a:close/>
              </a:path>
              <a:path w="4057650" h="18288" stroke="0" extrusionOk="0">
                <a:moveTo>
                  <a:pt x="0" y="0"/>
                </a:moveTo>
                <a:cubicBezTo>
                  <a:pt x="248348" y="13145"/>
                  <a:pt x="486117" y="25042"/>
                  <a:pt x="635698" y="0"/>
                </a:cubicBezTo>
                <a:cubicBezTo>
                  <a:pt x="785279" y="-25042"/>
                  <a:pt x="917762" y="-5537"/>
                  <a:pt x="1190244" y="0"/>
                </a:cubicBezTo>
                <a:cubicBezTo>
                  <a:pt x="1462726" y="5537"/>
                  <a:pt x="1667120" y="-21232"/>
                  <a:pt x="1947672" y="0"/>
                </a:cubicBezTo>
                <a:cubicBezTo>
                  <a:pt x="2228224" y="21232"/>
                  <a:pt x="2280631" y="-21698"/>
                  <a:pt x="2583370" y="0"/>
                </a:cubicBezTo>
                <a:cubicBezTo>
                  <a:pt x="2886109" y="21698"/>
                  <a:pt x="3022941" y="19647"/>
                  <a:pt x="3219069" y="0"/>
                </a:cubicBezTo>
                <a:cubicBezTo>
                  <a:pt x="3415197" y="-19647"/>
                  <a:pt x="3747500" y="26991"/>
                  <a:pt x="4057650" y="0"/>
                </a:cubicBezTo>
                <a:cubicBezTo>
                  <a:pt x="4056752" y="7180"/>
                  <a:pt x="4057819" y="13790"/>
                  <a:pt x="4057650" y="18288"/>
                </a:cubicBezTo>
                <a:cubicBezTo>
                  <a:pt x="3865148" y="-3313"/>
                  <a:pt x="3702543" y="49468"/>
                  <a:pt x="3381375" y="18288"/>
                </a:cubicBezTo>
                <a:cubicBezTo>
                  <a:pt x="3060208" y="-12892"/>
                  <a:pt x="2956571" y="-8678"/>
                  <a:pt x="2826830" y="18288"/>
                </a:cubicBezTo>
                <a:cubicBezTo>
                  <a:pt x="2697089" y="45254"/>
                  <a:pt x="2411031" y="43154"/>
                  <a:pt x="2150555" y="18288"/>
                </a:cubicBezTo>
                <a:cubicBezTo>
                  <a:pt x="1890080" y="-6578"/>
                  <a:pt x="1741827" y="-615"/>
                  <a:pt x="1474280" y="18288"/>
                </a:cubicBezTo>
                <a:cubicBezTo>
                  <a:pt x="1206734" y="37191"/>
                  <a:pt x="998203" y="33335"/>
                  <a:pt x="838581" y="18288"/>
                </a:cubicBezTo>
                <a:cubicBezTo>
                  <a:pt x="678959" y="3241"/>
                  <a:pt x="187101" y="-13212"/>
                  <a:pt x="0" y="18288"/>
                </a:cubicBezTo>
                <a:cubicBezTo>
                  <a:pt x="571" y="10093"/>
                  <a:pt x="-125" y="8407"/>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grpId="0" nodeType="withEffect">
                                  <p:stCondLst>
                                    <p:cond delay="2000"/>
                                  </p:stCondLst>
                                  <p:iterate type="lt">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4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C9A36457-A5F4-4103-A443-02581C0918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Shape 18">
            <a:extLst>
              <a:ext uri="{FF2B5EF4-FFF2-40B4-BE49-F238E27FC236}">
                <a16:creationId xmlns:a16="http://schemas.microsoft.com/office/drawing/2014/main" id="{DC5FB7E8-B636-40FA-BE8D-48145C0F5C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9144000" cy="2295238"/>
          </a:xfrm>
          <a:custGeom>
            <a:avLst/>
            <a:gdLst>
              <a:gd name="connsiteX0" fmla="*/ 12160143 w 12192000"/>
              <a:gd name="connsiteY0" fmla="*/ 831692 h 2079137"/>
              <a:gd name="connsiteX1" fmla="*/ 12159112 w 12192000"/>
              <a:gd name="connsiteY1" fmla="*/ 833361 h 2079137"/>
              <a:gd name="connsiteX2" fmla="*/ 12158912 w 12192000"/>
              <a:gd name="connsiteY2" fmla="*/ 832430 h 2079137"/>
              <a:gd name="connsiteX3" fmla="*/ 0 w 12192000"/>
              <a:gd name="connsiteY3" fmla="*/ 0 h 2079137"/>
              <a:gd name="connsiteX4" fmla="*/ 12192000 w 12192000"/>
              <a:gd name="connsiteY4" fmla="*/ 0 h 2079137"/>
              <a:gd name="connsiteX5" fmla="*/ 12192000 w 12192000"/>
              <a:gd name="connsiteY5" fmla="*/ 558063 h 2079137"/>
              <a:gd name="connsiteX6" fmla="*/ 12189259 w 12192000"/>
              <a:gd name="connsiteY6" fmla="*/ 810508 h 2079137"/>
              <a:gd name="connsiteX7" fmla="*/ 12170847 w 12192000"/>
              <a:gd name="connsiteY7" fmla="*/ 825280 h 2079137"/>
              <a:gd name="connsiteX8" fmla="*/ 12160143 w 12192000"/>
              <a:gd name="connsiteY8" fmla="*/ 831692 h 2079137"/>
              <a:gd name="connsiteX9" fmla="*/ 12163806 w 12192000"/>
              <a:gd name="connsiteY9" fmla="*/ 825759 h 2079137"/>
              <a:gd name="connsiteX10" fmla="*/ 12056557 w 12192000"/>
              <a:gd name="connsiteY10" fmla="*/ 810176 h 2079137"/>
              <a:gd name="connsiteX11" fmla="*/ 11900316 w 12192000"/>
              <a:gd name="connsiteY11" fmla="*/ 789618 h 2079137"/>
              <a:gd name="connsiteX12" fmla="*/ 11791206 w 12192000"/>
              <a:gd name="connsiteY12" fmla="*/ 824176 h 2079137"/>
              <a:gd name="connsiteX13" fmla="*/ 11659257 w 12192000"/>
              <a:gd name="connsiteY13" fmla="*/ 800841 h 2079137"/>
              <a:gd name="connsiteX14" fmla="*/ 11569789 w 12192000"/>
              <a:gd name="connsiteY14" fmla="*/ 797135 h 2079137"/>
              <a:gd name="connsiteX15" fmla="*/ 11367885 w 12192000"/>
              <a:gd name="connsiteY15" fmla="*/ 791985 h 2079137"/>
              <a:gd name="connsiteX16" fmla="*/ 11174663 w 12192000"/>
              <a:gd name="connsiteY16" fmla="*/ 788721 h 2079137"/>
              <a:gd name="connsiteX17" fmla="*/ 11068220 w 12192000"/>
              <a:gd name="connsiteY17" fmla="*/ 786994 h 2079137"/>
              <a:gd name="connsiteX18" fmla="*/ 10893266 w 12192000"/>
              <a:gd name="connsiteY18" fmla="*/ 794013 h 2079137"/>
              <a:gd name="connsiteX19" fmla="*/ 10844025 w 12192000"/>
              <a:gd name="connsiteY19" fmla="*/ 789857 h 2079137"/>
              <a:gd name="connsiteX20" fmla="*/ 10814353 w 12192000"/>
              <a:gd name="connsiteY20" fmla="*/ 789010 h 2079137"/>
              <a:gd name="connsiteX21" fmla="*/ 10748393 w 12192000"/>
              <a:gd name="connsiteY21" fmla="*/ 806738 h 2079137"/>
              <a:gd name="connsiteX22" fmla="*/ 10468256 w 12192000"/>
              <a:gd name="connsiteY22" fmla="*/ 778733 h 2079137"/>
              <a:gd name="connsiteX23" fmla="*/ 10256131 w 12192000"/>
              <a:gd name="connsiteY23" fmla="*/ 788332 h 2079137"/>
              <a:gd name="connsiteX24" fmla="*/ 10177442 w 12192000"/>
              <a:gd name="connsiteY24" fmla="*/ 777371 h 2079137"/>
              <a:gd name="connsiteX25" fmla="*/ 10006086 w 12192000"/>
              <a:gd name="connsiteY25" fmla="*/ 792651 h 2079137"/>
              <a:gd name="connsiteX26" fmla="*/ 9952382 w 12192000"/>
              <a:gd name="connsiteY26" fmla="*/ 815411 h 2079137"/>
              <a:gd name="connsiteX27" fmla="*/ 9926457 w 12192000"/>
              <a:gd name="connsiteY27" fmla="*/ 827295 h 2079137"/>
              <a:gd name="connsiteX28" fmla="*/ 9843405 w 12192000"/>
              <a:gd name="connsiteY28" fmla="*/ 867046 h 2079137"/>
              <a:gd name="connsiteX29" fmla="*/ 9830866 w 12192000"/>
              <a:gd name="connsiteY29" fmla="*/ 875047 h 2079137"/>
              <a:gd name="connsiteX30" fmla="*/ 9801807 w 12192000"/>
              <a:gd name="connsiteY30" fmla="*/ 872272 h 2079137"/>
              <a:gd name="connsiteX31" fmla="*/ 9785653 w 12192000"/>
              <a:gd name="connsiteY31" fmla="*/ 861743 h 2079137"/>
              <a:gd name="connsiteX32" fmla="*/ 9781177 w 12192000"/>
              <a:gd name="connsiteY32" fmla="*/ 864820 h 2079137"/>
              <a:gd name="connsiteX33" fmla="*/ 9768640 w 12192000"/>
              <a:gd name="connsiteY33" fmla="*/ 869379 h 2079137"/>
              <a:gd name="connsiteX34" fmla="*/ 9712211 w 12192000"/>
              <a:gd name="connsiteY34" fmla="*/ 900283 h 2079137"/>
              <a:gd name="connsiteX35" fmla="*/ 9689465 w 12192000"/>
              <a:gd name="connsiteY35" fmla="*/ 899268 h 2079137"/>
              <a:gd name="connsiteX36" fmla="*/ 9600339 w 12192000"/>
              <a:gd name="connsiteY36" fmla="*/ 922112 h 2079137"/>
              <a:gd name="connsiteX37" fmla="*/ 9582850 w 12192000"/>
              <a:gd name="connsiteY37" fmla="*/ 925510 h 2079137"/>
              <a:gd name="connsiteX38" fmla="*/ 9549638 w 12192000"/>
              <a:gd name="connsiteY38" fmla="*/ 940845 h 2079137"/>
              <a:gd name="connsiteX39" fmla="*/ 9539471 w 12192000"/>
              <a:gd name="connsiteY39" fmla="*/ 941799 h 2079137"/>
              <a:gd name="connsiteX40" fmla="*/ 9505592 w 12192000"/>
              <a:gd name="connsiteY40" fmla="*/ 955533 h 2079137"/>
              <a:gd name="connsiteX41" fmla="*/ 9432569 w 12192000"/>
              <a:gd name="connsiteY41" fmla="*/ 985377 h 2079137"/>
              <a:gd name="connsiteX42" fmla="*/ 9414216 w 12192000"/>
              <a:gd name="connsiteY42" fmla="*/ 992655 h 2079137"/>
              <a:gd name="connsiteX43" fmla="*/ 9397106 w 12192000"/>
              <a:gd name="connsiteY43" fmla="*/ 992980 h 2079137"/>
              <a:gd name="connsiteX44" fmla="*/ 9305108 w 12192000"/>
              <a:gd name="connsiteY44" fmla="*/ 1007767 h 2079137"/>
              <a:gd name="connsiteX45" fmla="*/ 9282434 w 12192000"/>
              <a:gd name="connsiteY45" fmla="*/ 1007523 h 2079137"/>
              <a:gd name="connsiteX46" fmla="*/ 9271941 w 12192000"/>
              <a:gd name="connsiteY46" fmla="*/ 1002839 h 2079137"/>
              <a:gd name="connsiteX47" fmla="*/ 9238227 w 12192000"/>
              <a:gd name="connsiteY47" fmla="*/ 1017668 h 2079137"/>
              <a:gd name="connsiteX48" fmla="*/ 9184265 w 12192000"/>
              <a:gd name="connsiteY48" fmla="*/ 1031275 h 2079137"/>
              <a:gd name="connsiteX49" fmla="*/ 9159000 w 12192000"/>
              <a:gd name="connsiteY49" fmla="*/ 1039569 h 2079137"/>
              <a:gd name="connsiteX50" fmla="*/ 9137031 w 12192000"/>
              <a:gd name="connsiteY50" fmla="*/ 1038699 h 2079137"/>
              <a:gd name="connsiteX51" fmla="*/ 9015702 w 12192000"/>
              <a:gd name="connsiteY51" fmla="*/ 1051400 h 2079137"/>
              <a:gd name="connsiteX52" fmla="*/ 8971403 w 12192000"/>
              <a:gd name="connsiteY52" fmla="*/ 1040542 h 2079137"/>
              <a:gd name="connsiteX53" fmla="*/ 8961826 w 12192000"/>
              <a:gd name="connsiteY53" fmla="*/ 1045364 h 2079137"/>
              <a:gd name="connsiteX54" fmla="*/ 8888623 w 12192000"/>
              <a:gd name="connsiteY54" fmla="*/ 1053908 h 2079137"/>
              <a:gd name="connsiteX55" fmla="*/ 8841066 w 12192000"/>
              <a:gd name="connsiteY55" fmla="*/ 1060421 h 2079137"/>
              <a:gd name="connsiteX56" fmla="*/ 8752342 w 12192000"/>
              <a:gd name="connsiteY56" fmla="*/ 1080646 h 2079137"/>
              <a:gd name="connsiteX57" fmla="*/ 8699139 w 12192000"/>
              <a:gd name="connsiteY57" fmla="*/ 1087885 h 2079137"/>
              <a:gd name="connsiteX58" fmla="*/ 8667273 w 12192000"/>
              <a:gd name="connsiteY58" fmla="*/ 1092062 h 2079137"/>
              <a:gd name="connsiteX59" fmla="*/ 8586064 w 12192000"/>
              <a:gd name="connsiteY59" fmla="*/ 1114603 h 2079137"/>
              <a:gd name="connsiteX60" fmla="*/ 8460312 w 12192000"/>
              <a:gd name="connsiteY60" fmla="*/ 1179878 h 2079137"/>
              <a:gd name="connsiteX61" fmla="*/ 8419023 w 12192000"/>
              <a:gd name="connsiteY61" fmla="*/ 1191748 h 2079137"/>
              <a:gd name="connsiteX62" fmla="*/ 8410939 w 12192000"/>
              <a:gd name="connsiteY62" fmla="*/ 1189696 h 2079137"/>
              <a:gd name="connsiteX63" fmla="*/ 8362040 w 12192000"/>
              <a:gd name="connsiteY63" fmla="*/ 1220820 h 2079137"/>
              <a:gd name="connsiteX64" fmla="*/ 8273677 w 12192000"/>
              <a:gd name="connsiteY64" fmla="*/ 1236495 h 2079137"/>
              <a:gd name="connsiteX65" fmla="*/ 8204283 w 12192000"/>
              <a:gd name="connsiteY65" fmla="*/ 1243537 h 2079137"/>
              <a:gd name="connsiteX66" fmla="*/ 8166550 w 12192000"/>
              <a:gd name="connsiteY66" fmla="*/ 1249551 h 2079137"/>
              <a:gd name="connsiteX67" fmla="*/ 8137785 w 12192000"/>
              <a:gd name="connsiteY67" fmla="*/ 1251636 h 2079137"/>
              <a:gd name="connsiteX68" fmla="*/ 8071596 w 12192000"/>
              <a:gd name="connsiteY68" fmla="*/ 1269274 h 2079137"/>
              <a:gd name="connsiteX69" fmla="*/ 7964816 w 12192000"/>
              <a:gd name="connsiteY69" fmla="*/ 1303668 h 2079137"/>
              <a:gd name="connsiteX70" fmla="*/ 7941495 w 12192000"/>
              <a:gd name="connsiteY70" fmla="*/ 1309821 h 2079137"/>
              <a:gd name="connsiteX71" fmla="*/ 7919123 w 12192000"/>
              <a:gd name="connsiteY71" fmla="*/ 1310466 h 2079137"/>
              <a:gd name="connsiteX72" fmla="*/ 7911902 w 12192000"/>
              <a:gd name="connsiteY72" fmla="*/ 1306569 h 2079137"/>
              <a:gd name="connsiteX73" fmla="*/ 7898703 w 12192000"/>
              <a:gd name="connsiteY73" fmla="*/ 1309208 h 2079137"/>
              <a:gd name="connsiteX74" fmla="*/ 7894703 w 12192000"/>
              <a:gd name="connsiteY74" fmla="*/ 1308939 h 2079137"/>
              <a:gd name="connsiteX75" fmla="*/ 7872267 w 12192000"/>
              <a:gd name="connsiteY75" fmla="*/ 1308370 h 2079137"/>
              <a:gd name="connsiteX76" fmla="*/ 7836454 w 12192000"/>
              <a:gd name="connsiteY76" fmla="*/ 1331265 h 2079137"/>
              <a:gd name="connsiteX77" fmla="*/ 7782451 w 12192000"/>
              <a:gd name="connsiteY77" fmla="*/ 1339601 h 2079137"/>
              <a:gd name="connsiteX78" fmla="*/ 7542969 w 12192000"/>
              <a:gd name="connsiteY78" fmla="*/ 1372495 h 2079137"/>
              <a:gd name="connsiteX79" fmla="*/ 7476832 w 12192000"/>
              <a:gd name="connsiteY79" fmla="*/ 1431655 h 2079137"/>
              <a:gd name="connsiteX80" fmla="*/ 7370237 w 12192000"/>
              <a:gd name="connsiteY80" fmla="*/ 1474339 h 2079137"/>
              <a:gd name="connsiteX81" fmla="*/ 7222223 w 12192000"/>
              <a:gd name="connsiteY81" fmla="*/ 1510199 h 2079137"/>
              <a:gd name="connsiteX82" fmla="*/ 7215703 w 12192000"/>
              <a:gd name="connsiteY82" fmla="*/ 1520424 h 2079137"/>
              <a:gd name="connsiteX83" fmla="*/ 7204548 w 12192000"/>
              <a:gd name="connsiteY83" fmla="*/ 1528145 h 2079137"/>
              <a:gd name="connsiteX84" fmla="*/ 7202038 w 12192000"/>
              <a:gd name="connsiteY84" fmla="*/ 1527954 h 2079137"/>
              <a:gd name="connsiteX85" fmla="*/ 7173860 w 12192000"/>
              <a:gd name="connsiteY85" fmla="*/ 1541605 h 2079137"/>
              <a:gd name="connsiteX86" fmla="*/ 7155079 w 12192000"/>
              <a:gd name="connsiteY86" fmla="*/ 1552495 h 2079137"/>
              <a:gd name="connsiteX87" fmla="*/ 7149757 w 12192000"/>
              <a:gd name="connsiteY87" fmla="*/ 1552732 h 2079137"/>
              <a:gd name="connsiteX88" fmla="*/ 7104804 w 12192000"/>
              <a:gd name="connsiteY88" fmla="*/ 1565792 h 2079137"/>
              <a:gd name="connsiteX89" fmla="*/ 7082824 w 12192000"/>
              <a:gd name="connsiteY89" fmla="*/ 1567947 h 2079137"/>
              <a:gd name="connsiteX90" fmla="*/ 7021520 w 12192000"/>
              <a:gd name="connsiteY90" fmla="*/ 1562334 h 2079137"/>
              <a:gd name="connsiteX91" fmla="*/ 6988956 w 12192000"/>
              <a:gd name="connsiteY91" fmla="*/ 1576442 h 2079137"/>
              <a:gd name="connsiteX92" fmla="*/ 6981922 w 12192000"/>
              <a:gd name="connsiteY92" fmla="*/ 1578821 h 2079137"/>
              <a:gd name="connsiteX93" fmla="*/ 6981583 w 12192000"/>
              <a:gd name="connsiteY93" fmla="*/ 1578678 h 2079137"/>
              <a:gd name="connsiteX94" fmla="*/ 6973762 w 12192000"/>
              <a:gd name="connsiteY94" fmla="*/ 1580811 h 2079137"/>
              <a:gd name="connsiteX95" fmla="*/ 6969093 w 12192000"/>
              <a:gd name="connsiteY95" fmla="*/ 1583157 h 2079137"/>
              <a:gd name="connsiteX96" fmla="*/ 6890037 w 12192000"/>
              <a:gd name="connsiteY96" fmla="*/ 1575825 h 2079137"/>
              <a:gd name="connsiteX97" fmla="*/ 6785054 w 12192000"/>
              <a:gd name="connsiteY97" fmla="*/ 1582200 h 2079137"/>
              <a:gd name="connsiteX98" fmla="*/ 6681692 w 12192000"/>
              <a:gd name="connsiteY98" fmla="*/ 1591296 h 2079137"/>
              <a:gd name="connsiteX99" fmla="*/ 6644556 w 12192000"/>
              <a:gd name="connsiteY99" fmla="*/ 1595940 h 2079137"/>
              <a:gd name="connsiteX100" fmla="*/ 6577106 w 12192000"/>
              <a:gd name="connsiteY100" fmla="*/ 1598261 h 2079137"/>
              <a:gd name="connsiteX101" fmla="*/ 6544183 w 12192000"/>
              <a:gd name="connsiteY101" fmla="*/ 1596149 h 2079137"/>
              <a:gd name="connsiteX102" fmla="*/ 6540921 w 12192000"/>
              <a:gd name="connsiteY102" fmla="*/ 1593857 h 2079137"/>
              <a:gd name="connsiteX103" fmla="*/ 6535046 w 12192000"/>
              <a:gd name="connsiteY103" fmla="*/ 1593283 h 2079137"/>
              <a:gd name="connsiteX104" fmla="*/ 6519853 w 12192000"/>
              <a:gd name="connsiteY104" fmla="*/ 1595771 h 2079137"/>
              <a:gd name="connsiteX105" fmla="*/ 6514280 w 12192000"/>
              <a:gd name="connsiteY105" fmla="*/ 1597376 h 2079137"/>
              <a:gd name="connsiteX106" fmla="*/ 6505824 w 12192000"/>
              <a:gd name="connsiteY106" fmla="*/ 1598298 h 2079137"/>
              <a:gd name="connsiteX107" fmla="*/ 6505573 w 12192000"/>
              <a:gd name="connsiteY107" fmla="*/ 1598109 h 2079137"/>
              <a:gd name="connsiteX108" fmla="*/ 6497741 w 12192000"/>
              <a:gd name="connsiteY108" fmla="*/ 1599392 h 2079137"/>
              <a:gd name="connsiteX109" fmla="*/ 6459992 w 12192000"/>
              <a:gd name="connsiteY109" fmla="*/ 1608358 h 2079137"/>
              <a:gd name="connsiteX110" fmla="*/ 6404572 w 12192000"/>
              <a:gd name="connsiteY110" fmla="*/ 1593771 h 2079137"/>
              <a:gd name="connsiteX111" fmla="*/ 6382671 w 12192000"/>
              <a:gd name="connsiteY111" fmla="*/ 1592612 h 2079137"/>
              <a:gd name="connsiteX112" fmla="*/ 6369843 w 12192000"/>
              <a:gd name="connsiteY112" fmla="*/ 1590015 h 2079137"/>
              <a:gd name="connsiteX113" fmla="*/ 6269740 w 12192000"/>
              <a:gd name="connsiteY113" fmla="*/ 1614633 h 2079137"/>
              <a:gd name="connsiteX114" fmla="*/ 6255405 w 12192000"/>
              <a:gd name="connsiteY114" fmla="*/ 1620529 h 2079137"/>
              <a:gd name="connsiteX115" fmla="*/ 6244248 w 12192000"/>
              <a:gd name="connsiteY115" fmla="*/ 1629561 h 2079137"/>
              <a:gd name="connsiteX116" fmla="*/ 6086396 w 12192000"/>
              <a:gd name="connsiteY116" fmla="*/ 1642666 h 2079137"/>
              <a:gd name="connsiteX117" fmla="*/ 5867429 w 12192000"/>
              <a:gd name="connsiteY117" fmla="*/ 1695554 h 2079137"/>
              <a:gd name="connsiteX118" fmla="*/ 5772864 w 12192000"/>
              <a:gd name="connsiteY118" fmla="*/ 1689002 h 2079137"/>
              <a:gd name="connsiteX119" fmla="*/ 5629833 w 12192000"/>
              <a:gd name="connsiteY119" fmla="*/ 1713273 h 2079137"/>
              <a:gd name="connsiteX120" fmla="*/ 5504771 w 12192000"/>
              <a:gd name="connsiteY120" fmla="*/ 1725744 h 2079137"/>
              <a:gd name="connsiteX121" fmla="*/ 5490967 w 12192000"/>
              <a:gd name="connsiteY121" fmla="*/ 1726367 h 2079137"/>
              <a:gd name="connsiteX122" fmla="*/ 5486015 w 12192000"/>
              <a:gd name="connsiteY122" fmla="*/ 1721481 h 2079137"/>
              <a:gd name="connsiteX123" fmla="*/ 5439364 w 12192000"/>
              <a:gd name="connsiteY123" fmla="*/ 1721349 h 2079137"/>
              <a:gd name="connsiteX124" fmla="*/ 5350025 w 12192000"/>
              <a:gd name="connsiteY124" fmla="*/ 1729885 h 2079137"/>
              <a:gd name="connsiteX125" fmla="*/ 5336104 w 12192000"/>
              <a:gd name="connsiteY125" fmla="*/ 1734377 h 2079137"/>
              <a:gd name="connsiteX126" fmla="*/ 5245234 w 12192000"/>
              <a:gd name="connsiteY126" fmla="*/ 1738520 h 2079137"/>
              <a:gd name="connsiteX127" fmla="*/ 5182955 w 12192000"/>
              <a:gd name="connsiteY127" fmla="*/ 1744622 h 2079137"/>
              <a:gd name="connsiteX128" fmla="*/ 5169506 w 12192000"/>
              <a:gd name="connsiteY128" fmla="*/ 1748993 h 2079137"/>
              <a:gd name="connsiteX129" fmla="*/ 5154299 w 12192000"/>
              <a:gd name="connsiteY129" fmla="*/ 1744080 h 2079137"/>
              <a:gd name="connsiteX130" fmla="*/ 5149917 w 12192000"/>
              <a:gd name="connsiteY130" fmla="*/ 1739727 h 2079137"/>
              <a:gd name="connsiteX131" fmla="*/ 5100319 w 12192000"/>
              <a:gd name="connsiteY131" fmla="*/ 1745797 h 2079137"/>
              <a:gd name="connsiteX132" fmla="*/ 5094361 w 12192000"/>
              <a:gd name="connsiteY132" fmla="*/ 1745767 h 2079137"/>
              <a:gd name="connsiteX133" fmla="*/ 5053410 w 12192000"/>
              <a:gd name="connsiteY133" fmla="*/ 1742790 h 2079137"/>
              <a:gd name="connsiteX134" fmla="*/ 4992711 w 12192000"/>
              <a:gd name="connsiteY134" fmla="*/ 1734075 h 2079137"/>
              <a:gd name="connsiteX135" fmla="*/ 4930098 w 12192000"/>
              <a:gd name="connsiteY135" fmla="*/ 1717312 h 2079137"/>
              <a:gd name="connsiteX136" fmla="*/ 4893834 w 12192000"/>
              <a:gd name="connsiteY136" fmla="*/ 1710028 h 2079137"/>
              <a:gd name="connsiteX137" fmla="*/ 4868730 w 12192000"/>
              <a:gd name="connsiteY137" fmla="*/ 1702384 h 2079137"/>
              <a:gd name="connsiteX138" fmla="*/ 4797925 w 12192000"/>
              <a:gd name="connsiteY138" fmla="*/ 1695535 h 2079137"/>
              <a:gd name="connsiteX139" fmla="*/ 4677670 w 12192000"/>
              <a:gd name="connsiteY139" fmla="*/ 1689453 h 2079137"/>
              <a:gd name="connsiteX140" fmla="*/ 4634248 w 12192000"/>
              <a:gd name="connsiteY140" fmla="*/ 1680227 h 2079137"/>
              <a:gd name="connsiteX141" fmla="*/ 4632434 w 12192000"/>
              <a:gd name="connsiteY141" fmla="*/ 1674607 h 2079137"/>
              <a:gd name="connsiteX142" fmla="*/ 4619204 w 12192000"/>
              <a:gd name="connsiteY142" fmla="*/ 1672507 h 2079137"/>
              <a:gd name="connsiteX143" fmla="*/ 4616283 w 12192000"/>
              <a:gd name="connsiteY143" fmla="*/ 1670977 h 2079137"/>
              <a:gd name="connsiteX144" fmla="*/ 4598926 w 12192000"/>
              <a:gd name="connsiteY144" fmla="*/ 1663178 h 2079137"/>
              <a:gd name="connsiteX145" fmla="*/ 4547069 w 12192000"/>
              <a:gd name="connsiteY145" fmla="*/ 1670642 h 2079137"/>
              <a:gd name="connsiteX146" fmla="*/ 4523516 w 12192000"/>
              <a:gd name="connsiteY146" fmla="*/ 1669785 h 2079137"/>
              <a:gd name="connsiteX147" fmla="*/ 4500586 w 12192000"/>
              <a:gd name="connsiteY147" fmla="*/ 1675912 h 2079137"/>
              <a:gd name="connsiteX148" fmla="*/ 4488196 w 12192000"/>
              <a:gd name="connsiteY148" fmla="*/ 1683463 h 2079137"/>
              <a:gd name="connsiteX149" fmla="*/ 4445463 w 12192000"/>
              <a:gd name="connsiteY149" fmla="*/ 1695634 h 2079137"/>
              <a:gd name="connsiteX150" fmla="*/ 4446550 w 12192000"/>
              <a:gd name="connsiteY150" fmla="*/ 1680538 h 2079137"/>
              <a:gd name="connsiteX151" fmla="*/ 4365375 w 12192000"/>
              <a:gd name="connsiteY151" fmla="*/ 1697935 h 2079137"/>
              <a:gd name="connsiteX152" fmla="*/ 4305123 w 12192000"/>
              <a:gd name="connsiteY152" fmla="*/ 1714185 h 2079137"/>
              <a:gd name="connsiteX153" fmla="*/ 4292665 w 12192000"/>
              <a:gd name="connsiteY153" fmla="*/ 1720703 h 2079137"/>
              <a:gd name="connsiteX154" fmla="*/ 4276789 w 12192000"/>
              <a:gd name="connsiteY154" fmla="*/ 1718367 h 2079137"/>
              <a:gd name="connsiteX155" fmla="*/ 4271683 w 12192000"/>
              <a:gd name="connsiteY155" fmla="*/ 1714801 h 2079137"/>
              <a:gd name="connsiteX156" fmla="*/ 4223918 w 12192000"/>
              <a:gd name="connsiteY156" fmla="*/ 1728936 h 2079137"/>
              <a:gd name="connsiteX157" fmla="*/ 4218039 w 12192000"/>
              <a:gd name="connsiteY157" fmla="*/ 1729885 h 2079137"/>
              <a:gd name="connsiteX158" fmla="*/ 4177153 w 12192000"/>
              <a:gd name="connsiteY158" fmla="*/ 1733691 h 2079137"/>
              <a:gd name="connsiteX159" fmla="*/ 4051032 w 12192000"/>
              <a:gd name="connsiteY159" fmla="*/ 1728886 h 2079137"/>
              <a:gd name="connsiteX160" fmla="*/ 4013978 w 12192000"/>
              <a:gd name="connsiteY160" fmla="*/ 1727679 h 2079137"/>
              <a:gd name="connsiteX161" fmla="*/ 3987857 w 12192000"/>
              <a:gd name="connsiteY161" fmla="*/ 1724282 h 2079137"/>
              <a:gd name="connsiteX162" fmla="*/ 3916852 w 12192000"/>
              <a:gd name="connsiteY162" fmla="*/ 1729184 h 2079137"/>
              <a:gd name="connsiteX163" fmla="*/ 3797263 w 12192000"/>
              <a:gd name="connsiteY163" fmla="*/ 1742976 h 2079137"/>
              <a:gd name="connsiteX164" fmla="*/ 3752806 w 12192000"/>
              <a:gd name="connsiteY164" fmla="*/ 1741033 h 2079137"/>
              <a:gd name="connsiteX165" fmla="*/ 3749997 w 12192000"/>
              <a:gd name="connsiteY165" fmla="*/ 1735799 h 2079137"/>
              <a:gd name="connsiteX166" fmla="*/ 3736582 w 12192000"/>
              <a:gd name="connsiteY166" fmla="*/ 1735907 h 2079137"/>
              <a:gd name="connsiteX167" fmla="*/ 3733428 w 12192000"/>
              <a:gd name="connsiteY167" fmla="*/ 1734881 h 2079137"/>
              <a:gd name="connsiteX168" fmla="*/ 3714911 w 12192000"/>
              <a:gd name="connsiteY168" fmla="*/ 1730056 h 2079137"/>
              <a:gd name="connsiteX169" fmla="*/ 3665172 w 12192000"/>
              <a:gd name="connsiteY169" fmla="*/ 1745936 h 2079137"/>
              <a:gd name="connsiteX170" fmla="*/ 3552006 w 12192000"/>
              <a:gd name="connsiteY170" fmla="*/ 1755220 h 2079137"/>
              <a:gd name="connsiteX171" fmla="*/ 3390301 w 12192000"/>
              <a:gd name="connsiteY171" fmla="*/ 1762546 h 2079137"/>
              <a:gd name="connsiteX172" fmla="*/ 3264312 w 12192000"/>
              <a:gd name="connsiteY172" fmla="*/ 1774620 h 2079137"/>
              <a:gd name="connsiteX173" fmla="*/ 3106901 w 12192000"/>
              <a:gd name="connsiteY173" fmla="*/ 1804264 h 2079137"/>
              <a:gd name="connsiteX174" fmla="*/ 2993303 w 12192000"/>
              <a:gd name="connsiteY174" fmla="*/ 1806542 h 2079137"/>
              <a:gd name="connsiteX175" fmla="*/ 2979115 w 12192000"/>
              <a:gd name="connsiteY175" fmla="*/ 1815432 h 2079137"/>
              <a:gd name="connsiteX176" fmla="*/ 2963118 w 12192000"/>
              <a:gd name="connsiteY176" fmla="*/ 1820962 h 2079137"/>
              <a:gd name="connsiteX177" fmla="*/ 2961156 w 12192000"/>
              <a:gd name="connsiteY177" fmla="*/ 1820297 h 2079137"/>
              <a:gd name="connsiteX178" fmla="*/ 2925719 w 12192000"/>
              <a:gd name="connsiteY178" fmla="*/ 1828468 h 2079137"/>
              <a:gd name="connsiteX179" fmla="*/ 2857951 w 12192000"/>
              <a:gd name="connsiteY179" fmla="*/ 1842496 h 2079137"/>
              <a:gd name="connsiteX180" fmla="*/ 2857427 w 12192000"/>
              <a:gd name="connsiteY180" fmla="*/ 1841591 h 2079137"/>
              <a:gd name="connsiteX181" fmla="*/ 2846731 w 12192000"/>
              <a:gd name="connsiteY181" fmla="*/ 1839316 h 2079137"/>
              <a:gd name="connsiteX182" fmla="*/ 2826290 w 12192000"/>
              <a:gd name="connsiteY182" fmla="*/ 1837274 h 2079137"/>
              <a:gd name="connsiteX183" fmla="*/ 2779146 w 12192000"/>
              <a:gd name="connsiteY183" fmla="*/ 1820071 h 2079137"/>
              <a:gd name="connsiteX184" fmla="*/ 2739608 w 12192000"/>
              <a:gd name="connsiteY184" fmla="*/ 1827861 h 2079137"/>
              <a:gd name="connsiteX185" fmla="*/ 2731631 w 12192000"/>
              <a:gd name="connsiteY185" fmla="*/ 1828881 h 2079137"/>
              <a:gd name="connsiteX186" fmla="*/ 2731464 w 12192000"/>
              <a:gd name="connsiteY186" fmla="*/ 1828677 h 2079137"/>
              <a:gd name="connsiteX187" fmla="*/ 2723037 w 12192000"/>
              <a:gd name="connsiteY187" fmla="*/ 1829303 h 2079137"/>
              <a:gd name="connsiteX188" fmla="*/ 2701616 w 12192000"/>
              <a:gd name="connsiteY188" fmla="*/ 1832725 h 2079137"/>
              <a:gd name="connsiteX189" fmla="*/ 2696239 w 12192000"/>
              <a:gd name="connsiteY189" fmla="*/ 1831904 h 2079137"/>
              <a:gd name="connsiteX190" fmla="*/ 2663445 w 12192000"/>
              <a:gd name="connsiteY190" fmla="*/ 1825958 h 2079137"/>
              <a:gd name="connsiteX191" fmla="*/ 2560925 w 12192000"/>
              <a:gd name="connsiteY191" fmla="*/ 1829094 h 2079137"/>
              <a:gd name="connsiteX192" fmla="*/ 2458739 w 12192000"/>
              <a:gd name="connsiteY192" fmla="*/ 1834479 h 2079137"/>
              <a:gd name="connsiteX193" fmla="*/ 2356074 w 12192000"/>
              <a:gd name="connsiteY193" fmla="*/ 1836991 h 2079137"/>
              <a:gd name="connsiteX194" fmla="*/ 2304241 w 12192000"/>
              <a:gd name="connsiteY194" fmla="*/ 1822021 h 2079137"/>
              <a:gd name="connsiteX195" fmla="*/ 2298362 w 12192000"/>
              <a:gd name="connsiteY195" fmla="*/ 1822125 h 2079137"/>
              <a:gd name="connsiteX196" fmla="*/ 2283527 w 12192000"/>
              <a:gd name="connsiteY196" fmla="*/ 1826361 h 2079137"/>
              <a:gd name="connsiteX197" fmla="*/ 2278150 w 12192000"/>
              <a:gd name="connsiteY197" fmla="*/ 1828604 h 2079137"/>
              <a:gd name="connsiteX198" fmla="*/ 2269853 w 12192000"/>
              <a:gd name="connsiteY198" fmla="*/ 1830502 h 2079137"/>
              <a:gd name="connsiteX199" fmla="*/ 2269585 w 12192000"/>
              <a:gd name="connsiteY199" fmla="*/ 1830341 h 2079137"/>
              <a:gd name="connsiteX200" fmla="*/ 2225332 w 12192000"/>
              <a:gd name="connsiteY200" fmla="*/ 1845825 h 2079137"/>
              <a:gd name="connsiteX201" fmla="*/ 2169048 w 12192000"/>
              <a:gd name="connsiteY201" fmla="*/ 1837658 h 2079137"/>
              <a:gd name="connsiteX202" fmla="*/ 2147231 w 12192000"/>
              <a:gd name="connsiteY202" fmla="*/ 1839027 h 2079137"/>
              <a:gd name="connsiteX203" fmla="*/ 2135241 w 12192000"/>
              <a:gd name="connsiteY203" fmla="*/ 1838652 h 2079137"/>
              <a:gd name="connsiteX204" fmla="*/ 2099215 w 12192000"/>
              <a:gd name="connsiteY204" fmla="*/ 1850768 h 2079137"/>
              <a:gd name="connsiteX205" fmla="*/ 2094046 w 12192000"/>
              <a:gd name="connsiteY205" fmla="*/ 1850806 h 2079137"/>
              <a:gd name="connsiteX206" fmla="*/ 2071850 w 12192000"/>
              <a:gd name="connsiteY206" fmla="*/ 1861319 h 2079137"/>
              <a:gd name="connsiteX207" fmla="*/ 2039607 w 12192000"/>
              <a:gd name="connsiteY207" fmla="*/ 1874318 h 2079137"/>
              <a:gd name="connsiteX208" fmla="*/ 2037289 w 12192000"/>
              <a:gd name="connsiteY208" fmla="*/ 1874025 h 2079137"/>
              <a:gd name="connsiteX209" fmla="*/ 2023615 w 12192000"/>
              <a:gd name="connsiteY209" fmla="*/ 1881562 h 2079137"/>
              <a:gd name="connsiteX210" fmla="*/ 1957176 w 12192000"/>
              <a:gd name="connsiteY210" fmla="*/ 1898709 h 2079137"/>
              <a:gd name="connsiteX211" fmla="*/ 1858081 w 12192000"/>
              <a:gd name="connsiteY211" fmla="*/ 1923144 h 2079137"/>
              <a:gd name="connsiteX212" fmla="*/ 1738865 w 12192000"/>
              <a:gd name="connsiteY212" fmla="*/ 1944965 h 2079137"/>
              <a:gd name="connsiteX213" fmla="*/ 1616692 w 12192000"/>
              <a:gd name="connsiteY213" fmla="*/ 1989107 h 2079137"/>
              <a:gd name="connsiteX214" fmla="*/ 1411898 w 12192000"/>
              <a:gd name="connsiteY214" fmla="*/ 2046254 h 2079137"/>
              <a:gd name="connsiteX215" fmla="*/ 1375780 w 12192000"/>
              <a:gd name="connsiteY215" fmla="*/ 2047961 h 2079137"/>
              <a:gd name="connsiteX216" fmla="*/ 1375707 w 12192000"/>
              <a:gd name="connsiteY216" fmla="*/ 2047981 h 2079137"/>
              <a:gd name="connsiteX217" fmla="*/ 1285585 w 12192000"/>
              <a:gd name="connsiteY217" fmla="*/ 2047113 h 2079137"/>
              <a:gd name="connsiteX218" fmla="*/ 1263658 w 12192000"/>
              <a:gd name="connsiteY218" fmla="*/ 2041397 h 2079137"/>
              <a:gd name="connsiteX219" fmla="*/ 1170403 w 12192000"/>
              <a:gd name="connsiteY219" fmla="*/ 2033399 h 2079137"/>
              <a:gd name="connsiteX220" fmla="*/ 1153718 w 12192000"/>
              <a:gd name="connsiteY220" fmla="*/ 2029576 h 2079137"/>
              <a:gd name="connsiteX221" fmla="*/ 1133937 w 12192000"/>
              <a:gd name="connsiteY221" fmla="*/ 2032149 h 2079137"/>
              <a:gd name="connsiteX222" fmla="*/ 1054999 w 12192000"/>
              <a:gd name="connsiteY222" fmla="*/ 2043242 h 2079137"/>
              <a:gd name="connsiteX223" fmla="*/ 1018405 w 12192000"/>
              <a:gd name="connsiteY223" fmla="*/ 2048281 h 2079137"/>
              <a:gd name="connsiteX224" fmla="*/ 1016563 w 12192000"/>
              <a:gd name="connsiteY224" fmla="*/ 2051718 h 2079137"/>
              <a:gd name="connsiteX225" fmla="*/ 1008284 w 12192000"/>
              <a:gd name="connsiteY225" fmla="*/ 2046742 h 2079137"/>
              <a:gd name="connsiteX226" fmla="*/ 981974 w 12192000"/>
              <a:gd name="connsiteY226" fmla="*/ 2048363 h 2079137"/>
              <a:gd name="connsiteX227" fmla="*/ 971903 w 12192000"/>
              <a:gd name="connsiteY227" fmla="*/ 2053484 h 2079137"/>
              <a:gd name="connsiteX228" fmla="*/ 954015 w 12192000"/>
              <a:gd name="connsiteY228" fmla="*/ 2052529 h 2079137"/>
              <a:gd name="connsiteX229" fmla="*/ 839571 w 12192000"/>
              <a:gd name="connsiteY229" fmla="*/ 2046509 h 2079137"/>
              <a:gd name="connsiteX230" fmla="*/ 823321 w 12192000"/>
              <a:gd name="connsiteY230" fmla="*/ 2054296 h 2079137"/>
              <a:gd name="connsiteX231" fmla="*/ 800990 w 12192000"/>
              <a:gd name="connsiteY231" fmla="*/ 2051523 h 2079137"/>
              <a:gd name="connsiteX232" fmla="*/ 776439 w 12192000"/>
              <a:gd name="connsiteY232" fmla="*/ 2062634 h 2079137"/>
              <a:gd name="connsiteX233" fmla="*/ 763041 w 12192000"/>
              <a:gd name="connsiteY233" fmla="*/ 2063995 h 2079137"/>
              <a:gd name="connsiteX234" fmla="*/ 757863 w 12192000"/>
              <a:gd name="connsiteY234" fmla="*/ 2065877 h 2079137"/>
              <a:gd name="connsiteX235" fmla="*/ 745053 w 12192000"/>
              <a:gd name="connsiteY235" fmla="*/ 2051831 h 2079137"/>
              <a:gd name="connsiteX236" fmla="*/ 722609 w 12192000"/>
              <a:gd name="connsiteY236" fmla="*/ 2049504 h 2079137"/>
              <a:gd name="connsiteX237" fmla="*/ 717618 w 12192000"/>
              <a:gd name="connsiteY237" fmla="*/ 2042131 h 2079137"/>
              <a:gd name="connsiteX238" fmla="*/ 703285 w 12192000"/>
              <a:gd name="connsiteY238" fmla="*/ 2046808 h 2079137"/>
              <a:gd name="connsiteX239" fmla="*/ 680199 w 12192000"/>
              <a:gd name="connsiteY239" fmla="*/ 2051947 h 2079137"/>
              <a:gd name="connsiteX240" fmla="*/ 667351 w 12192000"/>
              <a:gd name="connsiteY240" fmla="*/ 2054469 h 2079137"/>
              <a:gd name="connsiteX241" fmla="*/ 660961 w 12192000"/>
              <a:gd name="connsiteY241" fmla="*/ 2049404 h 2079137"/>
              <a:gd name="connsiteX242" fmla="*/ 638282 w 12192000"/>
              <a:gd name="connsiteY242" fmla="*/ 2060093 h 2079137"/>
              <a:gd name="connsiteX243" fmla="*/ 583551 w 12192000"/>
              <a:gd name="connsiteY243" fmla="*/ 2070197 h 2079137"/>
              <a:gd name="connsiteX244" fmla="*/ 525274 w 12192000"/>
              <a:gd name="connsiteY244" fmla="*/ 2079137 h 2079137"/>
              <a:gd name="connsiteX245" fmla="*/ 405635 w 12192000"/>
              <a:gd name="connsiteY245" fmla="*/ 2059339 h 2079137"/>
              <a:gd name="connsiteX246" fmla="*/ 281555 w 12192000"/>
              <a:gd name="connsiteY246" fmla="*/ 2022847 h 2079137"/>
              <a:gd name="connsiteX247" fmla="*/ 98513 w 12192000"/>
              <a:gd name="connsiteY247" fmla="*/ 1969504 h 2079137"/>
              <a:gd name="connsiteX248" fmla="*/ 56191 w 12192000"/>
              <a:gd name="connsiteY248" fmla="*/ 1950709 h 2079137"/>
              <a:gd name="connsiteX249" fmla="*/ 0 w 12192000"/>
              <a:gd name="connsiteY249" fmla="*/ 1935789 h 2079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Lst>
            <a:rect l="l" t="t" r="r" b="b"/>
            <a:pathLst>
              <a:path w="12192000" h="2079137">
                <a:moveTo>
                  <a:pt x="12160143" y="831692"/>
                </a:moveTo>
                <a:lnTo>
                  <a:pt x="12159112" y="833361"/>
                </a:lnTo>
                <a:cubicBezTo>
                  <a:pt x="12157915" y="833832"/>
                  <a:pt x="12157402" y="833649"/>
                  <a:pt x="12158912" y="832430"/>
                </a:cubicBezTo>
                <a:close/>
                <a:moveTo>
                  <a:pt x="0" y="0"/>
                </a:moveTo>
                <a:lnTo>
                  <a:pt x="12192000" y="0"/>
                </a:lnTo>
                <a:lnTo>
                  <a:pt x="12192000" y="558063"/>
                </a:lnTo>
                <a:lnTo>
                  <a:pt x="12189259" y="810508"/>
                </a:lnTo>
                <a:lnTo>
                  <a:pt x="12170847" y="825280"/>
                </a:lnTo>
                <a:lnTo>
                  <a:pt x="12160143" y="831692"/>
                </a:lnTo>
                <a:lnTo>
                  <a:pt x="12163806" y="825759"/>
                </a:lnTo>
                <a:cubicBezTo>
                  <a:pt x="12125449" y="821525"/>
                  <a:pt x="12082203" y="824698"/>
                  <a:pt x="12056557" y="810176"/>
                </a:cubicBezTo>
                <a:cubicBezTo>
                  <a:pt x="12050902" y="790976"/>
                  <a:pt x="11923731" y="799312"/>
                  <a:pt x="11900316" y="789618"/>
                </a:cubicBezTo>
                <a:cubicBezTo>
                  <a:pt x="11841702" y="803374"/>
                  <a:pt x="11823963" y="832645"/>
                  <a:pt x="11791206" y="824176"/>
                </a:cubicBezTo>
                <a:cubicBezTo>
                  <a:pt x="11768977" y="817380"/>
                  <a:pt x="11683857" y="828947"/>
                  <a:pt x="11659257" y="800841"/>
                </a:cubicBezTo>
                <a:cubicBezTo>
                  <a:pt x="11617173" y="818107"/>
                  <a:pt x="11602556" y="790694"/>
                  <a:pt x="11569789" y="797135"/>
                </a:cubicBezTo>
                <a:cubicBezTo>
                  <a:pt x="11498310" y="795094"/>
                  <a:pt x="11458472" y="819882"/>
                  <a:pt x="11367885" y="791985"/>
                </a:cubicBezTo>
                <a:cubicBezTo>
                  <a:pt x="11325508" y="798158"/>
                  <a:pt x="11266580" y="755023"/>
                  <a:pt x="11174663" y="788721"/>
                </a:cubicBezTo>
                <a:cubicBezTo>
                  <a:pt x="11122703" y="792192"/>
                  <a:pt x="11150009" y="775410"/>
                  <a:pt x="11068220" y="786994"/>
                </a:cubicBezTo>
                <a:cubicBezTo>
                  <a:pt x="11046931" y="759861"/>
                  <a:pt x="10919185" y="793102"/>
                  <a:pt x="10893266" y="794013"/>
                </a:cubicBezTo>
                <a:cubicBezTo>
                  <a:pt x="10874184" y="776189"/>
                  <a:pt x="10862860" y="788743"/>
                  <a:pt x="10844025" y="789857"/>
                </a:cubicBezTo>
                <a:cubicBezTo>
                  <a:pt x="10836453" y="779294"/>
                  <a:pt x="10820690" y="778184"/>
                  <a:pt x="10814353" y="789010"/>
                </a:cubicBezTo>
                <a:cubicBezTo>
                  <a:pt x="10819669" y="816016"/>
                  <a:pt x="10754019" y="789067"/>
                  <a:pt x="10748393" y="806738"/>
                </a:cubicBezTo>
                <a:cubicBezTo>
                  <a:pt x="10687156" y="807873"/>
                  <a:pt x="10550299" y="781800"/>
                  <a:pt x="10468256" y="778733"/>
                </a:cubicBezTo>
                <a:cubicBezTo>
                  <a:pt x="10436666" y="770025"/>
                  <a:pt x="10371995" y="797252"/>
                  <a:pt x="10256131" y="788332"/>
                </a:cubicBezTo>
                <a:cubicBezTo>
                  <a:pt x="10240995" y="781626"/>
                  <a:pt x="10182664" y="765742"/>
                  <a:pt x="10177442" y="777371"/>
                </a:cubicBezTo>
                <a:cubicBezTo>
                  <a:pt x="10141447" y="775683"/>
                  <a:pt x="10030323" y="810071"/>
                  <a:pt x="10006086" y="792651"/>
                </a:cubicBezTo>
                <a:cubicBezTo>
                  <a:pt x="10009448" y="818833"/>
                  <a:pt x="9960389" y="791426"/>
                  <a:pt x="9952382" y="815411"/>
                </a:cubicBezTo>
                <a:lnTo>
                  <a:pt x="9926457" y="827295"/>
                </a:lnTo>
                <a:lnTo>
                  <a:pt x="9843405" y="867046"/>
                </a:lnTo>
                <a:lnTo>
                  <a:pt x="9830866" y="875047"/>
                </a:lnTo>
                <a:lnTo>
                  <a:pt x="9801807" y="872272"/>
                </a:lnTo>
                <a:lnTo>
                  <a:pt x="9785653" y="861743"/>
                </a:lnTo>
                <a:lnTo>
                  <a:pt x="9781177" y="864820"/>
                </a:lnTo>
                <a:cubicBezTo>
                  <a:pt x="9776153" y="871003"/>
                  <a:pt x="9773556" y="874842"/>
                  <a:pt x="9768640" y="869379"/>
                </a:cubicBezTo>
                <a:lnTo>
                  <a:pt x="9712211" y="900283"/>
                </a:lnTo>
                <a:cubicBezTo>
                  <a:pt x="9706243" y="902750"/>
                  <a:pt x="9698952" y="902954"/>
                  <a:pt x="9689465" y="899268"/>
                </a:cubicBezTo>
                <a:cubicBezTo>
                  <a:pt x="9670819" y="902906"/>
                  <a:pt x="9618108" y="917739"/>
                  <a:pt x="9600339" y="922112"/>
                </a:cubicBezTo>
                <a:lnTo>
                  <a:pt x="9582850" y="925510"/>
                </a:lnTo>
                <a:cubicBezTo>
                  <a:pt x="9574400" y="928631"/>
                  <a:pt x="9556868" y="938130"/>
                  <a:pt x="9549638" y="940845"/>
                </a:cubicBezTo>
                <a:cubicBezTo>
                  <a:pt x="9543792" y="942327"/>
                  <a:pt x="9546812" y="939351"/>
                  <a:pt x="9539471" y="941799"/>
                </a:cubicBezTo>
                <a:cubicBezTo>
                  <a:pt x="9538994" y="947702"/>
                  <a:pt x="9536009" y="953248"/>
                  <a:pt x="9505592" y="955533"/>
                </a:cubicBezTo>
                <a:cubicBezTo>
                  <a:pt x="9486013" y="968563"/>
                  <a:pt x="9460860" y="978842"/>
                  <a:pt x="9432569" y="985377"/>
                </a:cubicBezTo>
                <a:cubicBezTo>
                  <a:pt x="9426990" y="980335"/>
                  <a:pt x="9418918" y="990185"/>
                  <a:pt x="9414216" y="992655"/>
                </a:cubicBezTo>
                <a:cubicBezTo>
                  <a:pt x="9412644" y="989014"/>
                  <a:pt x="9400057" y="989255"/>
                  <a:pt x="9397106" y="992980"/>
                </a:cubicBezTo>
                <a:cubicBezTo>
                  <a:pt x="9314093" y="1020862"/>
                  <a:pt x="9349678" y="978420"/>
                  <a:pt x="9305108" y="1007767"/>
                </a:cubicBezTo>
                <a:cubicBezTo>
                  <a:pt x="9296670" y="1010324"/>
                  <a:pt x="9289251" y="1009612"/>
                  <a:pt x="9282434" y="1007523"/>
                </a:cubicBezTo>
                <a:lnTo>
                  <a:pt x="9271941" y="1002839"/>
                </a:lnTo>
                <a:lnTo>
                  <a:pt x="9238227" y="1017668"/>
                </a:lnTo>
                <a:cubicBezTo>
                  <a:pt x="9221294" y="1023415"/>
                  <a:pt x="9203166" y="1027997"/>
                  <a:pt x="9184265" y="1031275"/>
                </a:cubicBezTo>
                <a:cubicBezTo>
                  <a:pt x="9178371" y="1024135"/>
                  <a:pt x="9165618" y="1036637"/>
                  <a:pt x="9159000" y="1039569"/>
                </a:cubicBezTo>
                <a:cubicBezTo>
                  <a:pt x="9157881" y="1034602"/>
                  <a:pt x="9141725" y="1033964"/>
                  <a:pt x="9137031" y="1038699"/>
                </a:cubicBezTo>
                <a:cubicBezTo>
                  <a:pt x="9023973" y="1069523"/>
                  <a:pt x="9079946" y="1015706"/>
                  <a:pt x="9015702" y="1051400"/>
                </a:cubicBezTo>
                <a:lnTo>
                  <a:pt x="8971403" y="1040542"/>
                </a:lnTo>
                <a:lnTo>
                  <a:pt x="8961826" y="1045364"/>
                </a:lnTo>
                <a:cubicBezTo>
                  <a:pt x="8922837" y="1050010"/>
                  <a:pt x="8909116" y="1040754"/>
                  <a:pt x="8888623" y="1053908"/>
                </a:cubicBezTo>
                <a:cubicBezTo>
                  <a:pt x="8850424" y="1035587"/>
                  <a:pt x="8865892" y="1054194"/>
                  <a:pt x="8841066" y="1060421"/>
                </a:cubicBezTo>
                <a:cubicBezTo>
                  <a:pt x="8818353" y="1064878"/>
                  <a:pt x="8775995" y="1076068"/>
                  <a:pt x="8752342" y="1080646"/>
                </a:cubicBezTo>
                <a:cubicBezTo>
                  <a:pt x="8736966" y="1099406"/>
                  <a:pt x="8723186" y="1079948"/>
                  <a:pt x="8699139" y="1087885"/>
                </a:cubicBezTo>
                <a:cubicBezTo>
                  <a:pt x="8688630" y="1095506"/>
                  <a:pt x="8680324" y="1097539"/>
                  <a:pt x="8667273" y="1092062"/>
                </a:cubicBezTo>
                <a:cubicBezTo>
                  <a:pt x="8619205" y="1128818"/>
                  <a:pt x="8634590" y="1097116"/>
                  <a:pt x="8586064" y="1114603"/>
                </a:cubicBezTo>
                <a:cubicBezTo>
                  <a:pt x="8544721" y="1131913"/>
                  <a:pt x="8496602" y="1145520"/>
                  <a:pt x="8460312" y="1179878"/>
                </a:cubicBezTo>
                <a:cubicBezTo>
                  <a:pt x="8454266" y="1189140"/>
                  <a:pt x="8435781" y="1194455"/>
                  <a:pt x="8419023" y="1191748"/>
                </a:cubicBezTo>
                <a:cubicBezTo>
                  <a:pt x="8416138" y="1191283"/>
                  <a:pt x="8413416" y="1190591"/>
                  <a:pt x="8410939" y="1189696"/>
                </a:cubicBezTo>
                <a:cubicBezTo>
                  <a:pt x="8390077" y="1213458"/>
                  <a:pt x="8370324" y="1205397"/>
                  <a:pt x="8362040" y="1220820"/>
                </a:cubicBezTo>
                <a:cubicBezTo>
                  <a:pt x="8320616" y="1231942"/>
                  <a:pt x="8281663" y="1222882"/>
                  <a:pt x="8273677" y="1236495"/>
                </a:cubicBezTo>
                <a:cubicBezTo>
                  <a:pt x="8251358" y="1238573"/>
                  <a:pt x="8216738" y="1228341"/>
                  <a:pt x="8204283" y="1243537"/>
                </a:cubicBezTo>
                <a:cubicBezTo>
                  <a:pt x="8198634" y="1233135"/>
                  <a:pt x="8181550" y="1254947"/>
                  <a:pt x="8166550" y="1249551"/>
                </a:cubicBezTo>
                <a:cubicBezTo>
                  <a:pt x="8155570" y="1244572"/>
                  <a:pt x="8147825" y="1250027"/>
                  <a:pt x="8137785" y="1251636"/>
                </a:cubicBezTo>
                <a:cubicBezTo>
                  <a:pt x="8123427" y="1248361"/>
                  <a:pt x="8081662" y="1261833"/>
                  <a:pt x="8071596" y="1269274"/>
                </a:cubicBezTo>
                <a:cubicBezTo>
                  <a:pt x="8048949" y="1293759"/>
                  <a:pt x="7983924" y="1284712"/>
                  <a:pt x="7964816" y="1303668"/>
                </a:cubicBezTo>
                <a:cubicBezTo>
                  <a:pt x="7957137" y="1306992"/>
                  <a:pt x="7949335" y="1308861"/>
                  <a:pt x="7941495" y="1309821"/>
                </a:cubicBezTo>
                <a:lnTo>
                  <a:pt x="7919123" y="1310466"/>
                </a:lnTo>
                <a:lnTo>
                  <a:pt x="7911902" y="1306569"/>
                </a:lnTo>
                <a:lnTo>
                  <a:pt x="7898703" y="1309208"/>
                </a:lnTo>
                <a:lnTo>
                  <a:pt x="7894703" y="1308939"/>
                </a:lnTo>
                <a:lnTo>
                  <a:pt x="7872267" y="1308370"/>
                </a:lnTo>
                <a:cubicBezTo>
                  <a:pt x="7886550" y="1330359"/>
                  <a:pt x="7812648" y="1314851"/>
                  <a:pt x="7836454" y="1331265"/>
                </a:cubicBezTo>
                <a:cubicBezTo>
                  <a:pt x="7798907" y="1336933"/>
                  <a:pt x="7831419" y="1351068"/>
                  <a:pt x="7782451" y="1339601"/>
                </a:cubicBezTo>
                <a:cubicBezTo>
                  <a:pt x="7727636" y="1365002"/>
                  <a:pt x="7583002" y="1338768"/>
                  <a:pt x="7542969" y="1372495"/>
                </a:cubicBezTo>
                <a:cubicBezTo>
                  <a:pt x="7546396" y="1360942"/>
                  <a:pt x="7492851" y="1424323"/>
                  <a:pt x="7476832" y="1431655"/>
                </a:cubicBezTo>
                <a:cubicBezTo>
                  <a:pt x="7439619" y="1443703"/>
                  <a:pt x="7425596" y="1454661"/>
                  <a:pt x="7370237" y="1474339"/>
                </a:cubicBezTo>
                <a:cubicBezTo>
                  <a:pt x="7316246" y="1485928"/>
                  <a:pt x="7281903" y="1512712"/>
                  <a:pt x="7222223" y="1510199"/>
                </a:cubicBezTo>
                <a:cubicBezTo>
                  <a:pt x="7221190" y="1514030"/>
                  <a:pt x="7218885" y="1517398"/>
                  <a:pt x="7215703" y="1520424"/>
                </a:cubicBezTo>
                <a:lnTo>
                  <a:pt x="7204548" y="1528145"/>
                </a:lnTo>
                <a:lnTo>
                  <a:pt x="7202038" y="1527954"/>
                </a:lnTo>
                <a:lnTo>
                  <a:pt x="7173860" y="1541605"/>
                </a:lnTo>
                <a:lnTo>
                  <a:pt x="7155079" y="1552495"/>
                </a:lnTo>
                <a:lnTo>
                  <a:pt x="7149757" y="1552732"/>
                </a:lnTo>
                <a:cubicBezTo>
                  <a:pt x="7141378" y="1554948"/>
                  <a:pt x="7115959" y="1563256"/>
                  <a:pt x="7104804" y="1565792"/>
                </a:cubicBezTo>
                <a:cubicBezTo>
                  <a:pt x="7099811" y="1550850"/>
                  <a:pt x="7096935" y="1561973"/>
                  <a:pt x="7082824" y="1567947"/>
                </a:cubicBezTo>
                <a:cubicBezTo>
                  <a:pt x="7071919" y="1546070"/>
                  <a:pt x="7039417" y="1570606"/>
                  <a:pt x="7021520" y="1562334"/>
                </a:cubicBezTo>
                <a:cubicBezTo>
                  <a:pt x="7011400" y="1567217"/>
                  <a:pt x="7000495" y="1571981"/>
                  <a:pt x="6988956" y="1576442"/>
                </a:cubicBezTo>
                <a:lnTo>
                  <a:pt x="6981922" y="1578821"/>
                </a:lnTo>
                <a:lnTo>
                  <a:pt x="6981583" y="1578678"/>
                </a:lnTo>
                <a:cubicBezTo>
                  <a:pt x="6979627" y="1578791"/>
                  <a:pt x="6977153" y="1579421"/>
                  <a:pt x="6973762" y="1580811"/>
                </a:cubicBezTo>
                <a:lnTo>
                  <a:pt x="6969093" y="1583157"/>
                </a:lnTo>
                <a:lnTo>
                  <a:pt x="6890037" y="1575825"/>
                </a:lnTo>
                <a:cubicBezTo>
                  <a:pt x="6849459" y="1579997"/>
                  <a:pt x="6820022" y="1566922"/>
                  <a:pt x="6785054" y="1582200"/>
                </a:cubicBezTo>
                <a:cubicBezTo>
                  <a:pt x="6747047" y="1586037"/>
                  <a:pt x="6712794" y="1582954"/>
                  <a:pt x="6681692" y="1591296"/>
                </a:cubicBezTo>
                <a:cubicBezTo>
                  <a:pt x="6667557" y="1587501"/>
                  <a:pt x="6654822" y="1586753"/>
                  <a:pt x="6644556" y="1595940"/>
                </a:cubicBezTo>
                <a:cubicBezTo>
                  <a:pt x="6608615" y="1597269"/>
                  <a:pt x="6597697" y="1587005"/>
                  <a:pt x="6577106" y="1598261"/>
                </a:cubicBezTo>
                <a:lnTo>
                  <a:pt x="6544183" y="1596149"/>
                </a:lnTo>
                <a:lnTo>
                  <a:pt x="6540921" y="1593857"/>
                </a:lnTo>
                <a:lnTo>
                  <a:pt x="6535046" y="1593283"/>
                </a:lnTo>
                <a:lnTo>
                  <a:pt x="6519853" y="1595771"/>
                </a:lnTo>
                <a:lnTo>
                  <a:pt x="6514280" y="1597376"/>
                </a:lnTo>
                <a:cubicBezTo>
                  <a:pt x="6510385" y="1598232"/>
                  <a:pt x="6507735" y="1598481"/>
                  <a:pt x="6505824" y="1598298"/>
                </a:cubicBezTo>
                <a:lnTo>
                  <a:pt x="6505573" y="1598109"/>
                </a:lnTo>
                <a:lnTo>
                  <a:pt x="6497741" y="1599392"/>
                </a:lnTo>
                <a:cubicBezTo>
                  <a:pt x="6484628" y="1602044"/>
                  <a:pt x="6471968" y="1605085"/>
                  <a:pt x="6459992" y="1608358"/>
                </a:cubicBezTo>
                <a:cubicBezTo>
                  <a:pt x="6447037" y="1597612"/>
                  <a:pt x="6404274" y="1616787"/>
                  <a:pt x="6404572" y="1593771"/>
                </a:cubicBezTo>
                <a:cubicBezTo>
                  <a:pt x="6388277" y="1597519"/>
                  <a:pt x="6380141" y="1607970"/>
                  <a:pt x="6382671" y="1592612"/>
                </a:cubicBezTo>
                <a:lnTo>
                  <a:pt x="6369843" y="1590015"/>
                </a:lnTo>
                <a:lnTo>
                  <a:pt x="6269740" y="1614633"/>
                </a:lnTo>
                <a:lnTo>
                  <a:pt x="6255405" y="1620529"/>
                </a:lnTo>
                <a:cubicBezTo>
                  <a:pt x="6250911" y="1623016"/>
                  <a:pt x="6247090" y="1625968"/>
                  <a:pt x="6244248" y="1629561"/>
                </a:cubicBezTo>
                <a:cubicBezTo>
                  <a:pt x="6188859" y="1618246"/>
                  <a:pt x="6143250" y="1639346"/>
                  <a:pt x="6086396" y="1642666"/>
                </a:cubicBezTo>
                <a:cubicBezTo>
                  <a:pt x="6024311" y="1653696"/>
                  <a:pt x="5889522" y="1686499"/>
                  <a:pt x="5867429" y="1695554"/>
                </a:cubicBezTo>
                <a:cubicBezTo>
                  <a:pt x="5848669" y="1700350"/>
                  <a:pt x="5763994" y="1699795"/>
                  <a:pt x="5772864" y="1689002"/>
                </a:cubicBezTo>
                <a:cubicBezTo>
                  <a:pt x="5718480" y="1716048"/>
                  <a:pt x="5694188" y="1696562"/>
                  <a:pt x="5629833" y="1713273"/>
                </a:cubicBezTo>
                <a:lnTo>
                  <a:pt x="5504771" y="1725744"/>
                </a:lnTo>
                <a:lnTo>
                  <a:pt x="5490967" y="1726367"/>
                </a:lnTo>
                <a:lnTo>
                  <a:pt x="5486015" y="1721481"/>
                </a:lnTo>
                <a:lnTo>
                  <a:pt x="5439364" y="1721349"/>
                </a:lnTo>
                <a:cubicBezTo>
                  <a:pt x="5418850" y="1733129"/>
                  <a:pt x="5381503" y="1725668"/>
                  <a:pt x="5350025" y="1729885"/>
                </a:cubicBezTo>
                <a:lnTo>
                  <a:pt x="5336104" y="1734377"/>
                </a:lnTo>
                <a:lnTo>
                  <a:pt x="5245234" y="1738520"/>
                </a:lnTo>
                <a:lnTo>
                  <a:pt x="5182955" y="1744622"/>
                </a:lnTo>
                <a:lnTo>
                  <a:pt x="5169506" y="1748993"/>
                </a:lnTo>
                <a:lnTo>
                  <a:pt x="5154299" y="1744080"/>
                </a:lnTo>
                <a:cubicBezTo>
                  <a:pt x="5152463" y="1742751"/>
                  <a:pt x="5150989" y="1741283"/>
                  <a:pt x="5149917" y="1739727"/>
                </a:cubicBezTo>
                <a:lnTo>
                  <a:pt x="5100319" y="1745797"/>
                </a:lnTo>
                <a:lnTo>
                  <a:pt x="5094361" y="1745767"/>
                </a:lnTo>
                <a:lnTo>
                  <a:pt x="5053410" y="1742790"/>
                </a:lnTo>
                <a:lnTo>
                  <a:pt x="4992711" y="1734075"/>
                </a:lnTo>
                <a:cubicBezTo>
                  <a:pt x="4972764" y="1728527"/>
                  <a:pt x="4955480" y="1708667"/>
                  <a:pt x="4930098" y="1717312"/>
                </a:cubicBezTo>
                <a:cubicBezTo>
                  <a:pt x="4936142" y="1706767"/>
                  <a:pt x="4900350" y="1719438"/>
                  <a:pt x="4893834" y="1710028"/>
                </a:cubicBezTo>
                <a:cubicBezTo>
                  <a:pt x="4890113" y="1702277"/>
                  <a:pt x="4878389" y="1704314"/>
                  <a:pt x="4868730" y="1702384"/>
                </a:cubicBezTo>
                <a:cubicBezTo>
                  <a:pt x="4860577" y="1694955"/>
                  <a:pt x="4813519" y="1692594"/>
                  <a:pt x="4797925" y="1695535"/>
                </a:cubicBezTo>
                <a:cubicBezTo>
                  <a:pt x="4754973" y="1708626"/>
                  <a:pt x="4712186" y="1679830"/>
                  <a:pt x="4677670" y="1689453"/>
                </a:cubicBezTo>
                <a:cubicBezTo>
                  <a:pt x="4650390" y="1686902"/>
                  <a:pt x="4641786" y="1682702"/>
                  <a:pt x="4634248" y="1680227"/>
                </a:cubicBezTo>
                <a:lnTo>
                  <a:pt x="4632434" y="1674607"/>
                </a:lnTo>
                <a:lnTo>
                  <a:pt x="4619204" y="1672507"/>
                </a:lnTo>
                <a:lnTo>
                  <a:pt x="4616283" y="1670977"/>
                </a:lnTo>
                <a:cubicBezTo>
                  <a:pt x="4610716" y="1668036"/>
                  <a:pt x="4605090" y="1665277"/>
                  <a:pt x="4598926" y="1663178"/>
                </a:cubicBezTo>
                <a:cubicBezTo>
                  <a:pt x="4588025" y="1686237"/>
                  <a:pt x="4544698" y="1649138"/>
                  <a:pt x="4547069" y="1670642"/>
                </a:cubicBezTo>
                <a:lnTo>
                  <a:pt x="4523516" y="1669785"/>
                </a:lnTo>
                <a:lnTo>
                  <a:pt x="4500586" y="1675912"/>
                </a:lnTo>
                <a:lnTo>
                  <a:pt x="4488196" y="1683463"/>
                </a:lnTo>
                <a:lnTo>
                  <a:pt x="4445463" y="1695634"/>
                </a:lnTo>
                <a:lnTo>
                  <a:pt x="4446550" y="1680538"/>
                </a:lnTo>
                <a:lnTo>
                  <a:pt x="4365375" y="1697935"/>
                </a:lnTo>
                <a:lnTo>
                  <a:pt x="4305123" y="1714185"/>
                </a:lnTo>
                <a:lnTo>
                  <a:pt x="4292665" y="1720703"/>
                </a:lnTo>
                <a:lnTo>
                  <a:pt x="4276789" y="1718367"/>
                </a:lnTo>
                <a:cubicBezTo>
                  <a:pt x="4274740" y="1717359"/>
                  <a:pt x="4273021" y="1716157"/>
                  <a:pt x="4271683" y="1714801"/>
                </a:cubicBezTo>
                <a:lnTo>
                  <a:pt x="4223918" y="1728936"/>
                </a:lnTo>
                <a:lnTo>
                  <a:pt x="4218039" y="1729885"/>
                </a:lnTo>
                <a:lnTo>
                  <a:pt x="4177153" y="1733691"/>
                </a:lnTo>
                <a:lnTo>
                  <a:pt x="4051032" y="1728886"/>
                </a:lnTo>
                <a:cubicBezTo>
                  <a:pt x="4055072" y="1717510"/>
                  <a:pt x="4022108" y="1735873"/>
                  <a:pt x="4013978" y="1727679"/>
                </a:cubicBezTo>
                <a:cubicBezTo>
                  <a:pt x="4008905" y="1720660"/>
                  <a:pt x="3997723" y="1724594"/>
                  <a:pt x="3987857" y="1724282"/>
                </a:cubicBezTo>
                <a:cubicBezTo>
                  <a:pt x="3978476" y="1718309"/>
                  <a:pt x="3931683" y="1723723"/>
                  <a:pt x="3916852" y="1729184"/>
                </a:cubicBezTo>
                <a:cubicBezTo>
                  <a:pt x="3876910" y="1749138"/>
                  <a:pt x="3829523" y="1727824"/>
                  <a:pt x="3797263" y="1742976"/>
                </a:cubicBezTo>
                <a:cubicBezTo>
                  <a:pt x="3769922" y="1744951"/>
                  <a:pt x="3760682" y="1742230"/>
                  <a:pt x="3752806" y="1741033"/>
                </a:cubicBezTo>
                <a:lnTo>
                  <a:pt x="3749997" y="1735799"/>
                </a:lnTo>
                <a:lnTo>
                  <a:pt x="3736582" y="1735907"/>
                </a:lnTo>
                <a:lnTo>
                  <a:pt x="3733428" y="1734881"/>
                </a:lnTo>
                <a:cubicBezTo>
                  <a:pt x="3727408" y="1732899"/>
                  <a:pt x="3721365" y="1731108"/>
                  <a:pt x="3714911" y="1730056"/>
                </a:cubicBezTo>
                <a:cubicBezTo>
                  <a:pt x="3708355" y="1754554"/>
                  <a:pt x="3658933" y="1725152"/>
                  <a:pt x="3665172" y="1745936"/>
                </a:cubicBezTo>
                <a:cubicBezTo>
                  <a:pt x="3628569" y="1744420"/>
                  <a:pt x="3583742" y="1775884"/>
                  <a:pt x="3552006" y="1755220"/>
                </a:cubicBezTo>
                <a:cubicBezTo>
                  <a:pt x="3497522" y="1758390"/>
                  <a:pt x="3448310" y="1757433"/>
                  <a:pt x="3390301" y="1762546"/>
                </a:cubicBezTo>
                <a:cubicBezTo>
                  <a:pt x="3345266" y="1774524"/>
                  <a:pt x="3297039" y="1758531"/>
                  <a:pt x="3264312" y="1774620"/>
                </a:cubicBezTo>
                <a:cubicBezTo>
                  <a:pt x="3212634" y="1771139"/>
                  <a:pt x="3147905" y="1780248"/>
                  <a:pt x="3106901" y="1804264"/>
                </a:cubicBezTo>
                <a:cubicBezTo>
                  <a:pt x="3051355" y="1805490"/>
                  <a:pt x="3041708" y="1820368"/>
                  <a:pt x="2993303" y="1806542"/>
                </a:cubicBezTo>
                <a:cubicBezTo>
                  <a:pt x="2989182" y="1810139"/>
                  <a:pt x="2984377" y="1813039"/>
                  <a:pt x="2979115" y="1815432"/>
                </a:cubicBezTo>
                <a:lnTo>
                  <a:pt x="2963118" y="1820962"/>
                </a:lnTo>
                <a:lnTo>
                  <a:pt x="2961156" y="1820297"/>
                </a:lnTo>
                <a:lnTo>
                  <a:pt x="2925719" y="1828468"/>
                </a:lnTo>
                <a:lnTo>
                  <a:pt x="2857951" y="1842496"/>
                </a:lnTo>
                <a:lnTo>
                  <a:pt x="2857427" y="1841591"/>
                </a:lnTo>
                <a:cubicBezTo>
                  <a:pt x="2855386" y="1839734"/>
                  <a:pt x="2852250" y="1838690"/>
                  <a:pt x="2846731" y="1839316"/>
                </a:cubicBezTo>
                <a:cubicBezTo>
                  <a:pt x="2855175" y="1823564"/>
                  <a:pt x="2843311" y="1834035"/>
                  <a:pt x="2826290" y="1837274"/>
                </a:cubicBezTo>
                <a:cubicBezTo>
                  <a:pt x="2835609" y="1813530"/>
                  <a:pt x="2787284" y="1831665"/>
                  <a:pt x="2779146" y="1820071"/>
                </a:cubicBezTo>
                <a:cubicBezTo>
                  <a:pt x="2766432" y="1822985"/>
                  <a:pt x="2753158" y="1825635"/>
                  <a:pt x="2739608" y="1827861"/>
                </a:cubicBezTo>
                <a:lnTo>
                  <a:pt x="2731631" y="1828881"/>
                </a:lnTo>
                <a:cubicBezTo>
                  <a:pt x="2731575" y="1828813"/>
                  <a:pt x="2731521" y="1828744"/>
                  <a:pt x="2731464" y="1828677"/>
                </a:cubicBezTo>
                <a:cubicBezTo>
                  <a:pt x="2729715" y="1828415"/>
                  <a:pt x="2727085" y="1828569"/>
                  <a:pt x="2723037" y="1829303"/>
                </a:cubicBezTo>
                <a:lnTo>
                  <a:pt x="2701616" y="1832725"/>
                </a:lnTo>
                <a:lnTo>
                  <a:pt x="2696239" y="1831904"/>
                </a:lnTo>
                <a:lnTo>
                  <a:pt x="2663445" y="1825958"/>
                </a:lnTo>
                <a:cubicBezTo>
                  <a:pt x="2641260" y="1825904"/>
                  <a:pt x="2595040" y="1827674"/>
                  <a:pt x="2560925" y="1829094"/>
                </a:cubicBezTo>
                <a:cubicBezTo>
                  <a:pt x="2527977" y="1836499"/>
                  <a:pt x="2496507" y="1831991"/>
                  <a:pt x="2458739" y="1834479"/>
                </a:cubicBezTo>
                <a:cubicBezTo>
                  <a:pt x="2419379" y="1848893"/>
                  <a:pt x="2396428" y="1834257"/>
                  <a:pt x="2356074" y="1836991"/>
                </a:cubicBezTo>
                <a:cubicBezTo>
                  <a:pt x="2323435" y="1857644"/>
                  <a:pt x="2325610" y="1826053"/>
                  <a:pt x="2304241" y="1822021"/>
                </a:cubicBezTo>
                <a:lnTo>
                  <a:pt x="2298362" y="1822125"/>
                </a:lnTo>
                <a:lnTo>
                  <a:pt x="2283527" y="1826361"/>
                </a:lnTo>
                <a:lnTo>
                  <a:pt x="2278150" y="1828604"/>
                </a:lnTo>
                <a:cubicBezTo>
                  <a:pt x="2274371" y="1829907"/>
                  <a:pt x="2271762" y="1830461"/>
                  <a:pt x="2269853" y="1830502"/>
                </a:cubicBezTo>
                <a:lnTo>
                  <a:pt x="2269585" y="1830341"/>
                </a:lnTo>
                <a:lnTo>
                  <a:pt x="2225332" y="1845825"/>
                </a:lnTo>
                <a:cubicBezTo>
                  <a:pt x="2211505" y="1836594"/>
                  <a:pt x="2170867" y="1860661"/>
                  <a:pt x="2169048" y="1837658"/>
                </a:cubicBezTo>
                <a:cubicBezTo>
                  <a:pt x="2153238" y="1843278"/>
                  <a:pt x="2146132" y="1854645"/>
                  <a:pt x="2147231" y="1839027"/>
                </a:cubicBezTo>
                <a:cubicBezTo>
                  <a:pt x="2141901" y="1840465"/>
                  <a:pt x="2138205" y="1840014"/>
                  <a:pt x="2135241" y="1838652"/>
                </a:cubicBezTo>
                <a:lnTo>
                  <a:pt x="2099215" y="1850768"/>
                </a:lnTo>
                <a:lnTo>
                  <a:pt x="2094046" y="1850806"/>
                </a:lnTo>
                <a:lnTo>
                  <a:pt x="2071850" y="1861319"/>
                </a:lnTo>
                <a:lnTo>
                  <a:pt x="2039607" y="1874318"/>
                </a:lnTo>
                <a:lnTo>
                  <a:pt x="2037289" y="1874025"/>
                </a:lnTo>
                <a:lnTo>
                  <a:pt x="2023615" y="1881562"/>
                </a:lnTo>
                <a:cubicBezTo>
                  <a:pt x="2019390" y="1884562"/>
                  <a:pt x="1959668" y="1894795"/>
                  <a:pt x="1957176" y="1898709"/>
                </a:cubicBezTo>
                <a:cubicBezTo>
                  <a:pt x="1901224" y="1893805"/>
                  <a:pt x="1914145" y="1913274"/>
                  <a:pt x="1858081" y="1923144"/>
                </a:cubicBezTo>
                <a:cubicBezTo>
                  <a:pt x="1819487" y="1923227"/>
                  <a:pt x="1798952" y="1929741"/>
                  <a:pt x="1738865" y="1944965"/>
                </a:cubicBezTo>
                <a:cubicBezTo>
                  <a:pt x="1698633" y="1955957"/>
                  <a:pt x="1670491" y="1978862"/>
                  <a:pt x="1616692" y="1989107"/>
                </a:cubicBezTo>
                <a:cubicBezTo>
                  <a:pt x="1565257" y="2022368"/>
                  <a:pt x="1474172" y="2022156"/>
                  <a:pt x="1411898" y="2046254"/>
                </a:cubicBezTo>
                <a:cubicBezTo>
                  <a:pt x="1380237" y="2035952"/>
                  <a:pt x="1386648" y="2042292"/>
                  <a:pt x="1375780" y="2047961"/>
                </a:cubicBezTo>
                <a:cubicBezTo>
                  <a:pt x="1375756" y="2047968"/>
                  <a:pt x="1375731" y="2047974"/>
                  <a:pt x="1375707" y="2047981"/>
                </a:cubicBezTo>
                <a:lnTo>
                  <a:pt x="1285585" y="2047113"/>
                </a:lnTo>
                <a:cubicBezTo>
                  <a:pt x="1279541" y="2043453"/>
                  <a:pt x="1272537" y="2040974"/>
                  <a:pt x="1263658" y="2041397"/>
                </a:cubicBezTo>
                <a:cubicBezTo>
                  <a:pt x="1212454" y="2058890"/>
                  <a:pt x="1258499" y="2026611"/>
                  <a:pt x="1170403" y="2033399"/>
                </a:cubicBezTo>
                <a:cubicBezTo>
                  <a:pt x="1166530" y="2036274"/>
                  <a:pt x="1154254" y="2033463"/>
                  <a:pt x="1153718" y="2029576"/>
                </a:cubicBezTo>
                <a:cubicBezTo>
                  <a:pt x="1148486" y="2030819"/>
                  <a:pt x="1137980" y="2038354"/>
                  <a:pt x="1133937" y="2032149"/>
                </a:cubicBezTo>
                <a:cubicBezTo>
                  <a:pt x="1104720" y="2031606"/>
                  <a:pt x="1077532" y="2035424"/>
                  <a:pt x="1054999" y="2043242"/>
                </a:cubicBezTo>
                <a:cubicBezTo>
                  <a:pt x="1024875" y="2038090"/>
                  <a:pt x="1020473" y="2042711"/>
                  <a:pt x="1018405" y="2048281"/>
                </a:cubicBezTo>
                <a:lnTo>
                  <a:pt x="1016563" y="2051718"/>
                </a:lnTo>
                <a:lnTo>
                  <a:pt x="1008284" y="2046742"/>
                </a:lnTo>
                <a:cubicBezTo>
                  <a:pt x="999244" y="2043620"/>
                  <a:pt x="990505" y="2044937"/>
                  <a:pt x="981974" y="2048363"/>
                </a:cubicBezTo>
                <a:lnTo>
                  <a:pt x="971903" y="2053484"/>
                </a:lnTo>
                <a:lnTo>
                  <a:pt x="954015" y="2052529"/>
                </a:lnTo>
                <a:cubicBezTo>
                  <a:pt x="931960" y="2051365"/>
                  <a:pt x="861352" y="2046214"/>
                  <a:pt x="839571" y="2046509"/>
                </a:cubicBezTo>
                <a:lnTo>
                  <a:pt x="823321" y="2054296"/>
                </a:lnTo>
                <a:lnTo>
                  <a:pt x="800990" y="2051523"/>
                </a:lnTo>
                <a:cubicBezTo>
                  <a:pt x="790723" y="2052171"/>
                  <a:pt x="782268" y="2055403"/>
                  <a:pt x="776439" y="2062634"/>
                </a:cubicBezTo>
                <a:cubicBezTo>
                  <a:pt x="773155" y="2056184"/>
                  <a:pt x="769593" y="2059253"/>
                  <a:pt x="763041" y="2063995"/>
                </a:cubicBezTo>
                <a:lnTo>
                  <a:pt x="757863" y="2065877"/>
                </a:lnTo>
                <a:lnTo>
                  <a:pt x="745053" y="2051831"/>
                </a:lnTo>
                <a:lnTo>
                  <a:pt x="722609" y="2049504"/>
                </a:lnTo>
                <a:lnTo>
                  <a:pt x="717618" y="2042131"/>
                </a:lnTo>
                <a:lnTo>
                  <a:pt x="703285" y="2046808"/>
                </a:lnTo>
                <a:cubicBezTo>
                  <a:pt x="698219" y="2048137"/>
                  <a:pt x="690058" y="2049926"/>
                  <a:pt x="680199" y="2051947"/>
                </a:cubicBezTo>
                <a:lnTo>
                  <a:pt x="667351" y="2054469"/>
                </a:lnTo>
                <a:lnTo>
                  <a:pt x="660961" y="2049404"/>
                </a:lnTo>
                <a:lnTo>
                  <a:pt x="638282" y="2060093"/>
                </a:lnTo>
                <a:lnTo>
                  <a:pt x="583551" y="2070197"/>
                </a:lnTo>
                <a:cubicBezTo>
                  <a:pt x="569268" y="2091365"/>
                  <a:pt x="529124" y="2053106"/>
                  <a:pt x="525274" y="2079137"/>
                </a:cubicBezTo>
                <a:cubicBezTo>
                  <a:pt x="506495" y="2056498"/>
                  <a:pt x="440091" y="2069666"/>
                  <a:pt x="405635" y="2059339"/>
                </a:cubicBezTo>
                <a:cubicBezTo>
                  <a:pt x="397410" y="2069278"/>
                  <a:pt x="294416" y="2032966"/>
                  <a:pt x="281555" y="2022847"/>
                </a:cubicBezTo>
                <a:cubicBezTo>
                  <a:pt x="171589" y="1986245"/>
                  <a:pt x="126791" y="1985528"/>
                  <a:pt x="98513" y="1969504"/>
                </a:cubicBezTo>
                <a:cubicBezTo>
                  <a:pt x="85544" y="1965247"/>
                  <a:pt x="73324" y="1958000"/>
                  <a:pt x="56191" y="1950709"/>
                </a:cubicBezTo>
                <a:lnTo>
                  <a:pt x="0" y="1935789"/>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p:cNvSpPr>
            <a:spLocks noGrp="1"/>
          </p:cNvSpPr>
          <p:nvPr>
            <p:ph type="title"/>
          </p:nvPr>
        </p:nvSpPr>
        <p:spPr>
          <a:xfrm>
            <a:off x="852777" y="548640"/>
            <a:ext cx="7157553" cy="1188720"/>
          </a:xfrm>
        </p:spPr>
        <p:txBody>
          <a:bodyPr>
            <a:normAutofit/>
          </a:bodyPr>
          <a:lstStyle/>
          <a:p>
            <a:r>
              <a:rPr lang="en-US" b="1" dirty="0">
                <a:solidFill>
                  <a:schemeClr val="tx1">
                    <a:lumMod val="85000"/>
                    <a:lumOff val="15000"/>
                  </a:schemeClr>
                </a:solidFill>
              </a:rPr>
              <a:t>Agenda</a:t>
            </a:r>
          </a:p>
        </p:txBody>
      </p:sp>
      <p:sp>
        <p:nvSpPr>
          <p:cNvPr id="3" name="Content Placeholder 2"/>
          <p:cNvSpPr>
            <a:spLocks noGrp="1"/>
          </p:cNvSpPr>
          <p:nvPr>
            <p:ph idx="1"/>
          </p:nvPr>
        </p:nvSpPr>
        <p:spPr>
          <a:xfrm>
            <a:off x="1468490" y="2431765"/>
            <a:ext cx="6207019" cy="3320031"/>
          </a:xfrm>
        </p:spPr>
        <p:txBody>
          <a:bodyPr anchor="ctr">
            <a:normAutofit/>
          </a:bodyPr>
          <a:lstStyle/>
          <a:p>
            <a:pPr>
              <a:defRPr sz="2000"/>
            </a:pPr>
            <a:r>
              <a:rPr lang="en-US" sz="1700" dirty="0">
                <a:solidFill>
                  <a:schemeClr val="tx1">
                    <a:lumMod val="85000"/>
                    <a:lumOff val="15000"/>
                  </a:schemeClr>
                </a:solidFill>
              </a:rPr>
              <a:t>Context &amp; Dataset</a:t>
            </a:r>
          </a:p>
          <a:p>
            <a:pPr>
              <a:defRPr sz="2000"/>
            </a:pPr>
            <a:r>
              <a:rPr lang="en-US" sz="1700" dirty="0">
                <a:solidFill>
                  <a:schemeClr val="tx1">
                    <a:lumMod val="85000"/>
                    <a:lumOff val="15000"/>
                  </a:schemeClr>
                </a:solidFill>
              </a:rPr>
              <a:t>Key Concepts &amp; Definitions</a:t>
            </a:r>
          </a:p>
          <a:p>
            <a:pPr>
              <a:defRPr sz="2000"/>
            </a:pPr>
            <a:r>
              <a:rPr lang="en-US" sz="1700" dirty="0">
                <a:solidFill>
                  <a:schemeClr val="tx1">
                    <a:lumMod val="85000"/>
                    <a:lumOff val="15000"/>
                  </a:schemeClr>
                </a:solidFill>
              </a:rPr>
              <a:t>Executive Summary</a:t>
            </a:r>
          </a:p>
          <a:p>
            <a:pPr>
              <a:defRPr sz="2000"/>
            </a:pPr>
            <a:r>
              <a:rPr lang="en-US" sz="1700" dirty="0">
                <a:solidFill>
                  <a:schemeClr val="tx1">
                    <a:lumMod val="85000"/>
                    <a:lumOff val="15000"/>
                  </a:schemeClr>
                </a:solidFill>
              </a:rPr>
              <a:t>Q1 – Resolution Window</a:t>
            </a:r>
          </a:p>
          <a:p>
            <a:pPr>
              <a:defRPr sz="2000"/>
            </a:pPr>
            <a:r>
              <a:rPr lang="en-US" sz="1700" dirty="0">
                <a:solidFill>
                  <a:schemeClr val="tx1">
                    <a:lumMod val="85000"/>
                    <a:lumOff val="15000"/>
                  </a:schemeClr>
                </a:solidFill>
              </a:rPr>
              <a:t>Q2 – Channel Performance by Country</a:t>
            </a:r>
          </a:p>
          <a:p>
            <a:pPr>
              <a:defRPr sz="2000"/>
            </a:pPr>
            <a:r>
              <a:rPr lang="en-US" sz="1700" dirty="0">
                <a:solidFill>
                  <a:schemeClr val="tx1">
                    <a:lumMod val="85000"/>
                    <a:lumOff val="15000"/>
                  </a:schemeClr>
                </a:solidFill>
              </a:rPr>
              <a:t>Q3 – Agent Company Performance</a:t>
            </a:r>
          </a:p>
          <a:p>
            <a:pPr>
              <a:defRPr sz="2000"/>
            </a:pPr>
            <a:r>
              <a:rPr lang="en-US" sz="1700" dirty="0">
                <a:solidFill>
                  <a:schemeClr val="tx1">
                    <a:lumMod val="85000"/>
                    <a:lumOff val="15000"/>
                  </a:schemeClr>
                </a:solidFill>
              </a:rPr>
              <a:t>Q4 – Merchant Repeat Contacts &amp; Products</a:t>
            </a:r>
          </a:p>
          <a:p>
            <a:pPr>
              <a:defRPr sz="2000"/>
            </a:pPr>
            <a:r>
              <a:rPr lang="en-US" sz="1700" dirty="0">
                <a:solidFill>
                  <a:schemeClr val="tx1">
                    <a:lumMod val="85000"/>
                    <a:lumOff val="15000"/>
                  </a:schemeClr>
                </a:solidFill>
              </a:rPr>
              <a:t>Q5 – Cost per Channel (Methodology &amp; Insights)</a:t>
            </a:r>
          </a:p>
        </p:txBody>
      </p:sp>
      <p:sp>
        <p:nvSpPr>
          <p:cNvPr id="21" name="Freeform: Shape 20">
            <a:extLst>
              <a:ext uri="{FF2B5EF4-FFF2-40B4-BE49-F238E27FC236}">
                <a16:creationId xmlns:a16="http://schemas.microsoft.com/office/drawing/2014/main" id="{142DCE2C-2863-46FA-9BE7-24365A24D9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668439" y="5970896"/>
            <a:ext cx="7475562" cy="887104"/>
          </a:xfrm>
          <a:custGeom>
            <a:avLst/>
            <a:gdLst>
              <a:gd name="connsiteX0" fmla="*/ 4686423 w 9517857"/>
              <a:gd name="connsiteY0" fmla="*/ 247919 h 918356"/>
              <a:gd name="connsiteX1" fmla="*/ 4689051 w 9517857"/>
              <a:gd name="connsiteY1" fmla="*/ 250968 h 918356"/>
              <a:gd name="connsiteX2" fmla="*/ 4687244 w 9517857"/>
              <a:gd name="connsiteY2" fmla="*/ 251298 h 918356"/>
              <a:gd name="connsiteX3" fmla="*/ 4685225 w 9517857"/>
              <a:gd name="connsiteY3" fmla="*/ 246530 h 918356"/>
              <a:gd name="connsiteX4" fmla="*/ 4686133 w 9517857"/>
              <a:gd name="connsiteY4" fmla="*/ 246727 h 918356"/>
              <a:gd name="connsiteX5" fmla="*/ 4686423 w 9517857"/>
              <a:gd name="connsiteY5" fmla="*/ 247919 h 918356"/>
              <a:gd name="connsiteX6" fmla="*/ 9517856 w 9517857"/>
              <a:gd name="connsiteY6" fmla="*/ 0 h 918356"/>
              <a:gd name="connsiteX7" fmla="*/ 9517857 w 9517857"/>
              <a:gd name="connsiteY7" fmla="*/ 12 h 918356"/>
              <a:gd name="connsiteX8" fmla="*/ 9517857 w 9517857"/>
              <a:gd name="connsiteY8" fmla="*/ 918356 h 918356"/>
              <a:gd name="connsiteX9" fmla="*/ 14604 w 9517857"/>
              <a:gd name="connsiteY9" fmla="*/ 918356 h 918356"/>
              <a:gd name="connsiteX10" fmla="*/ 12841 w 9517857"/>
              <a:gd name="connsiteY10" fmla="*/ 917763 h 918356"/>
              <a:gd name="connsiteX11" fmla="*/ 93 w 9517857"/>
              <a:gd name="connsiteY11" fmla="*/ 912471 h 918356"/>
              <a:gd name="connsiteX12" fmla="*/ 58674 w 9517857"/>
              <a:gd name="connsiteY12" fmla="*/ 890322 h 918356"/>
              <a:gd name="connsiteX13" fmla="*/ 275005 w 9517857"/>
              <a:gd name="connsiteY13" fmla="*/ 807229 h 918356"/>
              <a:gd name="connsiteX14" fmla="*/ 587824 w 9517857"/>
              <a:gd name="connsiteY14" fmla="*/ 798195 h 918356"/>
              <a:gd name="connsiteX15" fmla="*/ 651826 w 9517857"/>
              <a:gd name="connsiteY15" fmla="*/ 738338 h 918356"/>
              <a:gd name="connsiteX16" fmla="*/ 727985 w 9517857"/>
              <a:gd name="connsiteY16" fmla="*/ 719826 h 918356"/>
              <a:gd name="connsiteX17" fmla="*/ 778982 w 9517857"/>
              <a:gd name="connsiteY17" fmla="*/ 710142 h 918356"/>
              <a:gd name="connsiteX18" fmla="*/ 849944 w 9517857"/>
              <a:gd name="connsiteY18" fmla="*/ 717987 h 918356"/>
              <a:gd name="connsiteX19" fmla="*/ 921659 w 9517857"/>
              <a:gd name="connsiteY19" fmla="*/ 712695 h 918356"/>
              <a:gd name="connsiteX20" fmla="*/ 930946 w 9517857"/>
              <a:gd name="connsiteY20" fmla="*/ 734046 h 918356"/>
              <a:gd name="connsiteX21" fmla="*/ 986250 w 9517857"/>
              <a:gd name="connsiteY21" fmla="*/ 713530 h 918356"/>
              <a:gd name="connsiteX22" fmla="*/ 1013752 w 9517857"/>
              <a:gd name="connsiteY22" fmla="*/ 713361 h 918356"/>
              <a:gd name="connsiteX23" fmla="*/ 1023734 w 9517857"/>
              <a:gd name="connsiteY23" fmla="*/ 718571 h 918356"/>
              <a:gd name="connsiteX24" fmla="*/ 1063207 w 9517857"/>
              <a:gd name="connsiteY24" fmla="*/ 715651 h 918356"/>
              <a:gd name="connsiteX25" fmla="*/ 1081980 w 9517857"/>
              <a:gd name="connsiteY25" fmla="*/ 738455 h 918356"/>
              <a:gd name="connsiteX26" fmla="*/ 1218120 w 9517857"/>
              <a:gd name="connsiteY26" fmla="*/ 713280 h 918356"/>
              <a:gd name="connsiteX27" fmla="*/ 1397459 w 9517857"/>
              <a:gd name="connsiteY27" fmla="*/ 691190 h 918356"/>
              <a:gd name="connsiteX28" fmla="*/ 1580688 w 9517857"/>
              <a:gd name="connsiteY28" fmla="*/ 693697 h 918356"/>
              <a:gd name="connsiteX29" fmla="*/ 1772334 w 9517857"/>
              <a:gd name="connsiteY29" fmla="*/ 710640 h 918356"/>
              <a:gd name="connsiteX30" fmla="*/ 2002561 w 9517857"/>
              <a:gd name="connsiteY30" fmla="*/ 659917 h 918356"/>
              <a:gd name="connsiteX31" fmla="*/ 2135144 w 9517857"/>
              <a:gd name="connsiteY31" fmla="*/ 636501 h 918356"/>
              <a:gd name="connsiteX32" fmla="*/ 2440292 w 9517857"/>
              <a:gd name="connsiteY32" fmla="*/ 593862 h 918356"/>
              <a:gd name="connsiteX33" fmla="*/ 2547829 w 9517857"/>
              <a:gd name="connsiteY33" fmla="*/ 566150 h 918356"/>
              <a:gd name="connsiteX34" fmla="*/ 2658055 w 9517857"/>
              <a:gd name="connsiteY34" fmla="*/ 578727 h 918356"/>
              <a:gd name="connsiteX35" fmla="*/ 2693698 w 9517857"/>
              <a:gd name="connsiteY35" fmla="*/ 560029 h 918356"/>
              <a:gd name="connsiteX36" fmla="*/ 2699673 w 9517857"/>
              <a:gd name="connsiteY36" fmla="*/ 556400 h 918356"/>
              <a:gd name="connsiteX37" fmla="*/ 2727306 w 9517857"/>
              <a:gd name="connsiteY37" fmla="*/ 550698 h 918356"/>
              <a:gd name="connsiteX38" fmla="*/ 2730451 w 9517857"/>
              <a:gd name="connsiteY38" fmla="*/ 538058 h 918356"/>
              <a:gd name="connsiteX39" fmla="*/ 2768713 w 9517857"/>
              <a:gd name="connsiteY39" fmla="*/ 521575 h 918356"/>
              <a:gd name="connsiteX40" fmla="*/ 2820868 w 9517857"/>
              <a:gd name="connsiteY40" fmla="*/ 514160 h 918356"/>
              <a:gd name="connsiteX41" fmla="*/ 3073635 w 9517857"/>
              <a:gd name="connsiteY41" fmla="*/ 491294 h 918356"/>
              <a:gd name="connsiteX42" fmla="*/ 3222071 w 9517857"/>
              <a:gd name="connsiteY42" fmla="*/ 470559 h 918356"/>
              <a:gd name="connsiteX43" fmla="*/ 3274069 w 9517857"/>
              <a:gd name="connsiteY43" fmla="*/ 451605 h 918356"/>
              <a:gd name="connsiteX44" fmla="*/ 3349632 w 9517857"/>
              <a:gd name="connsiteY44" fmla="*/ 432583 h 918356"/>
              <a:gd name="connsiteX45" fmla="*/ 3479593 w 9517857"/>
              <a:gd name="connsiteY45" fmla="*/ 390437 h 918356"/>
              <a:gd name="connsiteX46" fmla="*/ 3660110 w 9517857"/>
              <a:gd name="connsiteY46" fmla="*/ 348726 h 918356"/>
              <a:gd name="connsiteX47" fmla="*/ 3750023 w 9517857"/>
              <a:gd name="connsiteY47" fmla="*/ 370678 h 918356"/>
              <a:gd name="connsiteX48" fmla="*/ 3844133 w 9517857"/>
              <a:gd name="connsiteY48" fmla="*/ 360648 h 918356"/>
              <a:gd name="connsiteX49" fmla="*/ 3913545 w 9517857"/>
              <a:gd name="connsiteY49" fmla="*/ 344235 h 918356"/>
              <a:gd name="connsiteX50" fmla="*/ 4266740 w 9517857"/>
              <a:gd name="connsiteY50" fmla="*/ 361454 h 918356"/>
              <a:gd name="connsiteX51" fmla="*/ 4430770 w 9517857"/>
              <a:gd name="connsiteY51" fmla="*/ 342643 h 918356"/>
              <a:gd name="connsiteX52" fmla="*/ 4512664 w 9517857"/>
              <a:gd name="connsiteY52" fmla="*/ 319948 h 918356"/>
              <a:gd name="connsiteX53" fmla="*/ 4616423 w 9517857"/>
              <a:gd name="connsiteY53" fmla="*/ 290914 h 918356"/>
              <a:gd name="connsiteX54" fmla="*/ 4691675 w 9517857"/>
              <a:gd name="connsiteY54" fmla="*/ 254011 h 918356"/>
              <a:gd name="connsiteX55" fmla="*/ 4689051 w 9517857"/>
              <a:gd name="connsiteY55" fmla="*/ 250968 h 918356"/>
              <a:gd name="connsiteX56" fmla="*/ 4719994 w 9517857"/>
              <a:gd name="connsiteY56" fmla="*/ 245307 h 918356"/>
              <a:gd name="connsiteX57" fmla="*/ 4752894 w 9517857"/>
              <a:gd name="connsiteY57" fmla="*/ 239875 h 918356"/>
              <a:gd name="connsiteX58" fmla="*/ 4769329 w 9517857"/>
              <a:gd name="connsiteY58" fmla="*/ 233585 h 918356"/>
              <a:gd name="connsiteX59" fmla="*/ 4775634 w 9517857"/>
              <a:gd name="connsiteY59" fmla="*/ 234063 h 918356"/>
              <a:gd name="connsiteX60" fmla="*/ 4790452 w 9517857"/>
              <a:gd name="connsiteY60" fmla="*/ 233572 h 918356"/>
              <a:gd name="connsiteX61" fmla="*/ 4789062 w 9517857"/>
              <a:gd name="connsiteY61" fmla="*/ 241924 h 918356"/>
              <a:gd name="connsiteX62" fmla="*/ 4827826 w 9517857"/>
              <a:gd name="connsiteY62" fmla="*/ 246977 h 918356"/>
              <a:gd name="connsiteX63" fmla="*/ 4892569 w 9517857"/>
              <a:gd name="connsiteY63" fmla="*/ 249933 h 918356"/>
              <a:gd name="connsiteX64" fmla="*/ 4896611 w 9517857"/>
              <a:gd name="connsiteY64" fmla="*/ 240448 h 918356"/>
              <a:gd name="connsiteX65" fmla="*/ 4917286 w 9517857"/>
              <a:gd name="connsiteY65" fmla="*/ 243659 h 918356"/>
              <a:gd name="connsiteX66" fmla="*/ 4981173 w 9517857"/>
              <a:gd name="connsiteY66" fmla="*/ 247103 h 918356"/>
              <a:gd name="connsiteX67" fmla="*/ 5060397 w 9517857"/>
              <a:gd name="connsiteY67" fmla="*/ 263688 h 918356"/>
              <a:gd name="connsiteX68" fmla="*/ 5252996 w 9517857"/>
              <a:gd name="connsiteY68" fmla="*/ 270655 h 918356"/>
              <a:gd name="connsiteX69" fmla="*/ 5358056 w 9517857"/>
              <a:gd name="connsiteY69" fmla="*/ 247248 h 918356"/>
              <a:gd name="connsiteX70" fmla="*/ 5426496 w 9517857"/>
              <a:gd name="connsiteY70" fmla="*/ 235142 h 918356"/>
              <a:gd name="connsiteX71" fmla="*/ 5497161 w 9517857"/>
              <a:gd name="connsiteY71" fmla="*/ 228808 h 918356"/>
              <a:gd name="connsiteX72" fmla="*/ 5826043 w 9517857"/>
              <a:gd name="connsiteY72" fmla="*/ 148073 h 918356"/>
              <a:gd name="connsiteX73" fmla="*/ 6013415 w 9517857"/>
              <a:gd name="connsiteY73" fmla="*/ 137316 h 918356"/>
              <a:gd name="connsiteX74" fmla="*/ 6080994 w 9517857"/>
              <a:gd name="connsiteY74" fmla="*/ 142938 h 918356"/>
              <a:gd name="connsiteX75" fmla="*/ 6194152 w 9517857"/>
              <a:gd name="connsiteY75" fmla="*/ 151772 h 918356"/>
              <a:gd name="connsiteX76" fmla="*/ 6281379 w 9517857"/>
              <a:gd name="connsiteY76" fmla="*/ 181626 h 918356"/>
              <a:gd name="connsiteX77" fmla="*/ 6374947 w 9517857"/>
              <a:gd name="connsiteY77" fmla="*/ 179799 h 918356"/>
              <a:gd name="connsiteX78" fmla="*/ 6448518 w 9517857"/>
              <a:gd name="connsiteY78" fmla="*/ 164378 h 918356"/>
              <a:gd name="connsiteX79" fmla="*/ 6544700 w 9517857"/>
              <a:gd name="connsiteY79" fmla="*/ 167161 h 918356"/>
              <a:gd name="connsiteX80" fmla="*/ 6648353 w 9517857"/>
              <a:gd name="connsiteY80" fmla="*/ 172250 h 918356"/>
              <a:gd name="connsiteX81" fmla="*/ 6736227 w 9517857"/>
              <a:gd name="connsiteY81" fmla="*/ 173216 h 918356"/>
              <a:gd name="connsiteX82" fmla="*/ 6977218 w 9517857"/>
              <a:gd name="connsiteY82" fmla="*/ 184289 h 918356"/>
              <a:gd name="connsiteX83" fmla="*/ 7065221 w 9517857"/>
              <a:gd name="connsiteY83" fmla="*/ 227531 h 918356"/>
              <a:gd name="connsiteX84" fmla="*/ 7366876 w 9517857"/>
              <a:gd name="connsiteY84" fmla="*/ 248468 h 918356"/>
              <a:gd name="connsiteX85" fmla="*/ 7565449 w 9517857"/>
              <a:gd name="connsiteY85" fmla="*/ 258950 h 918356"/>
              <a:gd name="connsiteX86" fmla="*/ 7599285 w 9517857"/>
              <a:gd name="connsiteY86" fmla="*/ 266021 h 918356"/>
              <a:gd name="connsiteX87" fmla="*/ 7644411 w 9517857"/>
              <a:gd name="connsiteY87" fmla="*/ 258986 h 918356"/>
              <a:gd name="connsiteX88" fmla="*/ 7825110 w 9517857"/>
              <a:gd name="connsiteY88" fmla="*/ 229109 h 918356"/>
              <a:gd name="connsiteX89" fmla="*/ 7965804 w 9517857"/>
              <a:gd name="connsiteY89" fmla="*/ 190545 h 918356"/>
              <a:gd name="connsiteX90" fmla="*/ 8147401 w 9517857"/>
              <a:gd name="connsiteY90" fmla="*/ 205617 h 918356"/>
              <a:gd name="connsiteX91" fmla="*/ 8256033 w 9517857"/>
              <a:gd name="connsiteY91" fmla="*/ 193713 h 918356"/>
              <a:gd name="connsiteX92" fmla="*/ 8410677 w 9517857"/>
              <a:gd name="connsiteY92" fmla="*/ 172167 h 918356"/>
              <a:gd name="connsiteX93" fmla="*/ 8617841 w 9517857"/>
              <a:gd name="connsiteY93" fmla="*/ 155167 h 918356"/>
              <a:gd name="connsiteX94" fmla="*/ 8715976 w 9517857"/>
              <a:gd name="connsiteY94" fmla="*/ 178374 h 918356"/>
              <a:gd name="connsiteX95" fmla="*/ 8778827 w 9517857"/>
              <a:gd name="connsiteY95" fmla="*/ 172936 h 918356"/>
              <a:gd name="connsiteX96" fmla="*/ 8840778 w 9517857"/>
              <a:gd name="connsiteY96" fmla="*/ 143149 h 918356"/>
              <a:gd name="connsiteX97" fmla="*/ 9010380 w 9517857"/>
              <a:gd name="connsiteY97" fmla="*/ 91891 h 918356"/>
              <a:gd name="connsiteX98" fmla="*/ 9110856 w 9517857"/>
              <a:gd name="connsiteY98" fmla="*/ 70997 h 918356"/>
              <a:gd name="connsiteX99" fmla="*/ 9268817 w 9517857"/>
              <a:gd name="connsiteY99" fmla="*/ 53082 h 918356"/>
              <a:gd name="connsiteX100" fmla="*/ 9316667 w 9517857"/>
              <a:gd name="connsiteY100" fmla="*/ 45047 h 918356"/>
              <a:gd name="connsiteX101" fmla="*/ 9428209 w 9517857"/>
              <a:gd name="connsiteY101" fmla="*/ 29923 h 918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9517857" h="918356">
                <a:moveTo>
                  <a:pt x="4686423" y="247919"/>
                </a:moveTo>
                <a:lnTo>
                  <a:pt x="4689051" y="250968"/>
                </a:lnTo>
                <a:lnTo>
                  <a:pt x="4687244" y="251298"/>
                </a:lnTo>
                <a:close/>
                <a:moveTo>
                  <a:pt x="4685225" y="246530"/>
                </a:moveTo>
                <a:cubicBezTo>
                  <a:pt x="4688837" y="243198"/>
                  <a:pt x="4687468" y="244598"/>
                  <a:pt x="4686133" y="246727"/>
                </a:cubicBezTo>
                <a:lnTo>
                  <a:pt x="4686423" y="247919"/>
                </a:lnTo>
                <a:close/>
                <a:moveTo>
                  <a:pt x="9517856" y="0"/>
                </a:moveTo>
                <a:lnTo>
                  <a:pt x="9517857" y="12"/>
                </a:lnTo>
                <a:lnTo>
                  <a:pt x="9517857" y="918356"/>
                </a:lnTo>
                <a:lnTo>
                  <a:pt x="14604" y="918356"/>
                </a:lnTo>
                <a:lnTo>
                  <a:pt x="12841" y="917763"/>
                </a:lnTo>
                <a:cubicBezTo>
                  <a:pt x="4532" y="914864"/>
                  <a:pt x="-773" y="912807"/>
                  <a:pt x="93" y="912471"/>
                </a:cubicBezTo>
                <a:cubicBezTo>
                  <a:pt x="172" y="912298"/>
                  <a:pt x="58594" y="890495"/>
                  <a:pt x="58674" y="890322"/>
                </a:cubicBezTo>
                <a:cubicBezTo>
                  <a:pt x="127436" y="929614"/>
                  <a:pt x="206243" y="828226"/>
                  <a:pt x="275005" y="807229"/>
                </a:cubicBezTo>
                <a:cubicBezTo>
                  <a:pt x="303983" y="806087"/>
                  <a:pt x="504960" y="777375"/>
                  <a:pt x="587824" y="798195"/>
                </a:cubicBezTo>
                <a:cubicBezTo>
                  <a:pt x="598733" y="769348"/>
                  <a:pt x="682904" y="785924"/>
                  <a:pt x="651826" y="738338"/>
                </a:cubicBezTo>
                <a:cubicBezTo>
                  <a:pt x="688440" y="737862"/>
                  <a:pt x="753255" y="750396"/>
                  <a:pt x="727985" y="719826"/>
                </a:cubicBezTo>
                <a:cubicBezTo>
                  <a:pt x="739648" y="718749"/>
                  <a:pt x="775717" y="715087"/>
                  <a:pt x="778982" y="710142"/>
                </a:cubicBezTo>
                <a:cubicBezTo>
                  <a:pt x="779189" y="709407"/>
                  <a:pt x="849736" y="718721"/>
                  <a:pt x="849944" y="717987"/>
                </a:cubicBezTo>
                <a:lnTo>
                  <a:pt x="921659" y="712695"/>
                </a:lnTo>
                <a:lnTo>
                  <a:pt x="930946" y="734046"/>
                </a:lnTo>
                <a:lnTo>
                  <a:pt x="986250" y="713530"/>
                </a:lnTo>
                <a:lnTo>
                  <a:pt x="1013752" y="713361"/>
                </a:lnTo>
                <a:lnTo>
                  <a:pt x="1023734" y="718571"/>
                </a:lnTo>
                <a:cubicBezTo>
                  <a:pt x="1033291" y="721276"/>
                  <a:pt x="1045398" y="721394"/>
                  <a:pt x="1063207" y="715651"/>
                </a:cubicBezTo>
                <a:lnTo>
                  <a:pt x="1081980" y="738455"/>
                </a:lnTo>
                <a:lnTo>
                  <a:pt x="1218120" y="713280"/>
                </a:lnTo>
                <a:cubicBezTo>
                  <a:pt x="1230137" y="716162"/>
                  <a:pt x="1387179" y="685179"/>
                  <a:pt x="1397459" y="691190"/>
                </a:cubicBezTo>
                <a:cubicBezTo>
                  <a:pt x="1490025" y="704984"/>
                  <a:pt x="1465878" y="715604"/>
                  <a:pt x="1580688" y="693697"/>
                </a:cubicBezTo>
                <a:cubicBezTo>
                  <a:pt x="1607067" y="704379"/>
                  <a:pt x="1719477" y="658239"/>
                  <a:pt x="1772334" y="710640"/>
                </a:cubicBezTo>
                <a:cubicBezTo>
                  <a:pt x="1745536" y="644824"/>
                  <a:pt x="1976078" y="716436"/>
                  <a:pt x="2002561" y="659917"/>
                </a:cubicBezTo>
                <a:cubicBezTo>
                  <a:pt x="2045346" y="660357"/>
                  <a:pt x="2166676" y="654391"/>
                  <a:pt x="2135144" y="636501"/>
                </a:cubicBezTo>
                <a:cubicBezTo>
                  <a:pt x="2276591" y="665055"/>
                  <a:pt x="2293173" y="591792"/>
                  <a:pt x="2440292" y="593862"/>
                </a:cubicBezTo>
                <a:cubicBezTo>
                  <a:pt x="2495160" y="534824"/>
                  <a:pt x="2473343" y="585644"/>
                  <a:pt x="2547829" y="566150"/>
                </a:cubicBezTo>
                <a:cubicBezTo>
                  <a:pt x="2545438" y="614169"/>
                  <a:pt x="2632278" y="528280"/>
                  <a:pt x="2658055" y="578727"/>
                </a:cubicBezTo>
                <a:cubicBezTo>
                  <a:pt x="2670795" y="573581"/>
                  <a:pt x="2682322" y="567005"/>
                  <a:pt x="2693698" y="560029"/>
                </a:cubicBezTo>
                <a:lnTo>
                  <a:pt x="2699673" y="556400"/>
                </a:lnTo>
                <a:lnTo>
                  <a:pt x="2727306" y="550698"/>
                </a:lnTo>
                <a:lnTo>
                  <a:pt x="2730451" y="538058"/>
                </a:lnTo>
                <a:lnTo>
                  <a:pt x="2768713" y="521575"/>
                </a:lnTo>
                <a:cubicBezTo>
                  <a:pt x="2783756" y="517104"/>
                  <a:pt x="2800788" y="514291"/>
                  <a:pt x="2820868" y="514160"/>
                </a:cubicBezTo>
                <a:cubicBezTo>
                  <a:pt x="2894791" y="532885"/>
                  <a:pt x="2981506" y="465507"/>
                  <a:pt x="3073635" y="491294"/>
                </a:cubicBezTo>
                <a:cubicBezTo>
                  <a:pt x="3106872" y="496624"/>
                  <a:pt x="3205785" y="487718"/>
                  <a:pt x="3222071" y="470559"/>
                </a:cubicBezTo>
                <a:cubicBezTo>
                  <a:pt x="3242193" y="465514"/>
                  <a:pt x="3267163" y="469136"/>
                  <a:pt x="3274069" y="451605"/>
                </a:cubicBezTo>
                <a:cubicBezTo>
                  <a:pt x="3286659" y="430165"/>
                  <a:pt x="3363648" y="455571"/>
                  <a:pt x="3349632" y="432583"/>
                </a:cubicBezTo>
                <a:cubicBezTo>
                  <a:pt x="3404182" y="449847"/>
                  <a:pt x="3438210" y="404323"/>
                  <a:pt x="3479593" y="390437"/>
                </a:cubicBezTo>
                <a:cubicBezTo>
                  <a:pt x="3523240" y="408403"/>
                  <a:pt x="3567027" y="361554"/>
                  <a:pt x="3660110" y="348726"/>
                </a:cubicBezTo>
                <a:cubicBezTo>
                  <a:pt x="3708299" y="369683"/>
                  <a:pt x="3662447" y="344775"/>
                  <a:pt x="3750023" y="370678"/>
                </a:cubicBezTo>
                <a:cubicBezTo>
                  <a:pt x="3752092" y="367132"/>
                  <a:pt x="3816880" y="365055"/>
                  <a:pt x="3844133" y="360648"/>
                </a:cubicBezTo>
                <a:cubicBezTo>
                  <a:pt x="3871386" y="356240"/>
                  <a:pt x="3882848" y="332490"/>
                  <a:pt x="3913545" y="344235"/>
                </a:cubicBezTo>
                <a:cubicBezTo>
                  <a:pt x="4050255" y="376864"/>
                  <a:pt x="4159924" y="363190"/>
                  <a:pt x="4266740" y="361454"/>
                </a:cubicBezTo>
                <a:cubicBezTo>
                  <a:pt x="4385770" y="354374"/>
                  <a:pt x="4314535" y="340143"/>
                  <a:pt x="4430770" y="342643"/>
                </a:cubicBezTo>
                <a:cubicBezTo>
                  <a:pt x="4439969" y="322594"/>
                  <a:pt x="4478290" y="314645"/>
                  <a:pt x="4512664" y="319948"/>
                </a:cubicBezTo>
                <a:cubicBezTo>
                  <a:pt x="4570011" y="315138"/>
                  <a:pt x="4549085" y="269599"/>
                  <a:pt x="4616423" y="290914"/>
                </a:cubicBezTo>
                <a:cubicBezTo>
                  <a:pt x="4599641" y="270277"/>
                  <a:pt x="4692085" y="269216"/>
                  <a:pt x="4691675" y="254011"/>
                </a:cubicBezTo>
                <a:lnTo>
                  <a:pt x="4689051" y="250968"/>
                </a:lnTo>
                <a:lnTo>
                  <a:pt x="4719994" y="245307"/>
                </a:lnTo>
                <a:cubicBezTo>
                  <a:pt x="4732635" y="242775"/>
                  <a:pt x="4745300" y="240335"/>
                  <a:pt x="4752894" y="239875"/>
                </a:cubicBezTo>
                <a:lnTo>
                  <a:pt x="4769329" y="233585"/>
                </a:lnTo>
                <a:lnTo>
                  <a:pt x="4775634" y="234063"/>
                </a:lnTo>
                <a:lnTo>
                  <a:pt x="4790452" y="233572"/>
                </a:lnTo>
                <a:cubicBezTo>
                  <a:pt x="4789989" y="236356"/>
                  <a:pt x="4789525" y="239141"/>
                  <a:pt x="4789062" y="241924"/>
                </a:cubicBezTo>
                <a:cubicBezTo>
                  <a:pt x="4786342" y="249932"/>
                  <a:pt x="4804560" y="248631"/>
                  <a:pt x="4827826" y="246977"/>
                </a:cubicBezTo>
                <a:cubicBezTo>
                  <a:pt x="4875782" y="239569"/>
                  <a:pt x="4874112" y="283413"/>
                  <a:pt x="4892569" y="249933"/>
                </a:cubicBezTo>
                <a:lnTo>
                  <a:pt x="4896611" y="240448"/>
                </a:lnTo>
                <a:lnTo>
                  <a:pt x="4917286" y="243659"/>
                </a:lnTo>
                <a:cubicBezTo>
                  <a:pt x="4923060" y="243799"/>
                  <a:pt x="4981729" y="240979"/>
                  <a:pt x="4981173" y="247103"/>
                </a:cubicBezTo>
                <a:cubicBezTo>
                  <a:pt x="5024880" y="220690"/>
                  <a:pt x="5014146" y="257963"/>
                  <a:pt x="5060397" y="263688"/>
                </a:cubicBezTo>
                <a:cubicBezTo>
                  <a:pt x="5093356" y="238589"/>
                  <a:pt x="5157892" y="275351"/>
                  <a:pt x="5252996" y="270655"/>
                </a:cubicBezTo>
                <a:cubicBezTo>
                  <a:pt x="5288840" y="241872"/>
                  <a:pt x="5287005" y="287921"/>
                  <a:pt x="5358056" y="247248"/>
                </a:cubicBezTo>
                <a:cubicBezTo>
                  <a:pt x="5361752" y="250257"/>
                  <a:pt x="5403312" y="238215"/>
                  <a:pt x="5426496" y="235142"/>
                </a:cubicBezTo>
                <a:cubicBezTo>
                  <a:pt x="5449679" y="232069"/>
                  <a:pt x="5473549" y="245611"/>
                  <a:pt x="5497161" y="228808"/>
                </a:cubicBezTo>
                <a:cubicBezTo>
                  <a:pt x="5611861" y="172767"/>
                  <a:pt x="5723211" y="165860"/>
                  <a:pt x="5826043" y="148073"/>
                </a:cubicBezTo>
                <a:cubicBezTo>
                  <a:pt x="5943127" y="133166"/>
                  <a:pt x="5872659" y="193078"/>
                  <a:pt x="6013415" y="137316"/>
                </a:cubicBezTo>
                <a:cubicBezTo>
                  <a:pt x="6031924" y="154783"/>
                  <a:pt x="6050745" y="154258"/>
                  <a:pt x="6080994" y="142938"/>
                </a:cubicBezTo>
                <a:cubicBezTo>
                  <a:pt x="6138083" y="137090"/>
                  <a:pt x="6140195" y="184383"/>
                  <a:pt x="6194152" y="151772"/>
                </a:cubicBezTo>
                <a:cubicBezTo>
                  <a:pt x="6187280" y="177783"/>
                  <a:pt x="6304222" y="153410"/>
                  <a:pt x="6281379" y="181626"/>
                </a:cubicBezTo>
                <a:cubicBezTo>
                  <a:pt x="6321899" y="201819"/>
                  <a:pt x="6335111" y="162590"/>
                  <a:pt x="6374947" y="179799"/>
                </a:cubicBezTo>
                <a:cubicBezTo>
                  <a:pt x="6417404" y="181336"/>
                  <a:pt x="6402484" y="169694"/>
                  <a:pt x="6448518" y="164378"/>
                </a:cubicBezTo>
                <a:cubicBezTo>
                  <a:pt x="6504958" y="162488"/>
                  <a:pt x="6493438" y="111203"/>
                  <a:pt x="6544700" y="167161"/>
                </a:cubicBezTo>
                <a:cubicBezTo>
                  <a:pt x="6601507" y="148697"/>
                  <a:pt x="6566269" y="164386"/>
                  <a:pt x="6648353" y="172250"/>
                </a:cubicBezTo>
                <a:cubicBezTo>
                  <a:pt x="6680008" y="155223"/>
                  <a:pt x="6707960" y="160673"/>
                  <a:pt x="6736227" y="173216"/>
                </a:cubicBezTo>
                <a:cubicBezTo>
                  <a:pt x="6813963" y="164284"/>
                  <a:pt x="6888143" y="181296"/>
                  <a:pt x="6977218" y="184289"/>
                </a:cubicBezTo>
                <a:cubicBezTo>
                  <a:pt x="7040424" y="188318"/>
                  <a:pt x="7000278" y="216835"/>
                  <a:pt x="7065221" y="227531"/>
                </a:cubicBezTo>
                <a:cubicBezTo>
                  <a:pt x="7130163" y="238228"/>
                  <a:pt x="7291878" y="238208"/>
                  <a:pt x="7366876" y="248468"/>
                </a:cubicBezTo>
                <a:cubicBezTo>
                  <a:pt x="7491356" y="206752"/>
                  <a:pt x="7367734" y="280166"/>
                  <a:pt x="7565449" y="258950"/>
                </a:cubicBezTo>
                <a:cubicBezTo>
                  <a:pt x="7575959" y="252432"/>
                  <a:pt x="7600854" y="257628"/>
                  <a:pt x="7599285" y="266021"/>
                </a:cubicBezTo>
                <a:cubicBezTo>
                  <a:pt x="7611616" y="262940"/>
                  <a:pt x="7639946" y="245819"/>
                  <a:pt x="7644411" y="258986"/>
                </a:cubicBezTo>
                <a:cubicBezTo>
                  <a:pt x="7708015" y="258012"/>
                  <a:pt x="7770249" y="247724"/>
                  <a:pt x="7825110" y="229109"/>
                </a:cubicBezTo>
                <a:cubicBezTo>
                  <a:pt x="7949762" y="247028"/>
                  <a:pt x="7921956" y="197757"/>
                  <a:pt x="7965804" y="190545"/>
                </a:cubicBezTo>
                <a:cubicBezTo>
                  <a:pt x="8039439" y="213878"/>
                  <a:pt x="8063651" y="191475"/>
                  <a:pt x="8147401" y="205617"/>
                </a:cubicBezTo>
                <a:cubicBezTo>
                  <a:pt x="8166453" y="196610"/>
                  <a:pt x="8225048" y="207099"/>
                  <a:pt x="8256033" y="193713"/>
                </a:cubicBezTo>
                <a:cubicBezTo>
                  <a:pt x="8311388" y="242017"/>
                  <a:pt x="8350376" y="178592"/>
                  <a:pt x="8410677" y="172167"/>
                </a:cubicBezTo>
                <a:cubicBezTo>
                  <a:pt x="8470978" y="165743"/>
                  <a:pt x="8572470" y="206385"/>
                  <a:pt x="8617841" y="155167"/>
                </a:cubicBezTo>
                <a:cubicBezTo>
                  <a:pt x="8646050" y="160448"/>
                  <a:pt x="8664949" y="183631"/>
                  <a:pt x="8715976" y="178374"/>
                </a:cubicBezTo>
                <a:cubicBezTo>
                  <a:pt x="8737194" y="188216"/>
                  <a:pt x="8738009" y="189511"/>
                  <a:pt x="8778827" y="172936"/>
                </a:cubicBezTo>
                <a:cubicBezTo>
                  <a:pt x="8725277" y="146372"/>
                  <a:pt x="8850819" y="175612"/>
                  <a:pt x="8840778" y="143149"/>
                </a:cubicBezTo>
                <a:cubicBezTo>
                  <a:pt x="8903519" y="121096"/>
                  <a:pt x="9021861" y="150359"/>
                  <a:pt x="9010380" y="91891"/>
                </a:cubicBezTo>
                <a:cubicBezTo>
                  <a:pt x="9027103" y="56852"/>
                  <a:pt x="9112524" y="108357"/>
                  <a:pt x="9110856" y="70997"/>
                </a:cubicBezTo>
                <a:cubicBezTo>
                  <a:pt x="9148189" y="94250"/>
                  <a:pt x="9209809" y="53285"/>
                  <a:pt x="9268817" y="53082"/>
                </a:cubicBezTo>
                <a:cubicBezTo>
                  <a:pt x="9279135" y="35997"/>
                  <a:pt x="9292736" y="36520"/>
                  <a:pt x="9316667" y="45047"/>
                </a:cubicBezTo>
                <a:cubicBezTo>
                  <a:pt x="9352186" y="45862"/>
                  <a:pt x="9390008" y="39799"/>
                  <a:pt x="9428209" y="29923"/>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35">
            <a:extLst>
              <a:ext uri="{FF2B5EF4-FFF2-40B4-BE49-F238E27FC236}">
                <a16:creationId xmlns:a16="http://schemas.microsoft.com/office/drawing/2014/main" id="{6C4028FD-8BAA-4A19-BFDE-594D991B75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3"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28650" y="556995"/>
            <a:ext cx="7886700" cy="1133693"/>
          </a:xfrm>
        </p:spPr>
        <p:txBody>
          <a:bodyPr>
            <a:normAutofit/>
          </a:bodyPr>
          <a:lstStyle/>
          <a:p>
            <a:r>
              <a:rPr lang="en-US" b="1" dirty="0"/>
              <a:t>Context &amp; Dataset</a:t>
            </a:r>
          </a:p>
        </p:txBody>
      </p:sp>
      <p:graphicFrame>
        <p:nvGraphicFramePr>
          <p:cNvPr id="5" name="Content Placeholder 2">
            <a:extLst>
              <a:ext uri="{FF2B5EF4-FFF2-40B4-BE49-F238E27FC236}">
                <a16:creationId xmlns:a16="http://schemas.microsoft.com/office/drawing/2014/main" id="{DEB7EB00-85AA-01BD-A0E6-6B177CFC05D2}"/>
              </a:ext>
            </a:extLst>
          </p:cNvPr>
          <p:cNvGraphicFramePr>
            <a:graphicFrameLocks noGrp="1"/>
          </p:cNvGraphicFramePr>
          <p:nvPr>
            <p:ph idx="1"/>
            <p:extLst>
              <p:ext uri="{D42A27DB-BD31-4B8C-83A1-F6EECF244321}">
                <p14:modId xmlns:p14="http://schemas.microsoft.com/office/powerpoint/2010/main" val="2667559060"/>
              </p:ext>
            </p:extLst>
          </p:nvPr>
        </p:nvGraphicFramePr>
        <p:xfrm>
          <a:off x="628650" y="1825625"/>
          <a:ext cx="78867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1" name="Rectangle 40">
            <a:extLst>
              <a:ext uri="{FF2B5EF4-FFF2-40B4-BE49-F238E27FC236}">
                <a16:creationId xmlns:a16="http://schemas.microsoft.com/office/drawing/2014/main" id="{C9A36457-A5F4-4103-A443-02581C0918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DC5FB7E8-B636-40FA-BE8D-48145C0F5C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9144000" cy="2295238"/>
          </a:xfrm>
          <a:custGeom>
            <a:avLst/>
            <a:gdLst>
              <a:gd name="connsiteX0" fmla="*/ 12160143 w 12192000"/>
              <a:gd name="connsiteY0" fmla="*/ 831692 h 2079137"/>
              <a:gd name="connsiteX1" fmla="*/ 12159112 w 12192000"/>
              <a:gd name="connsiteY1" fmla="*/ 833361 h 2079137"/>
              <a:gd name="connsiteX2" fmla="*/ 12158912 w 12192000"/>
              <a:gd name="connsiteY2" fmla="*/ 832430 h 2079137"/>
              <a:gd name="connsiteX3" fmla="*/ 0 w 12192000"/>
              <a:gd name="connsiteY3" fmla="*/ 0 h 2079137"/>
              <a:gd name="connsiteX4" fmla="*/ 12192000 w 12192000"/>
              <a:gd name="connsiteY4" fmla="*/ 0 h 2079137"/>
              <a:gd name="connsiteX5" fmla="*/ 12192000 w 12192000"/>
              <a:gd name="connsiteY5" fmla="*/ 558063 h 2079137"/>
              <a:gd name="connsiteX6" fmla="*/ 12189259 w 12192000"/>
              <a:gd name="connsiteY6" fmla="*/ 810508 h 2079137"/>
              <a:gd name="connsiteX7" fmla="*/ 12170847 w 12192000"/>
              <a:gd name="connsiteY7" fmla="*/ 825280 h 2079137"/>
              <a:gd name="connsiteX8" fmla="*/ 12160143 w 12192000"/>
              <a:gd name="connsiteY8" fmla="*/ 831692 h 2079137"/>
              <a:gd name="connsiteX9" fmla="*/ 12163806 w 12192000"/>
              <a:gd name="connsiteY9" fmla="*/ 825759 h 2079137"/>
              <a:gd name="connsiteX10" fmla="*/ 12056557 w 12192000"/>
              <a:gd name="connsiteY10" fmla="*/ 810176 h 2079137"/>
              <a:gd name="connsiteX11" fmla="*/ 11900316 w 12192000"/>
              <a:gd name="connsiteY11" fmla="*/ 789618 h 2079137"/>
              <a:gd name="connsiteX12" fmla="*/ 11791206 w 12192000"/>
              <a:gd name="connsiteY12" fmla="*/ 824176 h 2079137"/>
              <a:gd name="connsiteX13" fmla="*/ 11659257 w 12192000"/>
              <a:gd name="connsiteY13" fmla="*/ 800841 h 2079137"/>
              <a:gd name="connsiteX14" fmla="*/ 11569789 w 12192000"/>
              <a:gd name="connsiteY14" fmla="*/ 797135 h 2079137"/>
              <a:gd name="connsiteX15" fmla="*/ 11367885 w 12192000"/>
              <a:gd name="connsiteY15" fmla="*/ 791985 h 2079137"/>
              <a:gd name="connsiteX16" fmla="*/ 11174663 w 12192000"/>
              <a:gd name="connsiteY16" fmla="*/ 788721 h 2079137"/>
              <a:gd name="connsiteX17" fmla="*/ 11068220 w 12192000"/>
              <a:gd name="connsiteY17" fmla="*/ 786994 h 2079137"/>
              <a:gd name="connsiteX18" fmla="*/ 10893266 w 12192000"/>
              <a:gd name="connsiteY18" fmla="*/ 794013 h 2079137"/>
              <a:gd name="connsiteX19" fmla="*/ 10844025 w 12192000"/>
              <a:gd name="connsiteY19" fmla="*/ 789857 h 2079137"/>
              <a:gd name="connsiteX20" fmla="*/ 10814353 w 12192000"/>
              <a:gd name="connsiteY20" fmla="*/ 789010 h 2079137"/>
              <a:gd name="connsiteX21" fmla="*/ 10748393 w 12192000"/>
              <a:gd name="connsiteY21" fmla="*/ 806738 h 2079137"/>
              <a:gd name="connsiteX22" fmla="*/ 10468256 w 12192000"/>
              <a:gd name="connsiteY22" fmla="*/ 778733 h 2079137"/>
              <a:gd name="connsiteX23" fmla="*/ 10256131 w 12192000"/>
              <a:gd name="connsiteY23" fmla="*/ 788332 h 2079137"/>
              <a:gd name="connsiteX24" fmla="*/ 10177442 w 12192000"/>
              <a:gd name="connsiteY24" fmla="*/ 777371 h 2079137"/>
              <a:gd name="connsiteX25" fmla="*/ 10006086 w 12192000"/>
              <a:gd name="connsiteY25" fmla="*/ 792651 h 2079137"/>
              <a:gd name="connsiteX26" fmla="*/ 9952382 w 12192000"/>
              <a:gd name="connsiteY26" fmla="*/ 815411 h 2079137"/>
              <a:gd name="connsiteX27" fmla="*/ 9926457 w 12192000"/>
              <a:gd name="connsiteY27" fmla="*/ 827295 h 2079137"/>
              <a:gd name="connsiteX28" fmla="*/ 9843405 w 12192000"/>
              <a:gd name="connsiteY28" fmla="*/ 867046 h 2079137"/>
              <a:gd name="connsiteX29" fmla="*/ 9830866 w 12192000"/>
              <a:gd name="connsiteY29" fmla="*/ 875047 h 2079137"/>
              <a:gd name="connsiteX30" fmla="*/ 9801807 w 12192000"/>
              <a:gd name="connsiteY30" fmla="*/ 872272 h 2079137"/>
              <a:gd name="connsiteX31" fmla="*/ 9785653 w 12192000"/>
              <a:gd name="connsiteY31" fmla="*/ 861743 h 2079137"/>
              <a:gd name="connsiteX32" fmla="*/ 9781177 w 12192000"/>
              <a:gd name="connsiteY32" fmla="*/ 864820 h 2079137"/>
              <a:gd name="connsiteX33" fmla="*/ 9768640 w 12192000"/>
              <a:gd name="connsiteY33" fmla="*/ 869379 h 2079137"/>
              <a:gd name="connsiteX34" fmla="*/ 9712211 w 12192000"/>
              <a:gd name="connsiteY34" fmla="*/ 900283 h 2079137"/>
              <a:gd name="connsiteX35" fmla="*/ 9689465 w 12192000"/>
              <a:gd name="connsiteY35" fmla="*/ 899268 h 2079137"/>
              <a:gd name="connsiteX36" fmla="*/ 9600339 w 12192000"/>
              <a:gd name="connsiteY36" fmla="*/ 922112 h 2079137"/>
              <a:gd name="connsiteX37" fmla="*/ 9582850 w 12192000"/>
              <a:gd name="connsiteY37" fmla="*/ 925510 h 2079137"/>
              <a:gd name="connsiteX38" fmla="*/ 9549638 w 12192000"/>
              <a:gd name="connsiteY38" fmla="*/ 940845 h 2079137"/>
              <a:gd name="connsiteX39" fmla="*/ 9539471 w 12192000"/>
              <a:gd name="connsiteY39" fmla="*/ 941799 h 2079137"/>
              <a:gd name="connsiteX40" fmla="*/ 9505592 w 12192000"/>
              <a:gd name="connsiteY40" fmla="*/ 955533 h 2079137"/>
              <a:gd name="connsiteX41" fmla="*/ 9432569 w 12192000"/>
              <a:gd name="connsiteY41" fmla="*/ 985377 h 2079137"/>
              <a:gd name="connsiteX42" fmla="*/ 9414216 w 12192000"/>
              <a:gd name="connsiteY42" fmla="*/ 992655 h 2079137"/>
              <a:gd name="connsiteX43" fmla="*/ 9397106 w 12192000"/>
              <a:gd name="connsiteY43" fmla="*/ 992980 h 2079137"/>
              <a:gd name="connsiteX44" fmla="*/ 9305108 w 12192000"/>
              <a:gd name="connsiteY44" fmla="*/ 1007767 h 2079137"/>
              <a:gd name="connsiteX45" fmla="*/ 9282434 w 12192000"/>
              <a:gd name="connsiteY45" fmla="*/ 1007523 h 2079137"/>
              <a:gd name="connsiteX46" fmla="*/ 9271941 w 12192000"/>
              <a:gd name="connsiteY46" fmla="*/ 1002839 h 2079137"/>
              <a:gd name="connsiteX47" fmla="*/ 9238227 w 12192000"/>
              <a:gd name="connsiteY47" fmla="*/ 1017668 h 2079137"/>
              <a:gd name="connsiteX48" fmla="*/ 9184265 w 12192000"/>
              <a:gd name="connsiteY48" fmla="*/ 1031275 h 2079137"/>
              <a:gd name="connsiteX49" fmla="*/ 9159000 w 12192000"/>
              <a:gd name="connsiteY49" fmla="*/ 1039569 h 2079137"/>
              <a:gd name="connsiteX50" fmla="*/ 9137031 w 12192000"/>
              <a:gd name="connsiteY50" fmla="*/ 1038699 h 2079137"/>
              <a:gd name="connsiteX51" fmla="*/ 9015702 w 12192000"/>
              <a:gd name="connsiteY51" fmla="*/ 1051400 h 2079137"/>
              <a:gd name="connsiteX52" fmla="*/ 8971403 w 12192000"/>
              <a:gd name="connsiteY52" fmla="*/ 1040542 h 2079137"/>
              <a:gd name="connsiteX53" fmla="*/ 8961826 w 12192000"/>
              <a:gd name="connsiteY53" fmla="*/ 1045364 h 2079137"/>
              <a:gd name="connsiteX54" fmla="*/ 8888623 w 12192000"/>
              <a:gd name="connsiteY54" fmla="*/ 1053908 h 2079137"/>
              <a:gd name="connsiteX55" fmla="*/ 8841066 w 12192000"/>
              <a:gd name="connsiteY55" fmla="*/ 1060421 h 2079137"/>
              <a:gd name="connsiteX56" fmla="*/ 8752342 w 12192000"/>
              <a:gd name="connsiteY56" fmla="*/ 1080646 h 2079137"/>
              <a:gd name="connsiteX57" fmla="*/ 8699139 w 12192000"/>
              <a:gd name="connsiteY57" fmla="*/ 1087885 h 2079137"/>
              <a:gd name="connsiteX58" fmla="*/ 8667273 w 12192000"/>
              <a:gd name="connsiteY58" fmla="*/ 1092062 h 2079137"/>
              <a:gd name="connsiteX59" fmla="*/ 8586064 w 12192000"/>
              <a:gd name="connsiteY59" fmla="*/ 1114603 h 2079137"/>
              <a:gd name="connsiteX60" fmla="*/ 8460312 w 12192000"/>
              <a:gd name="connsiteY60" fmla="*/ 1179878 h 2079137"/>
              <a:gd name="connsiteX61" fmla="*/ 8419023 w 12192000"/>
              <a:gd name="connsiteY61" fmla="*/ 1191748 h 2079137"/>
              <a:gd name="connsiteX62" fmla="*/ 8410939 w 12192000"/>
              <a:gd name="connsiteY62" fmla="*/ 1189696 h 2079137"/>
              <a:gd name="connsiteX63" fmla="*/ 8362040 w 12192000"/>
              <a:gd name="connsiteY63" fmla="*/ 1220820 h 2079137"/>
              <a:gd name="connsiteX64" fmla="*/ 8273677 w 12192000"/>
              <a:gd name="connsiteY64" fmla="*/ 1236495 h 2079137"/>
              <a:gd name="connsiteX65" fmla="*/ 8204283 w 12192000"/>
              <a:gd name="connsiteY65" fmla="*/ 1243537 h 2079137"/>
              <a:gd name="connsiteX66" fmla="*/ 8166550 w 12192000"/>
              <a:gd name="connsiteY66" fmla="*/ 1249551 h 2079137"/>
              <a:gd name="connsiteX67" fmla="*/ 8137785 w 12192000"/>
              <a:gd name="connsiteY67" fmla="*/ 1251636 h 2079137"/>
              <a:gd name="connsiteX68" fmla="*/ 8071596 w 12192000"/>
              <a:gd name="connsiteY68" fmla="*/ 1269274 h 2079137"/>
              <a:gd name="connsiteX69" fmla="*/ 7964816 w 12192000"/>
              <a:gd name="connsiteY69" fmla="*/ 1303668 h 2079137"/>
              <a:gd name="connsiteX70" fmla="*/ 7941495 w 12192000"/>
              <a:gd name="connsiteY70" fmla="*/ 1309821 h 2079137"/>
              <a:gd name="connsiteX71" fmla="*/ 7919123 w 12192000"/>
              <a:gd name="connsiteY71" fmla="*/ 1310466 h 2079137"/>
              <a:gd name="connsiteX72" fmla="*/ 7911902 w 12192000"/>
              <a:gd name="connsiteY72" fmla="*/ 1306569 h 2079137"/>
              <a:gd name="connsiteX73" fmla="*/ 7898703 w 12192000"/>
              <a:gd name="connsiteY73" fmla="*/ 1309208 h 2079137"/>
              <a:gd name="connsiteX74" fmla="*/ 7894703 w 12192000"/>
              <a:gd name="connsiteY74" fmla="*/ 1308939 h 2079137"/>
              <a:gd name="connsiteX75" fmla="*/ 7872267 w 12192000"/>
              <a:gd name="connsiteY75" fmla="*/ 1308370 h 2079137"/>
              <a:gd name="connsiteX76" fmla="*/ 7836454 w 12192000"/>
              <a:gd name="connsiteY76" fmla="*/ 1331265 h 2079137"/>
              <a:gd name="connsiteX77" fmla="*/ 7782451 w 12192000"/>
              <a:gd name="connsiteY77" fmla="*/ 1339601 h 2079137"/>
              <a:gd name="connsiteX78" fmla="*/ 7542969 w 12192000"/>
              <a:gd name="connsiteY78" fmla="*/ 1372495 h 2079137"/>
              <a:gd name="connsiteX79" fmla="*/ 7476832 w 12192000"/>
              <a:gd name="connsiteY79" fmla="*/ 1431655 h 2079137"/>
              <a:gd name="connsiteX80" fmla="*/ 7370237 w 12192000"/>
              <a:gd name="connsiteY80" fmla="*/ 1474339 h 2079137"/>
              <a:gd name="connsiteX81" fmla="*/ 7222223 w 12192000"/>
              <a:gd name="connsiteY81" fmla="*/ 1510199 h 2079137"/>
              <a:gd name="connsiteX82" fmla="*/ 7215703 w 12192000"/>
              <a:gd name="connsiteY82" fmla="*/ 1520424 h 2079137"/>
              <a:gd name="connsiteX83" fmla="*/ 7204548 w 12192000"/>
              <a:gd name="connsiteY83" fmla="*/ 1528145 h 2079137"/>
              <a:gd name="connsiteX84" fmla="*/ 7202038 w 12192000"/>
              <a:gd name="connsiteY84" fmla="*/ 1527954 h 2079137"/>
              <a:gd name="connsiteX85" fmla="*/ 7173860 w 12192000"/>
              <a:gd name="connsiteY85" fmla="*/ 1541605 h 2079137"/>
              <a:gd name="connsiteX86" fmla="*/ 7155079 w 12192000"/>
              <a:gd name="connsiteY86" fmla="*/ 1552495 h 2079137"/>
              <a:gd name="connsiteX87" fmla="*/ 7149757 w 12192000"/>
              <a:gd name="connsiteY87" fmla="*/ 1552732 h 2079137"/>
              <a:gd name="connsiteX88" fmla="*/ 7104804 w 12192000"/>
              <a:gd name="connsiteY88" fmla="*/ 1565792 h 2079137"/>
              <a:gd name="connsiteX89" fmla="*/ 7082824 w 12192000"/>
              <a:gd name="connsiteY89" fmla="*/ 1567947 h 2079137"/>
              <a:gd name="connsiteX90" fmla="*/ 7021520 w 12192000"/>
              <a:gd name="connsiteY90" fmla="*/ 1562334 h 2079137"/>
              <a:gd name="connsiteX91" fmla="*/ 6988956 w 12192000"/>
              <a:gd name="connsiteY91" fmla="*/ 1576442 h 2079137"/>
              <a:gd name="connsiteX92" fmla="*/ 6981922 w 12192000"/>
              <a:gd name="connsiteY92" fmla="*/ 1578821 h 2079137"/>
              <a:gd name="connsiteX93" fmla="*/ 6981583 w 12192000"/>
              <a:gd name="connsiteY93" fmla="*/ 1578678 h 2079137"/>
              <a:gd name="connsiteX94" fmla="*/ 6973762 w 12192000"/>
              <a:gd name="connsiteY94" fmla="*/ 1580811 h 2079137"/>
              <a:gd name="connsiteX95" fmla="*/ 6969093 w 12192000"/>
              <a:gd name="connsiteY95" fmla="*/ 1583157 h 2079137"/>
              <a:gd name="connsiteX96" fmla="*/ 6890037 w 12192000"/>
              <a:gd name="connsiteY96" fmla="*/ 1575825 h 2079137"/>
              <a:gd name="connsiteX97" fmla="*/ 6785054 w 12192000"/>
              <a:gd name="connsiteY97" fmla="*/ 1582200 h 2079137"/>
              <a:gd name="connsiteX98" fmla="*/ 6681692 w 12192000"/>
              <a:gd name="connsiteY98" fmla="*/ 1591296 h 2079137"/>
              <a:gd name="connsiteX99" fmla="*/ 6644556 w 12192000"/>
              <a:gd name="connsiteY99" fmla="*/ 1595940 h 2079137"/>
              <a:gd name="connsiteX100" fmla="*/ 6577106 w 12192000"/>
              <a:gd name="connsiteY100" fmla="*/ 1598261 h 2079137"/>
              <a:gd name="connsiteX101" fmla="*/ 6544183 w 12192000"/>
              <a:gd name="connsiteY101" fmla="*/ 1596149 h 2079137"/>
              <a:gd name="connsiteX102" fmla="*/ 6540921 w 12192000"/>
              <a:gd name="connsiteY102" fmla="*/ 1593857 h 2079137"/>
              <a:gd name="connsiteX103" fmla="*/ 6535046 w 12192000"/>
              <a:gd name="connsiteY103" fmla="*/ 1593283 h 2079137"/>
              <a:gd name="connsiteX104" fmla="*/ 6519853 w 12192000"/>
              <a:gd name="connsiteY104" fmla="*/ 1595771 h 2079137"/>
              <a:gd name="connsiteX105" fmla="*/ 6514280 w 12192000"/>
              <a:gd name="connsiteY105" fmla="*/ 1597376 h 2079137"/>
              <a:gd name="connsiteX106" fmla="*/ 6505824 w 12192000"/>
              <a:gd name="connsiteY106" fmla="*/ 1598298 h 2079137"/>
              <a:gd name="connsiteX107" fmla="*/ 6505573 w 12192000"/>
              <a:gd name="connsiteY107" fmla="*/ 1598109 h 2079137"/>
              <a:gd name="connsiteX108" fmla="*/ 6497741 w 12192000"/>
              <a:gd name="connsiteY108" fmla="*/ 1599392 h 2079137"/>
              <a:gd name="connsiteX109" fmla="*/ 6459992 w 12192000"/>
              <a:gd name="connsiteY109" fmla="*/ 1608358 h 2079137"/>
              <a:gd name="connsiteX110" fmla="*/ 6404572 w 12192000"/>
              <a:gd name="connsiteY110" fmla="*/ 1593771 h 2079137"/>
              <a:gd name="connsiteX111" fmla="*/ 6382671 w 12192000"/>
              <a:gd name="connsiteY111" fmla="*/ 1592612 h 2079137"/>
              <a:gd name="connsiteX112" fmla="*/ 6369843 w 12192000"/>
              <a:gd name="connsiteY112" fmla="*/ 1590015 h 2079137"/>
              <a:gd name="connsiteX113" fmla="*/ 6269740 w 12192000"/>
              <a:gd name="connsiteY113" fmla="*/ 1614633 h 2079137"/>
              <a:gd name="connsiteX114" fmla="*/ 6255405 w 12192000"/>
              <a:gd name="connsiteY114" fmla="*/ 1620529 h 2079137"/>
              <a:gd name="connsiteX115" fmla="*/ 6244248 w 12192000"/>
              <a:gd name="connsiteY115" fmla="*/ 1629561 h 2079137"/>
              <a:gd name="connsiteX116" fmla="*/ 6086396 w 12192000"/>
              <a:gd name="connsiteY116" fmla="*/ 1642666 h 2079137"/>
              <a:gd name="connsiteX117" fmla="*/ 5867429 w 12192000"/>
              <a:gd name="connsiteY117" fmla="*/ 1695554 h 2079137"/>
              <a:gd name="connsiteX118" fmla="*/ 5772864 w 12192000"/>
              <a:gd name="connsiteY118" fmla="*/ 1689002 h 2079137"/>
              <a:gd name="connsiteX119" fmla="*/ 5629833 w 12192000"/>
              <a:gd name="connsiteY119" fmla="*/ 1713273 h 2079137"/>
              <a:gd name="connsiteX120" fmla="*/ 5504771 w 12192000"/>
              <a:gd name="connsiteY120" fmla="*/ 1725744 h 2079137"/>
              <a:gd name="connsiteX121" fmla="*/ 5490967 w 12192000"/>
              <a:gd name="connsiteY121" fmla="*/ 1726367 h 2079137"/>
              <a:gd name="connsiteX122" fmla="*/ 5486015 w 12192000"/>
              <a:gd name="connsiteY122" fmla="*/ 1721481 h 2079137"/>
              <a:gd name="connsiteX123" fmla="*/ 5439364 w 12192000"/>
              <a:gd name="connsiteY123" fmla="*/ 1721349 h 2079137"/>
              <a:gd name="connsiteX124" fmla="*/ 5350025 w 12192000"/>
              <a:gd name="connsiteY124" fmla="*/ 1729885 h 2079137"/>
              <a:gd name="connsiteX125" fmla="*/ 5336104 w 12192000"/>
              <a:gd name="connsiteY125" fmla="*/ 1734377 h 2079137"/>
              <a:gd name="connsiteX126" fmla="*/ 5245234 w 12192000"/>
              <a:gd name="connsiteY126" fmla="*/ 1738520 h 2079137"/>
              <a:gd name="connsiteX127" fmla="*/ 5182955 w 12192000"/>
              <a:gd name="connsiteY127" fmla="*/ 1744622 h 2079137"/>
              <a:gd name="connsiteX128" fmla="*/ 5169506 w 12192000"/>
              <a:gd name="connsiteY128" fmla="*/ 1748993 h 2079137"/>
              <a:gd name="connsiteX129" fmla="*/ 5154299 w 12192000"/>
              <a:gd name="connsiteY129" fmla="*/ 1744080 h 2079137"/>
              <a:gd name="connsiteX130" fmla="*/ 5149917 w 12192000"/>
              <a:gd name="connsiteY130" fmla="*/ 1739727 h 2079137"/>
              <a:gd name="connsiteX131" fmla="*/ 5100319 w 12192000"/>
              <a:gd name="connsiteY131" fmla="*/ 1745797 h 2079137"/>
              <a:gd name="connsiteX132" fmla="*/ 5094361 w 12192000"/>
              <a:gd name="connsiteY132" fmla="*/ 1745767 h 2079137"/>
              <a:gd name="connsiteX133" fmla="*/ 5053410 w 12192000"/>
              <a:gd name="connsiteY133" fmla="*/ 1742790 h 2079137"/>
              <a:gd name="connsiteX134" fmla="*/ 4992711 w 12192000"/>
              <a:gd name="connsiteY134" fmla="*/ 1734075 h 2079137"/>
              <a:gd name="connsiteX135" fmla="*/ 4930098 w 12192000"/>
              <a:gd name="connsiteY135" fmla="*/ 1717312 h 2079137"/>
              <a:gd name="connsiteX136" fmla="*/ 4893834 w 12192000"/>
              <a:gd name="connsiteY136" fmla="*/ 1710028 h 2079137"/>
              <a:gd name="connsiteX137" fmla="*/ 4868730 w 12192000"/>
              <a:gd name="connsiteY137" fmla="*/ 1702384 h 2079137"/>
              <a:gd name="connsiteX138" fmla="*/ 4797925 w 12192000"/>
              <a:gd name="connsiteY138" fmla="*/ 1695535 h 2079137"/>
              <a:gd name="connsiteX139" fmla="*/ 4677670 w 12192000"/>
              <a:gd name="connsiteY139" fmla="*/ 1689453 h 2079137"/>
              <a:gd name="connsiteX140" fmla="*/ 4634248 w 12192000"/>
              <a:gd name="connsiteY140" fmla="*/ 1680227 h 2079137"/>
              <a:gd name="connsiteX141" fmla="*/ 4632434 w 12192000"/>
              <a:gd name="connsiteY141" fmla="*/ 1674607 h 2079137"/>
              <a:gd name="connsiteX142" fmla="*/ 4619204 w 12192000"/>
              <a:gd name="connsiteY142" fmla="*/ 1672507 h 2079137"/>
              <a:gd name="connsiteX143" fmla="*/ 4616283 w 12192000"/>
              <a:gd name="connsiteY143" fmla="*/ 1670977 h 2079137"/>
              <a:gd name="connsiteX144" fmla="*/ 4598926 w 12192000"/>
              <a:gd name="connsiteY144" fmla="*/ 1663178 h 2079137"/>
              <a:gd name="connsiteX145" fmla="*/ 4547069 w 12192000"/>
              <a:gd name="connsiteY145" fmla="*/ 1670642 h 2079137"/>
              <a:gd name="connsiteX146" fmla="*/ 4523516 w 12192000"/>
              <a:gd name="connsiteY146" fmla="*/ 1669785 h 2079137"/>
              <a:gd name="connsiteX147" fmla="*/ 4500586 w 12192000"/>
              <a:gd name="connsiteY147" fmla="*/ 1675912 h 2079137"/>
              <a:gd name="connsiteX148" fmla="*/ 4488196 w 12192000"/>
              <a:gd name="connsiteY148" fmla="*/ 1683463 h 2079137"/>
              <a:gd name="connsiteX149" fmla="*/ 4445463 w 12192000"/>
              <a:gd name="connsiteY149" fmla="*/ 1695634 h 2079137"/>
              <a:gd name="connsiteX150" fmla="*/ 4446550 w 12192000"/>
              <a:gd name="connsiteY150" fmla="*/ 1680538 h 2079137"/>
              <a:gd name="connsiteX151" fmla="*/ 4365375 w 12192000"/>
              <a:gd name="connsiteY151" fmla="*/ 1697935 h 2079137"/>
              <a:gd name="connsiteX152" fmla="*/ 4305123 w 12192000"/>
              <a:gd name="connsiteY152" fmla="*/ 1714185 h 2079137"/>
              <a:gd name="connsiteX153" fmla="*/ 4292665 w 12192000"/>
              <a:gd name="connsiteY153" fmla="*/ 1720703 h 2079137"/>
              <a:gd name="connsiteX154" fmla="*/ 4276789 w 12192000"/>
              <a:gd name="connsiteY154" fmla="*/ 1718367 h 2079137"/>
              <a:gd name="connsiteX155" fmla="*/ 4271683 w 12192000"/>
              <a:gd name="connsiteY155" fmla="*/ 1714801 h 2079137"/>
              <a:gd name="connsiteX156" fmla="*/ 4223918 w 12192000"/>
              <a:gd name="connsiteY156" fmla="*/ 1728936 h 2079137"/>
              <a:gd name="connsiteX157" fmla="*/ 4218039 w 12192000"/>
              <a:gd name="connsiteY157" fmla="*/ 1729885 h 2079137"/>
              <a:gd name="connsiteX158" fmla="*/ 4177153 w 12192000"/>
              <a:gd name="connsiteY158" fmla="*/ 1733691 h 2079137"/>
              <a:gd name="connsiteX159" fmla="*/ 4051032 w 12192000"/>
              <a:gd name="connsiteY159" fmla="*/ 1728886 h 2079137"/>
              <a:gd name="connsiteX160" fmla="*/ 4013978 w 12192000"/>
              <a:gd name="connsiteY160" fmla="*/ 1727679 h 2079137"/>
              <a:gd name="connsiteX161" fmla="*/ 3987857 w 12192000"/>
              <a:gd name="connsiteY161" fmla="*/ 1724282 h 2079137"/>
              <a:gd name="connsiteX162" fmla="*/ 3916852 w 12192000"/>
              <a:gd name="connsiteY162" fmla="*/ 1729184 h 2079137"/>
              <a:gd name="connsiteX163" fmla="*/ 3797263 w 12192000"/>
              <a:gd name="connsiteY163" fmla="*/ 1742976 h 2079137"/>
              <a:gd name="connsiteX164" fmla="*/ 3752806 w 12192000"/>
              <a:gd name="connsiteY164" fmla="*/ 1741033 h 2079137"/>
              <a:gd name="connsiteX165" fmla="*/ 3749997 w 12192000"/>
              <a:gd name="connsiteY165" fmla="*/ 1735799 h 2079137"/>
              <a:gd name="connsiteX166" fmla="*/ 3736582 w 12192000"/>
              <a:gd name="connsiteY166" fmla="*/ 1735907 h 2079137"/>
              <a:gd name="connsiteX167" fmla="*/ 3733428 w 12192000"/>
              <a:gd name="connsiteY167" fmla="*/ 1734881 h 2079137"/>
              <a:gd name="connsiteX168" fmla="*/ 3714911 w 12192000"/>
              <a:gd name="connsiteY168" fmla="*/ 1730056 h 2079137"/>
              <a:gd name="connsiteX169" fmla="*/ 3665172 w 12192000"/>
              <a:gd name="connsiteY169" fmla="*/ 1745936 h 2079137"/>
              <a:gd name="connsiteX170" fmla="*/ 3552006 w 12192000"/>
              <a:gd name="connsiteY170" fmla="*/ 1755220 h 2079137"/>
              <a:gd name="connsiteX171" fmla="*/ 3390301 w 12192000"/>
              <a:gd name="connsiteY171" fmla="*/ 1762546 h 2079137"/>
              <a:gd name="connsiteX172" fmla="*/ 3264312 w 12192000"/>
              <a:gd name="connsiteY172" fmla="*/ 1774620 h 2079137"/>
              <a:gd name="connsiteX173" fmla="*/ 3106901 w 12192000"/>
              <a:gd name="connsiteY173" fmla="*/ 1804264 h 2079137"/>
              <a:gd name="connsiteX174" fmla="*/ 2993303 w 12192000"/>
              <a:gd name="connsiteY174" fmla="*/ 1806542 h 2079137"/>
              <a:gd name="connsiteX175" fmla="*/ 2979115 w 12192000"/>
              <a:gd name="connsiteY175" fmla="*/ 1815432 h 2079137"/>
              <a:gd name="connsiteX176" fmla="*/ 2963118 w 12192000"/>
              <a:gd name="connsiteY176" fmla="*/ 1820962 h 2079137"/>
              <a:gd name="connsiteX177" fmla="*/ 2961156 w 12192000"/>
              <a:gd name="connsiteY177" fmla="*/ 1820297 h 2079137"/>
              <a:gd name="connsiteX178" fmla="*/ 2925719 w 12192000"/>
              <a:gd name="connsiteY178" fmla="*/ 1828468 h 2079137"/>
              <a:gd name="connsiteX179" fmla="*/ 2857951 w 12192000"/>
              <a:gd name="connsiteY179" fmla="*/ 1842496 h 2079137"/>
              <a:gd name="connsiteX180" fmla="*/ 2857427 w 12192000"/>
              <a:gd name="connsiteY180" fmla="*/ 1841591 h 2079137"/>
              <a:gd name="connsiteX181" fmla="*/ 2846731 w 12192000"/>
              <a:gd name="connsiteY181" fmla="*/ 1839316 h 2079137"/>
              <a:gd name="connsiteX182" fmla="*/ 2826290 w 12192000"/>
              <a:gd name="connsiteY182" fmla="*/ 1837274 h 2079137"/>
              <a:gd name="connsiteX183" fmla="*/ 2779146 w 12192000"/>
              <a:gd name="connsiteY183" fmla="*/ 1820071 h 2079137"/>
              <a:gd name="connsiteX184" fmla="*/ 2739608 w 12192000"/>
              <a:gd name="connsiteY184" fmla="*/ 1827861 h 2079137"/>
              <a:gd name="connsiteX185" fmla="*/ 2731631 w 12192000"/>
              <a:gd name="connsiteY185" fmla="*/ 1828881 h 2079137"/>
              <a:gd name="connsiteX186" fmla="*/ 2731464 w 12192000"/>
              <a:gd name="connsiteY186" fmla="*/ 1828677 h 2079137"/>
              <a:gd name="connsiteX187" fmla="*/ 2723037 w 12192000"/>
              <a:gd name="connsiteY187" fmla="*/ 1829303 h 2079137"/>
              <a:gd name="connsiteX188" fmla="*/ 2701616 w 12192000"/>
              <a:gd name="connsiteY188" fmla="*/ 1832725 h 2079137"/>
              <a:gd name="connsiteX189" fmla="*/ 2696239 w 12192000"/>
              <a:gd name="connsiteY189" fmla="*/ 1831904 h 2079137"/>
              <a:gd name="connsiteX190" fmla="*/ 2663445 w 12192000"/>
              <a:gd name="connsiteY190" fmla="*/ 1825958 h 2079137"/>
              <a:gd name="connsiteX191" fmla="*/ 2560925 w 12192000"/>
              <a:gd name="connsiteY191" fmla="*/ 1829094 h 2079137"/>
              <a:gd name="connsiteX192" fmla="*/ 2458739 w 12192000"/>
              <a:gd name="connsiteY192" fmla="*/ 1834479 h 2079137"/>
              <a:gd name="connsiteX193" fmla="*/ 2356074 w 12192000"/>
              <a:gd name="connsiteY193" fmla="*/ 1836991 h 2079137"/>
              <a:gd name="connsiteX194" fmla="*/ 2304241 w 12192000"/>
              <a:gd name="connsiteY194" fmla="*/ 1822021 h 2079137"/>
              <a:gd name="connsiteX195" fmla="*/ 2298362 w 12192000"/>
              <a:gd name="connsiteY195" fmla="*/ 1822125 h 2079137"/>
              <a:gd name="connsiteX196" fmla="*/ 2283527 w 12192000"/>
              <a:gd name="connsiteY196" fmla="*/ 1826361 h 2079137"/>
              <a:gd name="connsiteX197" fmla="*/ 2278150 w 12192000"/>
              <a:gd name="connsiteY197" fmla="*/ 1828604 h 2079137"/>
              <a:gd name="connsiteX198" fmla="*/ 2269853 w 12192000"/>
              <a:gd name="connsiteY198" fmla="*/ 1830502 h 2079137"/>
              <a:gd name="connsiteX199" fmla="*/ 2269585 w 12192000"/>
              <a:gd name="connsiteY199" fmla="*/ 1830341 h 2079137"/>
              <a:gd name="connsiteX200" fmla="*/ 2225332 w 12192000"/>
              <a:gd name="connsiteY200" fmla="*/ 1845825 h 2079137"/>
              <a:gd name="connsiteX201" fmla="*/ 2169048 w 12192000"/>
              <a:gd name="connsiteY201" fmla="*/ 1837658 h 2079137"/>
              <a:gd name="connsiteX202" fmla="*/ 2147231 w 12192000"/>
              <a:gd name="connsiteY202" fmla="*/ 1839027 h 2079137"/>
              <a:gd name="connsiteX203" fmla="*/ 2135241 w 12192000"/>
              <a:gd name="connsiteY203" fmla="*/ 1838652 h 2079137"/>
              <a:gd name="connsiteX204" fmla="*/ 2099215 w 12192000"/>
              <a:gd name="connsiteY204" fmla="*/ 1850768 h 2079137"/>
              <a:gd name="connsiteX205" fmla="*/ 2094046 w 12192000"/>
              <a:gd name="connsiteY205" fmla="*/ 1850806 h 2079137"/>
              <a:gd name="connsiteX206" fmla="*/ 2071850 w 12192000"/>
              <a:gd name="connsiteY206" fmla="*/ 1861319 h 2079137"/>
              <a:gd name="connsiteX207" fmla="*/ 2039607 w 12192000"/>
              <a:gd name="connsiteY207" fmla="*/ 1874318 h 2079137"/>
              <a:gd name="connsiteX208" fmla="*/ 2037289 w 12192000"/>
              <a:gd name="connsiteY208" fmla="*/ 1874025 h 2079137"/>
              <a:gd name="connsiteX209" fmla="*/ 2023615 w 12192000"/>
              <a:gd name="connsiteY209" fmla="*/ 1881562 h 2079137"/>
              <a:gd name="connsiteX210" fmla="*/ 1957176 w 12192000"/>
              <a:gd name="connsiteY210" fmla="*/ 1898709 h 2079137"/>
              <a:gd name="connsiteX211" fmla="*/ 1858081 w 12192000"/>
              <a:gd name="connsiteY211" fmla="*/ 1923144 h 2079137"/>
              <a:gd name="connsiteX212" fmla="*/ 1738865 w 12192000"/>
              <a:gd name="connsiteY212" fmla="*/ 1944965 h 2079137"/>
              <a:gd name="connsiteX213" fmla="*/ 1616692 w 12192000"/>
              <a:gd name="connsiteY213" fmla="*/ 1989107 h 2079137"/>
              <a:gd name="connsiteX214" fmla="*/ 1411898 w 12192000"/>
              <a:gd name="connsiteY214" fmla="*/ 2046254 h 2079137"/>
              <a:gd name="connsiteX215" fmla="*/ 1375780 w 12192000"/>
              <a:gd name="connsiteY215" fmla="*/ 2047961 h 2079137"/>
              <a:gd name="connsiteX216" fmla="*/ 1375707 w 12192000"/>
              <a:gd name="connsiteY216" fmla="*/ 2047981 h 2079137"/>
              <a:gd name="connsiteX217" fmla="*/ 1285585 w 12192000"/>
              <a:gd name="connsiteY217" fmla="*/ 2047113 h 2079137"/>
              <a:gd name="connsiteX218" fmla="*/ 1263658 w 12192000"/>
              <a:gd name="connsiteY218" fmla="*/ 2041397 h 2079137"/>
              <a:gd name="connsiteX219" fmla="*/ 1170403 w 12192000"/>
              <a:gd name="connsiteY219" fmla="*/ 2033399 h 2079137"/>
              <a:gd name="connsiteX220" fmla="*/ 1153718 w 12192000"/>
              <a:gd name="connsiteY220" fmla="*/ 2029576 h 2079137"/>
              <a:gd name="connsiteX221" fmla="*/ 1133937 w 12192000"/>
              <a:gd name="connsiteY221" fmla="*/ 2032149 h 2079137"/>
              <a:gd name="connsiteX222" fmla="*/ 1054999 w 12192000"/>
              <a:gd name="connsiteY222" fmla="*/ 2043242 h 2079137"/>
              <a:gd name="connsiteX223" fmla="*/ 1018405 w 12192000"/>
              <a:gd name="connsiteY223" fmla="*/ 2048281 h 2079137"/>
              <a:gd name="connsiteX224" fmla="*/ 1016563 w 12192000"/>
              <a:gd name="connsiteY224" fmla="*/ 2051718 h 2079137"/>
              <a:gd name="connsiteX225" fmla="*/ 1008284 w 12192000"/>
              <a:gd name="connsiteY225" fmla="*/ 2046742 h 2079137"/>
              <a:gd name="connsiteX226" fmla="*/ 981974 w 12192000"/>
              <a:gd name="connsiteY226" fmla="*/ 2048363 h 2079137"/>
              <a:gd name="connsiteX227" fmla="*/ 971903 w 12192000"/>
              <a:gd name="connsiteY227" fmla="*/ 2053484 h 2079137"/>
              <a:gd name="connsiteX228" fmla="*/ 954015 w 12192000"/>
              <a:gd name="connsiteY228" fmla="*/ 2052529 h 2079137"/>
              <a:gd name="connsiteX229" fmla="*/ 839571 w 12192000"/>
              <a:gd name="connsiteY229" fmla="*/ 2046509 h 2079137"/>
              <a:gd name="connsiteX230" fmla="*/ 823321 w 12192000"/>
              <a:gd name="connsiteY230" fmla="*/ 2054296 h 2079137"/>
              <a:gd name="connsiteX231" fmla="*/ 800990 w 12192000"/>
              <a:gd name="connsiteY231" fmla="*/ 2051523 h 2079137"/>
              <a:gd name="connsiteX232" fmla="*/ 776439 w 12192000"/>
              <a:gd name="connsiteY232" fmla="*/ 2062634 h 2079137"/>
              <a:gd name="connsiteX233" fmla="*/ 763041 w 12192000"/>
              <a:gd name="connsiteY233" fmla="*/ 2063995 h 2079137"/>
              <a:gd name="connsiteX234" fmla="*/ 757863 w 12192000"/>
              <a:gd name="connsiteY234" fmla="*/ 2065877 h 2079137"/>
              <a:gd name="connsiteX235" fmla="*/ 745053 w 12192000"/>
              <a:gd name="connsiteY235" fmla="*/ 2051831 h 2079137"/>
              <a:gd name="connsiteX236" fmla="*/ 722609 w 12192000"/>
              <a:gd name="connsiteY236" fmla="*/ 2049504 h 2079137"/>
              <a:gd name="connsiteX237" fmla="*/ 717618 w 12192000"/>
              <a:gd name="connsiteY237" fmla="*/ 2042131 h 2079137"/>
              <a:gd name="connsiteX238" fmla="*/ 703285 w 12192000"/>
              <a:gd name="connsiteY238" fmla="*/ 2046808 h 2079137"/>
              <a:gd name="connsiteX239" fmla="*/ 680199 w 12192000"/>
              <a:gd name="connsiteY239" fmla="*/ 2051947 h 2079137"/>
              <a:gd name="connsiteX240" fmla="*/ 667351 w 12192000"/>
              <a:gd name="connsiteY240" fmla="*/ 2054469 h 2079137"/>
              <a:gd name="connsiteX241" fmla="*/ 660961 w 12192000"/>
              <a:gd name="connsiteY241" fmla="*/ 2049404 h 2079137"/>
              <a:gd name="connsiteX242" fmla="*/ 638282 w 12192000"/>
              <a:gd name="connsiteY242" fmla="*/ 2060093 h 2079137"/>
              <a:gd name="connsiteX243" fmla="*/ 583551 w 12192000"/>
              <a:gd name="connsiteY243" fmla="*/ 2070197 h 2079137"/>
              <a:gd name="connsiteX244" fmla="*/ 525274 w 12192000"/>
              <a:gd name="connsiteY244" fmla="*/ 2079137 h 2079137"/>
              <a:gd name="connsiteX245" fmla="*/ 405635 w 12192000"/>
              <a:gd name="connsiteY245" fmla="*/ 2059339 h 2079137"/>
              <a:gd name="connsiteX246" fmla="*/ 281555 w 12192000"/>
              <a:gd name="connsiteY246" fmla="*/ 2022847 h 2079137"/>
              <a:gd name="connsiteX247" fmla="*/ 98513 w 12192000"/>
              <a:gd name="connsiteY247" fmla="*/ 1969504 h 2079137"/>
              <a:gd name="connsiteX248" fmla="*/ 56191 w 12192000"/>
              <a:gd name="connsiteY248" fmla="*/ 1950709 h 2079137"/>
              <a:gd name="connsiteX249" fmla="*/ 0 w 12192000"/>
              <a:gd name="connsiteY249" fmla="*/ 1935789 h 2079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Lst>
            <a:rect l="l" t="t" r="r" b="b"/>
            <a:pathLst>
              <a:path w="12192000" h="2079137">
                <a:moveTo>
                  <a:pt x="12160143" y="831692"/>
                </a:moveTo>
                <a:lnTo>
                  <a:pt x="12159112" y="833361"/>
                </a:lnTo>
                <a:cubicBezTo>
                  <a:pt x="12157915" y="833832"/>
                  <a:pt x="12157402" y="833649"/>
                  <a:pt x="12158912" y="832430"/>
                </a:cubicBezTo>
                <a:close/>
                <a:moveTo>
                  <a:pt x="0" y="0"/>
                </a:moveTo>
                <a:lnTo>
                  <a:pt x="12192000" y="0"/>
                </a:lnTo>
                <a:lnTo>
                  <a:pt x="12192000" y="558063"/>
                </a:lnTo>
                <a:lnTo>
                  <a:pt x="12189259" y="810508"/>
                </a:lnTo>
                <a:lnTo>
                  <a:pt x="12170847" y="825280"/>
                </a:lnTo>
                <a:lnTo>
                  <a:pt x="12160143" y="831692"/>
                </a:lnTo>
                <a:lnTo>
                  <a:pt x="12163806" y="825759"/>
                </a:lnTo>
                <a:cubicBezTo>
                  <a:pt x="12125449" y="821525"/>
                  <a:pt x="12082203" y="824698"/>
                  <a:pt x="12056557" y="810176"/>
                </a:cubicBezTo>
                <a:cubicBezTo>
                  <a:pt x="12050902" y="790976"/>
                  <a:pt x="11923731" y="799312"/>
                  <a:pt x="11900316" y="789618"/>
                </a:cubicBezTo>
                <a:cubicBezTo>
                  <a:pt x="11841702" y="803374"/>
                  <a:pt x="11823963" y="832645"/>
                  <a:pt x="11791206" y="824176"/>
                </a:cubicBezTo>
                <a:cubicBezTo>
                  <a:pt x="11768977" y="817380"/>
                  <a:pt x="11683857" y="828947"/>
                  <a:pt x="11659257" y="800841"/>
                </a:cubicBezTo>
                <a:cubicBezTo>
                  <a:pt x="11617173" y="818107"/>
                  <a:pt x="11602556" y="790694"/>
                  <a:pt x="11569789" y="797135"/>
                </a:cubicBezTo>
                <a:cubicBezTo>
                  <a:pt x="11498310" y="795094"/>
                  <a:pt x="11458472" y="819882"/>
                  <a:pt x="11367885" y="791985"/>
                </a:cubicBezTo>
                <a:cubicBezTo>
                  <a:pt x="11325508" y="798158"/>
                  <a:pt x="11266580" y="755023"/>
                  <a:pt x="11174663" y="788721"/>
                </a:cubicBezTo>
                <a:cubicBezTo>
                  <a:pt x="11122703" y="792192"/>
                  <a:pt x="11150009" y="775410"/>
                  <a:pt x="11068220" y="786994"/>
                </a:cubicBezTo>
                <a:cubicBezTo>
                  <a:pt x="11046931" y="759861"/>
                  <a:pt x="10919185" y="793102"/>
                  <a:pt x="10893266" y="794013"/>
                </a:cubicBezTo>
                <a:cubicBezTo>
                  <a:pt x="10874184" y="776189"/>
                  <a:pt x="10862860" y="788743"/>
                  <a:pt x="10844025" y="789857"/>
                </a:cubicBezTo>
                <a:cubicBezTo>
                  <a:pt x="10836453" y="779294"/>
                  <a:pt x="10820690" y="778184"/>
                  <a:pt x="10814353" y="789010"/>
                </a:cubicBezTo>
                <a:cubicBezTo>
                  <a:pt x="10819669" y="816016"/>
                  <a:pt x="10754019" y="789067"/>
                  <a:pt x="10748393" y="806738"/>
                </a:cubicBezTo>
                <a:cubicBezTo>
                  <a:pt x="10687156" y="807873"/>
                  <a:pt x="10550299" y="781800"/>
                  <a:pt x="10468256" y="778733"/>
                </a:cubicBezTo>
                <a:cubicBezTo>
                  <a:pt x="10436666" y="770025"/>
                  <a:pt x="10371995" y="797252"/>
                  <a:pt x="10256131" y="788332"/>
                </a:cubicBezTo>
                <a:cubicBezTo>
                  <a:pt x="10240995" y="781626"/>
                  <a:pt x="10182664" y="765742"/>
                  <a:pt x="10177442" y="777371"/>
                </a:cubicBezTo>
                <a:cubicBezTo>
                  <a:pt x="10141447" y="775683"/>
                  <a:pt x="10030323" y="810071"/>
                  <a:pt x="10006086" y="792651"/>
                </a:cubicBezTo>
                <a:cubicBezTo>
                  <a:pt x="10009448" y="818833"/>
                  <a:pt x="9960389" y="791426"/>
                  <a:pt x="9952382" y="815411"/>
                </a:cubicBezTo>
                <a:lnTo>
                  <a:pt x="9926457" y="827295"/>
                </a:lnTo>
                <a:lnTo>
                  <a:pt x="9843405" y="867046"/>
                </a:lnTo>
                <a:lnTo>
                  <a:pt x="9830866" y="875047"/>
                </a:lnTo>
                <a:lnTo>
                  <a:pt x="9801807" y="872272"/>
                </a:lnTo>
                <a:lnTo>
                  <a:pt x="9785653" y="861743"/>
                </a:lnTo>
                <a:lnTo>
                  <a:pt x="9781177" y="864820"/>
                </a:lnTo>
                <a:cubicBezTo>
                  <a:pt x="9776153" y="871003"/>
                  <a:pt x="9773556" y="874842"/>
                  <a:pt x="9768640" y="869379"/>
                </a:cubicBezTo>
                <a:lnTo>
                  <a:pt x="9712211" y="900283"/>
                </a:lnTo>
                <a:cubicBezTo>
                  <a:pt x="9706243" y="902750"/>
                  <a:pt x="9698952" y="902954"/>
                  <a:pt x="9689465" y="899268"/>
                </a:cubicBezTo>
                <a:cubicBezTo>
                  <a:pt x="9670819" y="902906"/>
                  <a:pt x="9618108" y="917739"/>
                  <a:pt x="9600339" y="922112"/>
                </a:cubicBezTo>
                <a:lnTo>
                  <a:pt x="9582850" y="925510"/>
                </a:lnTo>
                <a:cubicBezTo>
                  <a:pt x="9574400" y="928631"/>
                  <a:pt x="9556868" y="938130"/>
                  <a:pt x="9549638" y="940845"/>
                </a:cubicBezTo>
                <a:cubicBezTo>
                  <a:pt x="9543792" y="942327"/>
                  <a:pt x="9546812" y="939351"/>
                  <a:pt x="9539471" y="941799"/>
                </a:cubicBezTo>
                <a:cubicBezTo>
                  <a:pt x="9538994" y="947702"/>
                  <a:pt x="9536009" y="953248"/>
                  <a:pt x="9505592" y="955533"/>
                </a:cubicBezTo>
                <a:cubicBezTo>
                  <a:pt x="9486013" y="968563"/>
                  <a:pt x="9460860" y="978842"/>
                  <a:pt x="9432569" y="985377"/>
                </a:cubicBezTo>
                <a:cubicBezTo>
                  <a:pt x="9426990" y="980335"/>
                  <a:pt x="9418918" y="990185"/>
                  <a:pt x="9414216" y="992655"/>
                </a:cubicBezTo>
                <a:cubicBezTo>
                  <a:pt x="9412644" y="989014"/>
                  <a:pt x="9400057" y="989255"/>
                  <a:pt x="9397106" y="992980"/>
                </a:cubicBezTo>
                <a:cubicBezTo>
                  <a:pt x="9314093" y="1020862"/>
                  <a:pt x="9349678" y="978420"/>
                  <a:pt x="9305108" y="1007767"/>
                </a:cubicBezTo>
                <a:cubicBezTo>
                  <a:pt x="9296670" y="1010324"/>
                  <a:pt x="9289251" y="1009612"/>
                  <a:pt x="9282434" y="1007523"/>
                </a:cubicBezTo>
                <a:lnTo>
                  <a:pt x="9271941" y="1002839"/>
                </a:lnTo>
                <a:lnTo>
                  <a:pt x="9238227" y="1017668"/>
                </a:lnTo>
                <a:cubicBezTo>
                  <a:pt x="9221294" y="1023415"/>
                  <a:pt x="9203166" y="1027997"/>
                  <a:pt x="9184265" y="1031275"/>
                </a:cubicBezTo>
                <a:cubicBezTo>
                  <a:pt x="9178371" y="1024135"/>
                  <a:pt x="9165618" y="1036637"/>
                  <a:pt x="9159000" y="1039569"/>
                </a:cubicBezTo>
                <a:cubicBezTo>
                  <a:pt x="9157881" y="1034602"/>
                  <a:pt x="9141725" y="1033964"/>
                  <a:pt x="9137031" y="1038699"/>
                </a:cubicBezTo>
                <a:cubicBezTo>
                  <a:pt x="9023973" y="1069523"/>
                  <a:pt x="9079946" y="1015706"/>
                  <a:pt x="9015702" y="1051400"/>
                </a:cubicBezTo>
                <a:lnTo>
                  <a:pt x="8971403" y="1040542"/>
                </a:lnTo>
                <a:lnTo>
                  <a:pt x="8961826" y="1045364"/>
                </a:lnTo>
                <a:cubicBezTo>
                  <a:pt x="8922837" y="1050010"/>
                  <a:pt x="8909116" y="1040754"/>
                  <a:pt x="8888623" y="1053908"/>
                </a:cubicBezTo>
                <a:cubicBezTo>
                  <a:pt x="8850424" y="1035587"/>
                  <a:pt x="8865892" y="1054194"/>
                  <a:pt x="8841066" y="1060421"/>
                </a:cubicBezTo>
                <a:cubicBezTo>
                  <a:pt x="8818353" y="1064878"/>
                  <a:pt x="8775995" y="1076068"/>
                  <a:pt x="8752342" y="1080646"/>
                </a:cubicBezTo>
                <a:cubicBezTo>
                  <a:pt x="8736966" y="1099406"/>
                  <a:pt x="8723186" y="1079948"/>
                  <a:pt x="8699139" y="1087885"/>
                </a:cubicBezTo>
                <a:cubicBezTo>
                  <a:pt x="8688630" y="1095506"/>
                  <a:pt x="8680324" y="1097539"/>
                  <a:pt x="8667273" y="1092062"/>
                </a:cubicBezTo>
                <a:cubicBezTo>
                  <a:pt x="8619205" y="1128818"/>
                  <a:pt x="8634590" y="1097116"/>
                  <a:pt x="8586064" y="1114603"/>
                </a:cubicBezTo>
                <a:cubicBezTo>
                  <a:pt x="8544721" y="1131913"/>
                  <a:pt x="8496602" y="1145520"/>
                  <a:pt x="8460312" y="1179878"/>
                </a:cubicBezTo>
                <a:cubicBezTo>
                  <a:pt x="8454266" y="1189140"/>
                  <a:pt x="8435781" y="1194455"/>
                  <a:pt x="8419023" y="1191748"/>
                </a:cubicBezTo>
                <a:cubicBezTo>
                  <a:pt x="8416138" y="1191283"/>
                  <a:pt x="8413416" y="1190591"/>
                  <a:pt x="8410939" y="1189696"/>
                </a:cubicBezTo>
                <a:cubicBezTo>
                  <a:pt x="8390077" y="1213458"/>
                  <a:pt x="8370324" y="1205397"/>
                  <a:pt x="8362040" y="1220820"/>
                </a:cubicBezTo>
                <a:cubicBezTo>
                  <a:pt x="8320616" y="1231942"/>
                  <a:pt x="8281663" y="1222882"/>
                  <a:pt x="8273677" y="1236495"/>
                </a:cubicBezTo>
                <a:cubicBezTo>
                  <a:pt x="8251358" y="1238573"/>
                  <a:pt x="8216738" y="1228341"/>
                  <a:pt x="8204283" y="1243537"/>
                </a:cubicBezTo>
                <a:cubicBezTo>
                  <a:pt x="8198634" y="1233135"/>
                  <a:pt x="8181550" y="1254947"/>
                  <a:pt x="8166550" y="1249551"/>
                </a:cubicBezTo>
                <a:cubicBezTo>
                  <a:pt x="8155570" y="1244572"/>
                  <a:pt x="8147825" y="1250027"/>
                  <a:pt x="8137785" y="1251636"/>
                </a:cubicBezTo>
                <a:cubicBezTo>
                  <a:pt x="8123427" y="1248361"/>
                  <a:pt x="8081662" y="1261833"/>
                  <a:pt x="8071596" y="1269274"/>
                </a:cubicBezTo>
                <a:cubicBezTo>
                  <a:pt x="8048949" y="1293759"/>
                  <a:pt x="7983924" y="1284712"/>
                  <a:pt x="7964816" y="1303668"/>
                </a:cubicBezTo>
                <a:cubicBezTo>
                  <a:pt x="7957137" y="1306992"/>
                  <a:pt x="7949335" y="1308861"/>
                  <a:pt x="7941495" y="1309821"/>
                </a:cubicBezTo>
                <a:lnTo>
                  <a:pt x="7919123" y="1310466"/>
                </a:lnTo>
                <a:lnTo>
                  <a:pt x="7911902" y="1306569"/>
                </a:lnTo>
                <a:lnTo>
                  <a:pt x="7898703" y="1309208"/>
                </a:lnTo>
                <a:lnTo>
                  <a:pt x="7894703" y="1308939"/>
                </a:lnTo>
                <a:lnTo>
                  <a:pt x="7872267" y="1308370"/>
                </a:lnTo>
                <a:cubicBezTo>
                  <a:pt x="7886550" y="1330359"/>
                  <a:pt x="7812648" y="1314851"/>
                  <a:pt x="7836454" y="1331265"/>
                </a:cubicBezTo>
                <a:cubicBezTo>
                  <a:pt x="7798907" y="1336933"/>
                  <a:pt x="7831419" y="1351068"/>
                  <a:pt x="7782451" y="1339601"/>
                </a:cubicBezTo>
                <a:cubicBezTo>
                  <a:pt x="7727636" y="1365002"/>
                  <a:pt x="7583002" y="1338768"/>
                  <a:pt x="7542969" y="1372495"/>
                </a:cubicBezTo>
                <a:cubicBezTo>
                  <a:pt x="7546396" y="1360942"/>
                  <a:pt x="7492851" y="1424323"/>
                  <a:pt x="7476832" y="1431655"/>
                </a:cubicBezTo>
                <a:cubicBezTo>
                  <a:pt x="7439619" y="1443703"/>
                  <a:pt x="7425596" y="1454661"/>
                  <a:pt x="7370237" y="1474339"/>
                </a:cubicBezTo>
                <a:cubicBezTo>
                  <a:pt x="7316246" y="1485928"/>
                  <a:pt x="7281903" y="1512712"/>
                  <a:pt x="7222223" y="1510199"/>
                </a:cubicBezTo>
                <a:cubicBezTo>
                  <a:pt x="7221190" y="1514030"/>
                  <a:pt x="7218885" y="1517398"/>
                  <a:pt x="7215703" y="1520424"/>
                </a:cubicBezTo>
                <a:lnTo>
                  <a:pt x="7204548" y="1528145"/>
                </a:lnTo>
                <a:lnTo>
                  <a:pt x="7202038" y="1527954"/>
                </a:lnTo>
                <a:lnTo>
                  <a:pt x="7173860" y="1541605"/>
                </a:lnTo>
                <a:lnTo>
                  <a:pt x="7155079" y="1552495"/>
                </a:lnTo>
                <a:lnTo>
                  <a:pt x="7149757" y="1552732"/>
                </a:lnTo>
                <a:cubicBezTo>
                  <a:pt x="7141378" y="1554948"/>
                  <a:pt x="7115959" y="1563256"/>
                  <a:pt x="7104804" y="1565792"/>
                </a:cubicBezTo>
                <a:cubicBezTo>
                  <a:pt x="7099811" y="1550850"/>
                  <a:pt x="7096935" y="1561973"/>
                  <a:pt x="7082824" y="1567947"/>
                </a:cubicBezTo>
                <a:cubicBezTo>
                  <a:pt x="7071919" y="1546070"/>
                  <a:pt x="7039417" y="1570606"/>
                  <a:pt x="7021520" y="1562334"/>
                </a:cubicBezTo>
                <a:cubicBezTo>
                  <a:pt x="7011400" y="1567217"/>
                  <a:pt x="7000495" y="1571981"/>
                  <a:pt x="6988956" y="1576442"/>
                </a:cubicBezTo>
                <a:lnTo>
                  <a:pt x="6981922" y="1578821"/>
                </a:lnTo>
                <a:lnTo>
                  <a:pt x="6981583" y="1578678"/>
                </a:lnTo>
                <a:cubicBezTo>
                  <a:pt x="6979627" y="1578791"/>
                  <a:pt x="6977153" y="1579421"/>
                  <a:pt x="6973762" y="1580811"/>
                </a:cubicBezTo>
                <a:lnTo>
                  <a:pt x="6969093" y="1583157"/>
                </a:lnTo>
                <a:lnTo>
                  <a:pt x="6890037" y="1575825"/>
                </a:lnTo>
                <a:cubicBezTo>
                  <a:pt x="6849459" y="1579997"/>
                  <a:pt x="6820022" y="1566922"/>
                  <a:pt x="6785054" y="1582200"/>
                </a:cubicBezTo>
                <a:cubicBezTo>
                  <a:pt x="6747047" y="1586037"/>
                  <a:pt x="6712794" y="1582954"/>
                  <a:pt x="6681692" y="1591296"/>
                </a:cubicBezTo>
                <a:cubicBezTo>
                  <a:pt x="6667557" y="1587501"/>
                  <a:pt x="6654822" y="1586753"/>
                  <a:pt x="6644556" y="1595940"/>
                </a:cubicBezTo>
                <a:cubicBezTo>
                  <a:pt x="6608615" y="1597269"/>
                  <a:pt x="6597697" y="1587005"/>
                  <a:pt x="6577106" y="1598261"/>
                </a:cubicBezTo>
                <a:lnTo>
                  <a:pt x="6544183" y="1596149"/>
                </a:lnTo>
                <a:lnTo>
                  <a:pt x="6540921" y="1593857"/>
                </a:lnTo>
                <a:lnTo>
                  <a:pt x="6535046" y="1593283"/>
                </a:lnTo>
                <a:lnTo>
                  <a:pt x="6519853" y="1595771"/>
                </a:lnTo>
                <a:lnTo>
                  <a:pt x="6514280" y="1597376"/>
                </a:lnTo>
                <a:cubicBezTo>
                  <a:pt x="6510385" y="1598232"/>
                  <a:pt x="6507735" y="1598481"/>
                  <a:pt x="6505824" y="1598298"/>
                </a:cubicBezTo>
                <a:lnTo>
                  <a:pt x="6505573" y="1598109"/>
                </a:lnTo>
                <a:lnTo>
                  <a:pt x="6497741" y="1599392"/>
                </a:lnTo>
                <a:cubicBezTo>
                  <a:pt x="6484628" y="1602044"/>
                  <a:pt x="6471968" y="1605085"/>
                  <a:pt x="6459992" y="1608358"/>
                </a:cubicBezTo>
                <a:cubicBezTo>
                  <a:pt x="6447037" y="1597612"/>
                  <a:pt x="6404274" y="1616787"/>
                  <a:pt x="6404572" y="1593771"/>
                </a:cubicBezTo>
                <a:cubicBezTo>
                  <a:pt x="6388277" y="1597519"/>
                  <a:pt x="6380141" y="1607970"/>
                  <a:pt x="6382671" y="1592612"/>
                </a:cubicBezTo>
                <a:lnTo>
                  <a:pt x="6369843" y="1590015"/>
                </a:lnTo>
                <a:lnTo>
                  <a:pt x="6269740" y="1614633"/>
                </a:lnTo>
                <a:lnTo>
                  <a:pt x="6255405" y="1620529"/>
                </a:lnTo>
                <a:cubicBezTo>
                  <a:pt x="6250911" y="1623016"/>
                  <a:pt x="6247090" y="1625968"/>
                  <a:pt x="6244248" y="1629561"/>
                </a:cubicBezTo>
                <a:cubicBezTo>
                  <a:pt x="6188859" y="1618246"/>
                  <a:pt x="6143250" y="1639346"/>
                  <a:pt x="6086396" y="1642666"/>
                </a:cubicBezTo>
                <a:cubicBezTo>
                  <a:pt x="6024311" y="1653696"/>
                  <a:pt x="5889522" y="1686499"/>
                  <a:pt x="5867429" y="1695554"/>
                </a:cubicBezTo>
                <a:cubicBezTo>
                  <a:pt x="5848669" y="1700350"/>
                  <a:pt x="5763994" y="1699795"/>
                  <a:pt x="5772864" y="1689002"/>
                </a:cubicBezTo>
                <a:cubicBezTo>
                  <a:pt x="5718480" y="1716048"/>
                  <a:pt x="5694188" y="1696562"/>
                  <a:pt x="5629833" y="1713273"/>
                </a:cubicBezTo>
                <a:lnTo>
                  <a:pt x="5504771" y="1725744"/>
                </a:lnTo>
                <a:lnTo>
                  <a:pt x="5490967" y="1726367"/>
                </a:lnTo>
                <a:lnTo>
                  <a:pt x="5486015" y="1721481"/>
                </a:lnTo>
                <a:lnTo>
                  <a:pt x="5439364" y="1721349"/>
                </a:lnTo>
                <a:cubicBezTo>
                  <a:pt x="5418850" y="1733129"/>
                  <a:pt x="5381503" y="1725668"/>
                  <a:pt x="5350025" y="1729885"/>
                </a:cubicBezTo>
                <a:lnTo>
                  <a:pt x="5336104" y="1734377"/>
                </a:lnTo>
                <a:lnTo>
                  <a:pt x="5245234" y="1738520"/>
                </a:lnTo>
                <a:lnTo>
                  <a:pt x="5182955" y="1744622"/>
                </a:lnTo>
                <a:lnTo>
                  <a:pt x="5169506" y="1748993"/>
                </a:lnTo>
                <a:lnTo>
                  <a:pt x="5154299" y="1744080"/>
                </a:lnTo>
                <a:cubicBezTo>
                  <a:pt x="5152463" y="1742751"/>
                  <a:pt x="5150989" y="1741283"/>
                  <a:pt x="5149917" y="1739727"/>
                </a:cubicBezTo>
                <a:lnTo>
                  <a:pt x="5100319" y="1745797"/>
                </a:lnTo>
                <a:lnTo>
                  <a:pt x="5094361" y="1745767"/>
                </a:lnTo>
                <a:lnTo>
                  <a:pt x="5053410" y="1742790"/>
                </a:lnTo>
                <a:lnTo>
                  <a:pt x="4992711" y="1734075"/>
                </a:lnTo>
                <a:cubicBezTo>
                  <a:pt x="4972764" y="1728527"/>
                  <a:pt x="4955480" y="1708667"/>
                  <a:pt x="4930098" y="1717312"/>
                </a:cubicBezTo>
                <a:cubicBezTo>
                  <a:pt x="4936142" y="1706767"/>
                  <a:pt x="4900350" y="1719438"/>
                  <a:pt x="4893834" y="1710028"/>
                </a:cubicBezTo>
                <a:cubicBezTo>
                  <a:pt x="4890113" y="1702277"/>
                  <a:pt x="4878389" y="1704314"/>
                  <a:pt x="4868730" y="1702384"/>
                </a:cubicBezTo>
                <a:cubicBezTo>
                  <a:pt x="4860577" y="1694955"/>
                  <a:pt x="4813519" y="1692594"/>
                  <a:pt x="4797925" y="1695535"/>
                </a:cubicBezTo>
                <a:cubicBezTo>
                  <a:pt x="4754973" y="1708626"/>
                  <a:pt x="4712186" y="1679830"/>
                  <a:pt x="4677670" y="1689453"/>
                </a:cubicBezTo>
                <a:cubicBezTo>
                  <a:pt x="4650390" y="1686902"/>
                  <a:pt x="4641786" y="1682702"/>
                  <a:pt x="4634248" y="1680227"/>
                </a:cubicBezTo>
                <a:lnTo>
                  <a:pt x="4632434" y="1674607"/>
                </a:lnTo>
                <a:lnTo>
                  <a:pt x="4619204" y="1672507"/>
                </a:lnTo>
                <a:lnTo>
                  <a:pt x="4616283" y="1670977"/>
                </a:lnTo>
                <a:cubicBezTo>
                  <a:pt x="4610716" y="1668036"/>
                  <a:pt x="4605090" y="1665277"/>
                  <a:pt x="4598926" y="1663178"/>
                </a:cubicBezTo>
                <a:cubicBezTo>
                  <a:pt x="4588025" y="1686237"/>
                  <a:pt x="4544698" y="1649138"/>
                  <a:pt x="4547069" y="1670642"/>
                </a:cubicBezTo>
                <a:lnTo>
                  <a:pt x="4523516" y="1669785"/>
                </a:lnTo>
                <a:lnTo>
                  <a:pt x="4500586" y="1675912"/>
                </a:lnTo>
                <a:lnTo>
                  <a:pt x="4488196" y="1683463"/>
                </a:lnTo>
                <a:lnTo>
                  <a:pt x="4445463" y="1695634"/>
                </a:lnTo>
                <a:lnTo>
                  <a:pt x="4446550" y="1680538"/>
                </a:lnTo>
                <a:lnTo>
                  <a:pt x="4365375" y="1697935"/>
                </a:lnTo>
                <a:lnTo>
                  <a:pt x="4305123" y="1714185"/>
                </a:lnTo>
                <a:lnTo>
                  <a:pt x="4292665" y="1720703"/>
                </a:lnTo>
                <a:lnTo>
                  <a:pt x="4276789" y="1718367"/>
                </a:lnTo>
                <a:cubicBezTo>
                  <a:pt x="4274740" y="1717359"/>
                  <a:pt x="4273021" y="1716157"/>
                  <a:pt x="4271683" y="1714801"/>
                </a:cubicBezTo>
                <a:lnTo>
                  <a:pt x="4223918" y="1728936"/>
                </a:lnTo>
                <a:lnTo>
                  <a:pt x="4218039" y="1729885"/>
                </a:lnTo>
                <a:lnTo>
                  <a:pt x="4177153" y="1733691"/>
                </a:lnTo>
                <a:lnTo>
                  <a:pt x="4051032" y="1728886"/>
                </a:lnTo>
                <a:cubicBezTo>
                  <a:pt x="4055072" y="1717510"/>
                  <a:pt x="4022108" y="1735873"/>
                  <a:pt x="4013978" y="1727679"/>
                </a:cubicBezTo>
                <a:cubicBezTo>
                  <a:pt x="4008905" y="1720660"/>
                  <a:pt x="3997723" y="1724594"/>
                  <a:pt x="3987857" y="1724282"/>
                </a:cubicBezTo>
                <a:cubicBezTo>
                  <a:pt x="3978476" y="1718309"/>
                  <a:pt x="3931683" y="1723723"/>
                  <a:pt x="3916852" y="1729184"/>
                </a:cubicBezTo>
                <a:cubicBezTo>
                  <a:pt x="3876910" y="1749138"/>
                  <a:pt x="3829523" y="1727824"/>
                  <a:pt x="3797263" y="1742976"/>
                </a:cubicBezTo>
                <a:cubicBezTo>
                  <a:pt x="3769922" y="1744951"/>
                  <a:pt x="3760682" y="1742230"/>
                  <a:pt x="3752806" y="1741033"/>
                </a:cubicBezTo>
                <a:lnTo>
                  <a:pt x="3749997" y="1735799"/>
                </a:lnTo>
                <a:lnTo>
                  <a:pt x="3736582" y="1735907"/>
                </a:lnTo>
                <a:lnTo>
                  <a:pt x="3733428" y="1734881"/>
                </a:lnTo>
                <a:cubicBezTo>
                  <a:pt x="3727408" y="1732899"/>
                  <a:pt x="3721365" y="1731108"/>
                  <a:pt x="3714911" y="1730056"/>
                </a:cubicBezTo>
                <a:cubicBezTo>
                  <a:pt x="3708355" y="1754554"/>
                  <a:pt x="3658933" y="1725152"/>
                  <a:pt x="3665172" y="1745936"/>
                </a:cubicBezTo>
                <a:cubicBezTo>
                  <a:pt x="3628569" y="1744420"/>
                  <a:pt x="3583742" y="1775884"/>
                  <a:pt x="3552006" y="1755220"/>
                </a:cubicBezTo>
                <a:cubicBezTo>
                  <a:pt x="3497522" y="1758390"/>
                  <a:pt x="3448310" y="1757433"/>
                  <a:pt x="3390301" y="1762546"/>
                </a:cubicBezTo>
                <a:cubicBezTo>
                  <a:pt x="3345266" y="1774524"/>
                  <a:pt x="3297039" y="1758531"/>
                  <a:pt x="3264312" y="1774620"/>
                </a:cubicBezTo>
                <a:cubicBezTo>
                  <a:pt x="3212634" y="1771139"/>
                  <a:pt x="3147905" y="1780248"/>
                  <a:pt x="3106901" y="1804264"/>
                </a:cubicBezTo>
                <a:cubicBezTo>
                  <a:pt x="3051355" y="1805490"/>
                  <a:pt x="3041708" y="1820368"/>
                  <a:pt x="2993303" y="1806542"/>
                </a:cubicBezTo>
                <a:cubicBezTo>
                  <a:pt x="2989182" y="1810139"/>
                  <a:pt x="2984377" y="1813039"/>
                  <a:pt x="2979115" y="1815432"/>
                </a:cubicBezTo>
                <a:lnTo>
                  <a:pt x="2963118" y="1820962"/>
                </a:lnTo>
                <a:lnTo>
                  <a:pt x="2961156" y="1820297"/>
                </a:lnTo>
                <a:lnTo>
                  <a:pt x="2925719" y="1828468"/>
                </a:lnTo>
                <a:lnTo>
                  <a:pt x="2857951" y="1842496"/>
                </a:lnTo>
                <a:lnTo>
                  <a:pt x="2857427" y="1841591"/>
                </a:lnTo>
                <a:cubicBezTo>
                  <a:pt x="2855386" y="1839734"/>
                  <a:pt x="2852250" y="1838690"/>
                  <a:pt x="2846731" y="1839316"/>
                </a:cubicBezTo>
                <a:cubicBezTo>
                  <a:pt x="2855175" y="1823564"/>
                  <a:pt x="2843311" y="1834035"/>
                  <a:pt x="2826290" y="1837274"/>
                </a:cubicBezTo>
                <a:cubicBezTo>
                  <a:pt x="2835609" y="1813530"/>
                  <a:pt x="2787284" y="1831665"/>
                  <a:pt x="2779146" y="1820071"/>
                </a:cubicBezTo>
                <a:cubicBezTo>
                  <a:pt x="2766432" y="1822985"/>
                  <a:pt x="2753158" y="1825635"/>
                  <a:pt x="2739608" y="1827861"/>
                </a:cubicBezTo>
                <a:lnTo>
                  <a:pt x="2731631" y="1828881"/>
                </a:lnTo>
                <a:cubicBezTo>
                  <a:pt x="2731575" y="1828813"/>
                  <a:pt x="2731521" y="1828744"/>
                  <a:pt x="2731464" y="1828677"/>
                </a:cubicBezTo>
                <a:cubicBezTo>
                  <a:pt x="2729715" y="1828415"/>
                  <a:pt x="2727085" y="1828569"/>
                  <a:pt x="2723037" y="1829303"/>
                </a:cubicBezTo>
                <a:lnTo>
                  <a:pt x="2701616" y="1832725"/>
                </a:lnTo>
                <a:lnTo>
                  <a:pt x="2696239" y="1831904"/>
                </a:lnTo>
                <a:lnTo>
                  <a:pt x="2663445" y="1825958"/>
                </a:lnTo>
                <a:cubicBezTo>
                  <a:pt x="2641260" y="1825904"/>
                  <a:pt x="2595040" y="1827674"/>
                  <a:pt x="2560925" y="1829094"/>
                </a:cubicBezTo>
                <a:cubicBezTo>
                  <a:pt x="2527977" y="1836499"/>
                  <a:pt x="2496507" y="1831991"/>
                  <a:pt x="2458739" y="1834479"/>
                </a:cubicBezTo>
                <a:cubicBezTo>
                  <a:pt x="2419379" y="1848893"/>
                  <a:pt x="2396428" y="1834257"/>
                  <a:pt x="2356074" y="1836991"/>
                </a:cubicBezTo>
                <a:cubicBezTo>
                  <a:pt x="2323435" y="1857644"/>
                  <a:pt x="2325610" y="1826053"/>
                  <a:pt x="2304241" y="1822021"/>
                </a:cubicBezTo>
                <a:lnTo>
                  <a:pt x="2298362" y="1822125"/>
                </a:lnTo>
                <a:lnTo>
                  <a:pt x="2283527" y="1826361"/>
                </a:lnTo>
                <a:lnTo>
                  <a:pt x="2278150" y="1828604"/>
                </a:lnTo>
                <a:cubicBezTo>
                  <a:pt x="2274371" y="1829907"/>
                  <a:pt x="2271762" y="1830461"/>
                  <a:pt x="2269853" y="1830502"/>
                </a:cubicBezTo>
                <a:lnTo>
                  <a:pt x="2269585" y="1830341"/>
                </a:lnTo>
                <a:lnTo>
                  <a:pt x="2225332" y="1845825"/>
                </a:lnTo>
                <a:cubicBezTo>
                  <a:pt x="2211505" y="1836594"/>
                  <a:pt x="2170867" y="1860661"/>
                  <a:pt x="2169048" y="1837658"/>
                </a:cubicBezTo>
                <a:cubicBezTo>
                  <a:pt x="2153238" y="1843278"/>
                  <a:pt x="2146132" y="1854645"/>
                  <a:pt x="2147231" y="1839027"/>
                </a:cubicBezTo>
                <a:cubicBezTo>
                  <a:pt x="2141901" y="1840465"/>
                  <a:pt x="2138205" y="1840014"/>
                  <a:pt x="2135241" y="1838652"/>
                </a:cubicBezTo>
                <a:lnTo>
                  <a:pt x="2099215" y="1850768"/>
                </a:lnTo>
                <a:lnTo>
                  <a:pt x="2094046" y="1850806"/>
                </a:lnTo>
                <a:lnTo>
                  <a:pt x="2071850" y="1861319"/>
                </a:lnTo>
                <a:lnTo>
                  <a:pt x="2039607" y="1874318"/>
                </a:lnTo>
                <a:lnTo>
                  <a:pt x="2037289" y="1874025"/>
                </a:lnTo>
                <a:lnTo>
                  <a:pt x="2023615" y="1881562"/>
                </a:lnTo>
                <a:cubicBezTo>
                  <a:pt x="2019390" y="1884562"/>
                  <a:pt x="1959668" y="1894795"/>
                  <a:pt x="1957176" y="1898709"/>
                </a:cubicBezTo>
                <a:cubicBezTo>
                  <a:pt x="1901224" y="1893805"/>
                  <a:pt x="1914145" y="1913274"/>
                  <a:pt x="1858081" y="1923144"/>
                </a:cubicBezTo>
                <a:cubicBezTo>
                  <a:pt x="1819487" y="1923227"/>
                  <a:pt x="1798952" y="1929741"/>
                  <a:pt x="1738865" y="1944965"/>
                </a:cubicBezTo>
                <a:cubicBezTo>
                  <a:pt x="1698633" y="1955957"/>
                  <a:pt x="1670491" y="1978862"/>
                  <a:pt x="1616692" y="1989107"/>
                </a:cubicBezTo>
                <a:cubicBezTo>
                  <a:pt x="1565257" y="2022368"/>
                  <a:pt x="1474172" y="2022156"/>
                  <a:pt x="1411898" y="2046254"/>
                </a:cubicBezTo>
                <a:cubicBezTo>
                  <a:pt x="1380237" y="2035952"/>
                  <a:pt x="1386648" y="2042292"/>
                  <a:pt x="1375780" y="2047961"/>
                </a:cubicBezTo>
                <a:cubicBezTo>
                  <a:pt x="1375756" y="2047968"/>
                  <a:pt x="1375731" y="2047974"/>
                  <a:pt x="1375707" y="2047981"/>
                </a:cubicBezTo>
                <a:lnTo>
                  <a:pt x="1285585" y="2047113"/>
                </a:lnTo>
                <a:cubicBezTo>
                  <a:pt x="1279541" y="2043453"/>
                  <a:pt x="1272537" y="2040974"/>
                  <a:pt x="1263658" y="2041397"/>
                </a:cubicBezTo>
                <a:cubicBezTo>
                  <a:pt x="1212454" y="2058890"/>
                  <a:pt x="1258499" y="2026611"/>
                  <a:pt x="1170403" y="2033399"/>
                </a:cubicBezTo>
                <a:cubicBezTo>
                  <a:pt x="1166530" y="2036274"/>
                  <a:pt x="1154254" y="2033463"/>
                  <a:pt x="1153718" y="2029576"/>
                </a:cubicBezTo>
                <a:cubicBezTo>
                  <a:pt x="1148486" y="2030819"/>
                  <a:pt x="1137980" y="2038354"/>
                  <a:pt x="1133937" y="2032149"/>
                </a:cubicBezTo>
                <a:cubicBezTo>
                  <a:pt x="1104720" y="2031606"/>
                  <a:pt x="1077532" y="2035424"/>
                  <a:pt x="1054999" y="2043242"/>
                </a:cubicBezTo>
                <a:cubicBezTo>
                  <a:pt x="1024875" y="2038090"/>
                  <a:pt x="1020473" y="2042711"/>
                  <a:pt x="1018405" y="2048281"/>
                </a:cubicBezTo>
                <a:lnTo>
                  <a:pt x="1016563" y="2051718"/>
                </a:lnTo>
                <a:lnTo>
                  <a:pt x="1008284" y="2046742"/>
                </a:lnTo>
                <a:cubicBezTo>
                  <a:pt x="999244" y="2043620"/>
                  <a:pt x="990505" y="2044937"/>
                  <a:pt x="981974" y="2048363"/>
                </a:cubicBezTo>
                <a:lnTo>
                  <a:pt x="971903" y="2053484"/>
                </a:lnTo>
                <a:lnTo>
                  <a:pt x="954015" y="2052529"/>
                </a:lnTo>
                <a:cubicBezTo>
                  <a:pt x="931960" y="2051365"/>
                  <a:pt x="861352" y="2046214"/>
                  <a:pt x="839571" y="2046509"/>
                </a:cubicBezTo>
                <a:lnTo>
                  <a:pt x="823321" y="2054296"/>
                </a:lnTo>
                <a:lnTo>
                  <a:pt x="800990" y="2051523"/>
                </a:lnTo>
                <a:cubicBezTo>
                  <a:pt x="790723" y="2052171"/>
                  <a:pt x="782268" y="2055403"/>
                  <a:pt x="776439" y="2062634"/>
                </a:cubicBezTo>
                <a:cubicBezTo>
                  <a:pt x="773155" y="2056184"/>
                  <a:pt x="769593" y="2059253"/>
                  <a:pt x="763041" y="2063995"/>
                </a:cubicBezTo>
                <a:lnTo>
                  <a:pt x="757863" y="2065877"/>
                </a:lnTo>
                <a:lnTo>
                  <a:pt x="745053" y="2051831"/>
                </a:lnTo>
                <a:lnTo>
                  <a:pt x="722609" y="2049504"/>
                </a:lnTo>
                <a:lnTo>
                  <a:pt x="717618" y="2042131"/>
                </a:lnTo>
                <a:lnTo>
                  <a:pt x="703285" y="2046808"/>
                </a:lnTo>
                <a:cubicBezTo>
                  <a:pt x="698219" y="2048137"/>
                  <a:pt x="690058" y="2049926"/>
                  <a:pt x="680199" y="2051947"/>
                </a:cubicBezTo>
                <a:lnTo>
                  <a:pt x="667351" y="2054469"/>
                </a:lnTo>
                <a:lnTo>
                  <a:pt x="660961" y="2049404"/>
                </a:lnTo>
                <a:lnTo>
                  <a:pt x="638282" y="2060093"/>
                </a:lnTo>
                <a:lnTo>
                  <a:pt x="583551" y="2070197"/>
                </a:lnTo>
                <a:cubicBezTo>
                  <a:pt x="569268" y="2091365"/>
                  <a:pt x="529124" y="2053106"/>
                  <a:pt x="525274" y="2079137"/>
                </a:cubicBezTo>
                <a:cubicBezTo>
                  <a:pt x="506495" y="2056498"/>
                  <a:pt x="440091" y="2069666"/>
                  <a:pt x="405635" y="2059339"/>
                </a:cubicBezTo>
                <a:cubicBezTo>
                  <a:pt x="397410" y="2069278"/>
                  <a:pt x="294416" y="2032966"/>
                  <a:pt x="281555" y="2022847"/>
                </a:cubicBezTo>
                <a:cubicBezTo>
                  <a:pt x="171589" y="1986245"/>
                  <a:pt x="126791" y="1985528"/>
                  <a:pt x="98513" y="1969504"/>
                </a:cubicBezTo>
                <a:cubicBezTo>
                  <a:pt x="85544" y="1965247"/>
                  <a:pt x="73324" y="1958000"/>
                  <a:pt x="56191" y="1950709"/>
                </a:cubicBezTo>
                <a:lnTo>
                  <a:pt x="0" y="1935789"/>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p:cNvSpPr>
            <a:spLocks noGrp="1"/>
          </p:cNvSpPr>
          <p:nvPr>
            <p:ph type="title"/>
          </p:nvPr>
        </p:nvSpPr>
        <p:spPr>
          <a:xfrm>
            <a:off x="852777" y="548640"/>
            <a:ext cx="7157553" cy="1188720"/>
          </a:xfrm>
        </p:spPr>
        <p:txBody>
          <a:bodyPr>
            <a:normAutofit/>
          </a:bodyPr>
          <a:lstStyle/>
          <a:p>
            <a:r>
              <a:rPr lang="en-US" b="1" dirty="0">
                <a:solidFill>
                  <a:schemeClr val="tx1">
                    <a:lumMod val="85000"/>
                    <a:lumOff val="15000"/>
                  </a:schemeClr>
                </a:solidFill>
              </a:rPr>
              <a:t>Key Concepts &amp; Definitions</a:t>
            </a:r>
          </a:p>
        </p:txBody>
      </p:sp>
      <p:sp>
        <p:nvSpPr>
          <p:cNvPr id="3" name="Content Placeholder 2"/>
          <p:cNvSpPr>
            <a:spLocks noGrp="1"/>
          </p:cNvSpPr>
          <p:nvPr>
            <p:ph idx="1"/>
          </p:nvPr>
        </p:nvSpPr>
        <p:spPr>
          <a:xfrm>
            <a:off x="1468490" y="2431765"/>
            <a:ext cx="6207019" cy="3320031"/>
          </a:xfrm>
        </p:spPr>
        <p:txBody>
          <a:bodyPr anchor="ctr">
            <a:normAutofit/>
          </a:bodyPr>
          <a:lstStyle/>
          <a:p>
            <a:pPr>
              <a:defRPr sz="1800"/>
            </a:pPr>
            <a:r>
              <a:rPr lang="en-US" sz="1700" b="1" dirty="0">
                <a:solidFill>
                  <a:schemeClr val="tx1">
                    <a:lumMod val="85000"/>
                    <a:lumOff val="15000"/>
                  </a:schemeClr>
                </a:solidFill>
                <a:latin typeface="Calibri"/>
              </a:rPr>
              <a:t>Interaction: One contact from a merchant to Support (via email, call, or chat).</a:t>
            </a:r>
          </a:p>
          <a:p>
            <a:pPr>
              <a:defRPr sz="1800"/>
            </a:pPr>
            <a:r>
              <a:rPr lang="en-US" sz="1700" dirty="0">
                <a:solidFill>
                  <a:schemeClr val="tx1">
                    <a:lumMod val="85000"/>
                    <a:lumOff val="15000"/>
                  </a:schemeClr>
                </a:solidFill>
                <a:latin typeface="Calibri"/>
              </a:rPr>
              <a:t>Recontact: Same merchant, same product (classification), later interaction within X days.</a:t>
            </a:r>
          </a:p>
          <a:p>
            <a:pPr>
              <a:defRPr sz="1800"/>
            </a:pPr>
            <a:r>
              <a:rPr lang="en-US" sz="1700" dirty="0">
                <a:solidFill>
                  <a:schemeClr val="tx1">
                    <a:lumMod val="85000"/>
                    <a:lumOff val="15000"/>
                  </a:schemeClr>
                </a:solidFill>
                <a:latin typeface="Calibri"/>
              </a:rPr>
              <a:t>Agent-resolved interaction: IS_RESOLVING_INTERACTION = TRUE.</a:t>
            </a:r>
          </a:p>
          <a:p>
            <a:pPr>
              <a:defRPr sz="1800"/>
            </a:pPr>
            <a:r>
              <a:rPr lang="en-US" sz="1700" dirty="0">
                <a:solidFill>
                  <a:schemeClr val="tx1">
                    <a:lumMod val="85000"/>
                    <a:lumOff val="15000"/>
                  </a:schemeClr>
                </a:solidFill>
                <a:latin typeface="Calibri"/>
              </a:rPr>
              <a:t>Analytical definition of 'resolved': agent-resolved AND no same-product recontact within chosen window.</a:t>
            </a:r>
          </a:p>
          <a:p>
            <a:pPr>
              <a:defRPr sz="1800"/>
            </a:pPr>
            <a:r>
              <a:rPr lang="en-US" sz="1700" dirty="0">
                <a:solidFill>
                  <a:schemeClr val="tx1">
                    <a:lumMod val="85000"/>
                    <a:lumOff val="15000"/>
                  </a:schemeClr>
                </a:solidFill>
                <a:latin typeface="Calibri"/>
              </a:rPr>
              <a:t>Data checks reveal incomplete/unreliable data from Jan-Nov’24, hence we take Dec’24 as the base month for ALL our analyses(more details in Readme file)</a:t>
            </a:r>
          </a:p>
        </p:txBody>
      </p:sp>
      <p:sp>
        <p:nvSpPr>
          <p:cNvPr id="40" name="Freeform: Shape 39">
            <a:extLst>
              <a:ext uri="{FF2B5EF4-FFF2-40B4-BE49-F238E27FC236}">
                <a16:creationId xmlns:a16="http://schemas.microsoft.com/office/drawing/2014/main" id="{142DCE2C-2863-46FA-9BE7-24365A24D9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668439" y="5970896"/>
            <a:ext cx="7475562" cy="887104"/>
          </a:xfrm>
          <a:custGeom>
            <a:avLst/>
            <a:gdLst>
              <a:gd name="connsiteX0" fmla="*/ 4686423 w 9517857"/>
              <a:gd name="connsiteY0" fmla="*/ 247919 h 918356"/>
              <a:gd name="connsiteX1" fmla="*/ 4689051 w 9517857"/>
              <a:gd name="connsiteY1" fmla="*/ 250968 h 918356"/>
              <a:gd name="connsiteX2" fmla="*/ 4687244 w 9517857"/>
              <a:gd name="connsiteY2" fmla="*/ 251298 h 918356"/>
              <a:gd name="connsiteX3" fmla="*/ 4685225 w 9517857"/>
              <a:gd name="connsiteY3" fmla="*/ 246530 h 918356"/>
              <a:gd name="connsiteX4" fmla="*/ 4686133 w 9517857"/>
              <a:gd name="connsiteY4" fmla="*/ 246727 h 918356"/>
              <a:gd name="connsiteX5" fmla="*/ 4686423 w 9517857"/>
              <a:gd name="connsiteY5" fmla="*/ 247919 h 918356"/>
              <a:gd name="connsiteX6" fmla="*/ 9517856 w 9517857"/>
              <a:gd name="connsiteY6" fmla="*/ 0 h 918356"/>
              <a:gd name="connsiteX7" fmla="*/ 9517857 w 9517857"/>
              <a:gd name="connsiteY7" fmla="*/ 12 h 918356"/>
              <a:gd name="connsiteX8" fmla="*/ 9517857 w 9517857"/>
              <a:gd name="connsiteY8" fmla="*/ 918356 h 918356"/>
              <a:gd name="connsiteX9" fmla="*/ 14604 w 9517857"/>
              <a:gd name="connsiteY9" fmla="*/ 918356 h 918356"/>
              <a:gd name="connsiteX10" fmla="*/ 12841 w 9517857"/>
              <a:gd name="connsiteY10" fmla="*/ 917763 h 918356"/>
              <a:gd name="connsiteX11" fmla="*/ 93 w 9517857"/>
              <a:gd name="connsiteY11" fmla="*/ 912471 h 918356"/>
              <a:gd name="connsiteX12" fmla="*/ 58674 w 9517857"/>
              <a:gd name="connsiteY12" fmla="*/ 890322 h 918356"/>
              <a:gd name="connsiteX13" fmla="*/ 275005 w 9517857"/>
              <a:gd name="connsiteY13" fmla="*/ 807229 h 918356"/>
              <a:gd name="connsiteX14" fmla="*/ 587824 w 9517857"/>
              <a:gd name="connsiteY14" fmla="*/ 798195 h 918356"/>
              <a:gd name="connsiteX15" fmla="*/ 651826 w 9517857"/>
              <a:gd name="connsiteY15" fmla="*/ 738338 h 918356"/>
              <a:gd name="connsiteX16" fmla="*/ 727985 w 9517857"/>
              <a:gd name="connsiteY16" fmla="*/ 719826 h 918356"/>
              <a:gd name="connsiteX17" fmla="*/ 778982 w 9517857"/>
              <a:gd name="connsiteY17" fmla="*/ 710142 h 918356"/>
              <a:gd name="connsiteX18" fmla="*/ 849944 w 9517857"/>
              <a:gd name="connsiteY18" fmla="*/ 717987 h 918356"/>
              <a:gd name="connsiteX19" fmla="*/ 921659 w 9517857"/>
              <a:gd name="connsiteY19" fmla="*/ 712695 h 918356"/>
              <a:gd name="connsiteX20" fmla="*/ 930946 w 9517857"/>
              <a:gd name="connsiteY20" fmla="*/ 734046 h 918356"/>
              <a:gd name="connsiteX21" fmla="*/ 986250 w 9517857"/>
              <a:gd name="connsiteY21" fmla="*/ 713530 h 918356"/>
              <a:gd name="connsiteX22" fmla="*/ 1013752 w 9517857"/>
              <a:gd name="connsiteY22" fmla="*/ 713361 h 918356"/>
              <a:gd name="connsiteX23" fmla="*/ 1023734 w 9517857"/>
              <a:gd name="connsiteY23" fmla="*/ 718571 h 918356"/>
              <a:gd name="connsiteX24" fmla="*/ 1063207 w 9517857"/>
              <a:gd name="connsiteY24" fmla="*/ 715651 h 918356"/>
              <a:gd name="connsiteX25" fmla="*/ 1081980 w 9517857"/>
              <a:gd name="connsiteY25" fmla="*/ 738455 h 918356"/>
              <a:gd name="connsiteX26" fmla="*/ 1218120 w 9517857"/>
              <a:gd name="connsiteY26" fmla="*/ 713280 h 918356"/>
              <a:gd name="connsiteX27" fmla="*/ 1397459 w 9517857"/>
              <a:gd name="connsiteY27" fmla="*/ 691190 h 918356"/>
              <a:gd name="connsiteX28" fmla="*/ 1580688 w 9517857"/>
              <a:gd name="connsiteY28" fmla="*/ 693697 h 918356"/>
              <a:gd name="connsiteX29" fmla="*/ 1772334 w 9517857"/>
              <a:gd name="connsiteY29" fmla="*/ 710640 h 918356"/>
              <a:gd name="connsiteX30" fmla="*/ 2002561 w 9517857"/>
              <a:gd name="connsiteY30" fmla="*/ 659917 h 918356"/>
              <a:gd name="connsiteX31" fmla="*/ 2135144 w 9517857"/>
              <a:gd name="connsiteY31" fmla="*/ 636501 h 918356"/>
              <a:gd name="connsiteX32" fmla="*/ 2440292 w 9517857"/>
              <a:gd name="connsiteY32" fmla="*/ 593862 h 918356"/>
              <a:gd name="connsiteX33" fmla="*/ 2547829 w 9517857"/>
              <a:gd name="connsiteY33" fmla="*/ 566150 h 918356"/>
              <a:gd name="connsiteX34" fmla="*/ 2658055 w 9517857"/>
              <a:gd name="connsiteY34" fmla="*/ 578727 h 918356"/>
              <a:gd name="connsiteX35" fmla="*/ 2693698 w 9517857"/>
              <a:gd name="connsiteY35" fmla="*/ 560029 h 918356"/>
              <a:gd name="connsiteX36" fmla="*/ 2699673 w 9517857"/>
              <a:gd name="connsiteY36" fmla="*/ 556400 h 918356"/>
              <a:gd name="connsiteX37" fmla="*/ 2727306 w 9517857"/>
              <a:gd name="connsiteY37" fmla="*/ 550698 h 918356"/>
              <a:gd name="connsiteX38" fmla="*/ 2730451 w 9517857"/>
              <a:gd name="connsiteY38" fmla="*/ 538058 h 918356"/>
              <a:gd name="connsiteX39" fmla="*/ 2768713 w 9517857"/>
              <a:gd name="connsiteY39" fmla="*/ 521575 h 918356"/>
              <a:gd name="connsiteX40" fmla="*/ 2820868 w 9517857"/>
              <a:gd name="connsiteY40" fmla="*/ 514160 h 918356"/>
              <a:gd name="connsiteX41" fmla="*/ 3073635 w 9517857"/>
              <a:gd name="connsiteY41" fmla="*/ 491294 h 918356"/>
              <a:gd name="connsiteX42" fmla="*/ 3222071 w 9517857"/>
              <a:gd name="connsiteY42" fmla="*/ 470559 h 918356"/>
              <a:gd name="connsiteX43" fmla="*/ 3274069 w 9517857"/>
              <a:gd name="connsiteY43" fmla="*/ 451605 h 918356"/>
              <a:gd name="connsiteX44" fmla="*/ 3349632 w 9517857"/>
              <a:gd name="connsiteY44" fmla="*/ 432583 h 918356"/>
              <a:gd name="connsiteX45" fmla="*/ 3479593 w 9517857"/>
              <a:gd name="connsiteY45" fmla="*/ 390437 h 918356"/>
              <a:gd name="connsiteX46" fmla="*/ 3660110 w 9517857"/>
              <a:gd name="connsiteY46" fmla="*/ 348726 h 918356"/>
              <a:gd name="connsiteX47" fmla="*/ 3750023 w 9517857"/>
              <a:gd name="connsiteY47" fmla="*/ 370678 h 918356"/>
              <a:gd name="connsiteX48" fmla="*/ 3844133 w 9517857"/>
              <a:gd name="connsiteY48" fmla="*/ 360648 h 918356"/>
              <a:gd name="connsiteX49" fmla="*/ 3913545 w 9517857"/>
              <a:gd name="connsiteY49" fmla="*/ 344235 h 918356"/>
              <a:gd name="connsiteX50" fmla="*/ 4266740 w 9517857"/>
              <a:gd name="connsiteY50" fmla="*/ 361454 h 918356"/>
              <a:gd name="connsiteX51" fmla="*/ 4430770 w 9517857"/>
              <a:gd name="connsiteY51" fmla="*/ 342643 h 918356"/>
              <a:gd name="connsiteX52" fmla="*/ 4512664 w 9517857"/>
              <a:gd name="connsiteY52" fmla="*/ 319948 h 918356"/>
              <a:gd name="connsiteX53" fmla="*/ 4616423 w 9517857"/>
              <a:gd name="connsiteY53" fmla="*/ 290914 h 918356"/>
              <a:gd name="connsiteX54" fmla="*/ 4691675 w 9517857"/>
              <a:gd name="connsiteY54" fmla="*/ 254011 h 918356"/>
              <a:gd name="connsiteX55" fmla="*/ 4689051 w 9517857"/>
              <a:gd name="connsiteY55" fmla="*/ 250968 h 918356"/>
              <a:gd name="connsiteX56" fmla="*/ 4719994 w 9517857"/>
              <a:gd name="connsiteY56" fmla="*/ 245307 h 918356"/>
              <a:gd name="connsiteX57" fmla="*/ 4752894 w 9517857"/>
              <a:gd name="connsiteY57" fmla="*/ 239875 h 918356"/>
              <a:gd name="connsiteX58" fmla="*/ 4769329 w 9517857"/>
              <a:gd name="connsiteY58" fmla="*/ 233585 h 918356"/>
              <a:gd name="connsiteX59" fmla="*/ 4775634 w 9517857"/>
              <a:gd name="connsiteY59" fmla="*/ 234063 h 918356"/>
              <a:gd name="connsiteX60" fmla="*/ 4790452 w 9517857"/>
              <a:gd name="connsiteY60" fmla="*/ 233572 h 918356"/>
              <a:gd name="connsiteX61" fmla="*/ 4789062 w 9517857"/>
              <a:gd name="connsiteY61" fmla="*/ 241924 h 918356"/>
              <a:gd name="connsiteX62" fmla="*/ 4827826 w 9517857"/>
              <a:gd name="connsiteY62" fmla="*/ 246977 h 918356"/>
              <a:gd name="connsiteX63" fmla="*/ 4892569 w 9517857"/>
              <a:gd name="connsiteY63" fmla="*/ 249933 h 918356"/>
              <a:gd name="connsiteX64" fmla="*/ 4896611 w 9517857"/>
              <a:gd name="connsiteY64" fmla="*/ 240448 h 918356"/>
              <a:gd name="connsiteX65" fmla="*/ 4917286 w 9517857"/>
              <a:gd name="connsiteY65" fmla="*/ 243659 h 918356"/>
              <a:gd name="connsiteX66" fmla="*/ 4981173 w 9517857"/>
              <a:gd name="connsiteY66" fmla="*/ 247103 h 918356"/>
              <a:gd name="connsiteX67" fmla="*/ 5060397 w 9517857"/>
              <a:gd name="connsiteY67" fmla="*/ 263688 h 918356"/>
              <a:gd name="connsiteX68" fmla="*/ 5252996 w 9517857"/>
              <a:gd name="connsiteY68" fmla="*/ 270655 h 918356"/>
              <a:gd name="connsiteX69" fmla="*/ 5358056 w 9517857"/>
              <a:gd name="connsiteY69" fmla="*/ 247248 h 918356"/>
              <a:gd name="connsiteX70" fmla="*/ 5426496 w 9517857"/>
              <a:gd name="connsiteY70" fmla="*/ 235142 h 918356"/>
              <a:gd name="connsiteX71" fmla="*/ 5497161 w 9517857"/>
              <a:gd name="connsiteY71" fmla="*/ 228808 h 918356"/>
              <a:gd name="connsiteX72" fmla="*/ 5826043 w 9517857"/>
              <a:gd name="connsiteY72" fmla="*/ 148073 h 918356"/>
              <a:gd name="connsiteX73" fmla="*/ 6013415 w 9517857"/>
              <a:gd name="connsiteY73" fmla="*/ 137316 h 918356"/>
              <a:gd name="connsiteX74" fmla="*/ 6080994 w 9517857"/>
              <a:gd name="connsiteY74" fmla="*/ 142938 h 918356"/>
              <a:gd name="connsiteX75" fmla="*/ 6194152 w 9517857"/>
              <a:gd name="connsiteY75" fmla="*/ 151772 h 918356"/>
              <a:gd name="connsiteX76" fmla="*/ 6281379 w 9517857"/>
              <a:gd name="connsiteY76" fmla="*/ 181626 h 918356"/>
              <a:gd name="connsiteX77" fmla="*/ 6374947 w 9517857"/>
              <a:gd name="connsiteY77" fmla="*/ 179799 h 918356"/>
              <a:gd name="connsiteX78" fmla="*/ 6448518 w 9517857"/>
              <a:gd name="connsiteY78" fmla="*/ 164378 h 918356"/>
              <a:gd name="connsiteX79" fmla="*/ 6544700 w 9517857"/>
              <a:gd name="connsiteY79" fmla="*/ 167161 h 918356"/>
              <a:gd name="connsiteX80" fmla="*/ 6648353 w 9517857"/>
              <a:gd name="connsiteY80" fmla="*/ 172250 h 918356"/>
              <a:gd name="connsiteX81" fmla="*/ 6736227 w 9517857"/>
              <a:gd name="connsiteY81" fmla="*/ 173216 h 918356"/>
              <a:gd name="connsiteX82" fmla="*/ 6977218 w 9517857"/>
              <a:gd name="connsiteY82" fmla="*/ 184289 h 918356"/>
              <a:gd name="connsiteX83" fmla="*/ 7065221 w 9517857"/>
              <a:gd name="connsiteY83" fmla="*/ 227531 h 918356"/>
              <a:gd name="connsiteX84" fmla="*/ 7366876 w 9517857"/>
              <a:gd name="connsiteY84" fmla="*/ 248468 h 918356"/>
              <a:gd name="connsiteX85" fmla="*/ 7565449 w 9517857"/>
              <a:gd name="connsiteY85" fmla="*/ 258950 h 918356"/>
              <a:gd name="connsiteX86" fmla="*/ 7599285 w 9517857"/>
              <a:gd name="connsiteY86" fmla="*/ 266021 h 918356"/>
              <a:gd name="connsiteX87" fmla="*/ 7644411 w 9517857"/>
              <a:gd name="connsiteY87" fmla="*/ 258986 h 918356"/>
              <a:gd name="connsiteX88" fmla="*/ 7825110 w 9517857"/>
              <a:gd name="connsiteY88" fmla="*/ 229109 h 918356"/>
              <a:gd name="connsiteX89" fmla="*/ 7965804 w 9517857"/>
              <a:gd name="connsiteY89" fmla="*/ 190545 h 918356"/>
              <a:gd name="connsiteX90" fmla="*/ 8147401 w 9517857"/>
              <a:gd name="connsiteY90" fmla="*/ 205617 h 918356"/>
              <a:gd name="connsiteX91" fmla="*/ 8256033 w 9517857"/>
              <a:gd name="connsiteY91" fmla="*/ 193713 h 918356"/>
              <a:gd name="connsiteX92" fmla="*/ 8410677 w 9517857"/>
              <a:gd name="connsiteY92" fmla="*/ 172167 h 918356"/>
              <a:gd name="connsiteX93" fmla="*/ 8617841 w 9517857"/>
              <a:gd name="connsiteY93" fmla="*/ 155167 h 918356"/>
              <a:gd name="connsiteX94" fmla="*/ 8715976 w 9517857"/>
              <a:gd name="connsiteY94" fmla="*/ 178374 h 918356"/>
              <a:gd name="connsiteX95" fmla="*/ 8778827 w 9517857"/>
              <a:gd name="connsiteY95" fmla="*/ 172936 h 918356"/>
              <a:gd name="connsiteX96" fmla="*/ 8840778 w 9517857"/>
              <a:gd name="connsiteY96" fmla="*/ 143149 h 918356"/>
              <a:gd name="connsiteX97" fmla="*/ 9010380 w 9517857"/>
              <a:gd name="connsiteY97" fmla="*/ 91891 h 918356"/>
              <a:gd name="connsiteX98" fmla="*/ 9110856 w 9517857"/>
              <a:gd name="connsiteY98" fmla="*/ 70997 h 918356"/>
              <a:gd name="connsiteX99" fmla="*/ 9268817 w 9517857"/>
              <a:gd name="connsiteY99" fmla="*/ 53082 h 918356"/>
              <a:gd name="connsiteX100" fmla="*/ 9316667 w 9517857"/>
              <a:gd name="connsiteY100" fmla="*/ 45047 h 918356"/>
              <a:gd name="connsiteX101" fmla="*/ 9428209 w 9517857"/>
              <a:gd name="connsiteY101" fmla="*/ 29923 h 918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9517857" h="918356">
                <a:moveTo>
                  <a:pt x="4686423" y="247919"/>
                </a:moveTo>
                <a:lnTo>
                  <a:pt x="4689051" y="250968"/>
                </a:lnTo>
                <a:lnTo>
                  <a:pt x="4687244" y="251298"/>
                </a:lnTo>
                <a:close/>
                <a:moveTo>
                  <a:pt x="4685225" y="246530"/>
                </a:moveTo>
                <a:cubicBezTo>
                  <a:pt x="4688837" y="243198"/>
                  <a:pt x="4687468" y="244598"/>
                  <a:pt x="4686133" y="246727"/>
                </a:cubicBezTo>
                <a:lnTo>
                  <a:pt x="4686423" y="247919"/>
                </a:lnTo>
                <a:close/>
                <a:moveTo>
                  <a:pt x="9517856" y="0"/>
                </a:moveTo>
                <a:lnTo>
                  <a:pt x="9517857" y="12"/>
                </a:lnTo>
                <a:lnTo>
                  <a:pt x="9517857" y="918356"/>
                </a:lnTo>
                <a:lnTo>
                  <a:pt x="14604" y="918356"/>
                </a:lnTo>
                <a:lnTo>
                  <a:pt x="12841" y="917763"/>
                </a:lnTo>
                <a:cubicBezTo>
                  <a:pt x="4532" y="914864"/>
                  <a:pt x="-773" y="912807"/>
                  <a:pt x="93" y="912471"/>
                </a:cubicBezTo>
                <a:cubicBezTo>
                  <a:pt x="172" y="912298"/>
                  <a:pt x="58594" y="890495"/>
                  <a:pt x="58674" y="890322"/>
                </a:cubicBezTo>
                <a:cubicBezTo>
                  <a:pt x="127436" y="929614"/>
                  <a:pt x="206243" y="828226"/>
                  <a:pt x="275005" y="807229"/>
                </a:cubicBezTo>
                <a:cubicBezTo>
                  <a:pt x="303983" y="806087"/>
                  <a:pt x="504960" y="777375"/>
                  <a:pt x="587824" y="798195"/>
                </a:cubicBezTo>
                <a:cubicBezTo>
                  <a:pt x="598733" y="769348"/>
                  <a:pt x="682904" y="785924"/>
                  <a:pt x="651826" y="738338"/>
                </a:cubicBezTo>
                <a:cubicBezTo>
                  <a:pt x="688440" y="737862"/>
                  <a:pt x="753255" y="750396"/>
                  <a:pt x="727985" y="719826"/>
                </a:cubicBezTo>
                <a:cubicBezTo>
                  <a:pt x="739648" y="718749"/>
                  <a:pt x="775717" y="715087"/>
                  <a:pt x="778982" y="710142"/>
                </a:cubicBezTo>
                <a:cubicBezTo>
                  <a:pt x="779189" y="709407"/>
                  <a:pt x="849736" y="718721"/>
                  <a:pt x="849944" y="717987"/>
                </a:cubicBezTo>
                <a:lnTo>
                  <a:pt x="921659" y="712695"/>
                </a:lnTo>
                <a:lnTo>
                  <a:pt x="930946" y="734046"/>
                </a:lnTo>
                <a:lnTo>
                  <a:pt x="986250" y="713530"/>
                </a:lnTo>
                <a:lnTo>
                  <a:pt x="1013752" y="713361"/>
                </a:lnTo>
                <a:lnTo>
                  <a:pt x="1023734" y="718571"/>
                </a:lnTo>
                <a:cubicBezTo>
                  <a:pt x="1033291" y="721276"/>
                  <a:pt x="1045398" y="721394"/>
                  <a:pt x="1063207" y="715651"/>
                </a:cubicBezTo>
                <a:lnTo>
                  <a:pt x="1081980" y="738455"/>
                </a:lnTo>
                <a:lnTo>
                  <a:pt x="1218120" y="713280"/>
                </a:lnTo>
                <a:cubicBezTo>
                  <a:pt x="1230137" y="716162"/>
                  <a:pt x="1387179" y="685179"/>
                  <a:pt x="1397459" y="691190"/>
                </a:cubicBezTo>
                <a:cubicBezTo>
                  <a:pt x="1490025" y="704984"/>
                  <a:pt x="1465878" y="715604"/>
                  <a:pt x="1580688" y="693697"/>
                </a:cubicBezTo>
                <a:cubicBezTo>
                  <a:pt x="1607067" y="704379"/>
                  <a:pt x="1719477" y="658239"/>
                  <a:pt x="1772334" y="710640"/>
                </a:cubicBezTo>
                <a:cubicBezTo>
                  <a:pt x="1745536" y="644824"/>
                  <a:pt x="1976078" y="716436"/>
                  <a:pt x="2002561" y="659917"/>
                </a:cubicBezTo>
                <a:cubicBezTo>
                  <a:pt x="2045346" y="660357"/>
                  <a:pt x="2166676" y="654391"/>
                  <a:pt x="2135144" y="636501"/>
                </a:cubicBezTo>
                <a:cubicBezTo>
                  <a:pt x="2276591" y="665055"/>
                  <a:pt x="2293173" y="591792"/>
                  <a:pt x="2440292" y="593862"/>
                </a:cubicBezTo>
                <a:cubicBezTo>
                  <a:pt x="2495160" y="534824"/>
                  <a:pt x="2473343" y="585644"/>
                  <a:pt x="2547829" y="566150"/>
                </a:cubicBezTo>
                <a:cubicBezTo>
                  <a:pt x="2545438" y="614169"/>
                  <a:pt x="2632278" y="528280"/>
                  <a:pt x="2658055" y="578727"/>
                </a:cubicBezTo>
                <a:cubicBezTo>
                  <a:pt x="2670795" y="573581"/>
                  <a:pt x="2682322" y="567005"/>
                  <a:pt x="2693698" y="560029"/>
                </a:cubicBezTo>
                <a:lnTo>
                  <a:pt x="2699673" y="556400"/>
                </a:lnTo>
                <a:lnTo>
                  <a:pt x="2727306" y="550698"/>
                </a:lnTo>
                <a:lnTo>
                  <a:pt x="2730451" y="538058"/>
                </a:lnTo>
                <a:lnTo>
                  <a:pt x="2768713" y="521575"/>
                </a:lnTo>
                <a:cubicBezTo>
                  <a:pt x="2783756" y="517104"/>
                  <a:pt x="2800788" y="514291"/>
                  <a:pt x="2820868" y="514160"/>
                </a:cubicBezTo>
                <a:cubicBezTo>
                  <a:pt x="2894791" y="532885"/>
                  <a:pt x="2981506" y="465507"/>
                  <a:pt x="3073635" y="491294"/>
                </a:cubicBezTo>
                <a:cubicBezTo>
                  <a:pt x="3106872" y="496624"/>
                  <a:pt x="3205785" y="487718"/>
                  <a:pt x="3222071" y="470559"/>
                </a:cubicBezTo>
                <a:cubicBezTo>
                  <a:pt x="3242193" y="465514"/>
                  <a:pt x="3267163" y="469136"/>
                  <a:pt x="3274069" y="451605"/>
                </a:cubicBezTo>
                <a:cubicBezTo>
                  <a:pt x="3286659" y="430165"/>
                  <a:pt x="3363648" y="455571"/>
                  <a:pt x="3349632" y="432583"/>
                </a:cubicBezTo>
                <a:cubicBezTo>
                  <a:pt x="3404182" y="449847"/>
                  <a:pt x="3438210" y="404323"/>
                  <a:pt x="3479593" y="390437"/>
                </a:cubicBezTo>
                <a:cubicBezTo>
                  <a:pt x="3523240" y="408403"/>
                  <a:pt x="3567027" y="361554"/>
                  <a:pt x="3660110" y="348726"/>
                </a:cubicBezTo>
                <a:cubicBezTo>
                  <a:pt x="3708299" y="369683"/>
                  <a:pt x="3662447" y="344775"/>
                  <a:pt x="3750023" y="370678"/>
                </a:cubicBezTo>
                <a:cubicBezTo>
                  <a:pt x="3752092" y="367132"/>
                  <a:pt x="3816880" y="365055"/>
                  <a:pt x="3844133" y="360648"/>
                </a:cubicBezTo>
                <a:cubicBezTo>
                  <a:pt x="3871386" y="356240"/>
                  <a:pt x="3882848" y="332490"/>
                  <a:pt x="3913545" y="344235"/>
                </a:cubicBezTo>
                <a:cubicBezTo>
                  <a:pt x="4050255" y="376864"/>
                  <a:pt x="4159924" y="363190"/>
                  <a:pt x="4266740" y="361454"/>
                </a:cubicBezTo>
                <a:cubicBezTo>
                  <a:pt x="4385770" y="354374"/>
                  <a:pt x="4314535" y="340143"/>
                  <a:pt x="4430770" y="342643"/>
                </a:cubicBezTo>
                <a:cubicBezTo>
                  <a:pt x="4439969" y="322594"/>
                  <a:pt x="4478290" y="314645"/>
                  <a:pt x="4512664" y="319948"/>
                </a:cubicBezTo>
                <a:cubicBezTo>
                  <a:pt x="4570011" y="315138"/>
                  <a:pt x="4549085" y="269599"/>
                  <a:pt x="4616423" y="290914"/>
                </a:cubicBezTo>
                <a:cubicBezTo>
                  <a:pt x="4599641" y="270277"/>
                  <a:pt x="4692085" y="269216"/>
                  <a:pt x="4691675" y="254011"/>
                </a:cubicBezTo>
                <a:lnTo>
                  <a:pt x="4689051" y="250968"/>
                </a:lnTo>
                <a:lnTo>
                  <a:pt x="4719994" y="245307"/>
                </a:lnTo>
                <a:cubicBezTo>
                  <a:pt x="4732635" y="242775"/>
                  <a:pt x="4745300" y="240335"/>
                  <a:pt x="4752894" y="239875"/>
                </a:cubicBezTo>
                <a:lnTo>
                  <a:pt x="4769329" y="233585"/>
                </a:lnTo>
                <a:lnTo>
                  <a:pt x="4775634" y="234063"/>
                </a:lnTo>
                <a:lnTo>
                  <a:pt x="4790452" y="233572"/>
                </a:lnTo>
                <a:cubicBezTo>
                  <a:pt x="4789989" y="236356"/>
                  <a:pt x="4789525" y="239141"/>
                  <a:pt x="4789062" y="241924"/>
                </a:cubicBezTo>
                <a:cubicBezTo>
                  <a:pt x="4786342" y="249932"/>
                  <a:pt x="4804560" y="248631"/>
                  <a:pt x="4827826" y="246977"/>
                </a:cubicBezTo>
                <a:cubicBezTo>
                  <a:pt x="4875782" y="239569"/>
                  <a:pt x="4874112" y="283413"/>
                  <a:pt x="4892569" y="249933"/>
                </a:cubicBezTo>
                <a:lnTo>
                  <a:pt x="4896611" y="240448"/>
                </a:lnTo>
                <a:lnTo>
                  <a:pt x="4917286" y="243659"/>
                </a:lnTo>
                <a:cubicBezTo>
                  <a:pt x="4923060" y="243799"/>
                  <a:pt x="4981729" y="240979"/>
                  <a:pt x="4981173" y="247103"/>
                </a:cubicBezTo>
                <a:cubicBezTo>
                  <a:pt x="5024880" y="220690"/>
                  <a:pt x="5014146" y="257963"/>
                  <a:pt x="5060397" y="263688"/>
                </a:cubicBezTo>
                <a:cubicBezTo>
                  <a:pt x="5093356" y="238589"/>
                  <a:pt x="5157892" y="275351"/>
                  <a:pt x="5252996" y="270655"/>
                </a:cubicBezTo>
                <a:cubicBezTo>
                  <a:pt x="5288840" y="241872"/>
                  <a:pt x="5287005" y="287921"/>
                  <a:pt x="5358056" y="247248"/>
                </a:cubicBezTo>
                <a:cubicBezTo>
                  <a:pt x="5361752" y="250257"/>
                  <a:pt x="5403312" y="238215"/>
                  <a:pt x="5426496" y="235142"/>
                </a:cubicBezTo>
                <a:cubicBezTo>
                  <a:pt x="5449679" y="232069"/>
                  <a:pt x="5473549" y="245611"/>
                  <a:pt x="5497161" y="228808"/>
                </a:cubicBezTo>
                <a:cubicBezTo>
                  <a:pt x="5611861" y="172767"/>
                  <a:pt x="5723211" y="165860"/>
                  <a:pt x="5826043" y="148073"/>
                </a:cubicBezTo>
                <a:cubicBezTo>
                  <a:pt x="5943127" y="133166"/>
                  <a:pt x="5872659" y="193078"/>
                  <a:pt x="6013415" y="137316"/>
                </a:cubicBezTo>
                <a:cubicBezTo>
                  <a:pt x="6031924" y="154783"/>
                  <a:pt x="6050745" y="154258"/>
                  <a:pt x="6080994" y="142938"/>
                </a:cubicBezTo>
                <a:cubicBezTo>
                  <a:pt x="6138083" y="137090"/>
                  <a:pt x="6140195" y="184383"/>
                  <a:pt x="6194152" y="151772"/>
                </a:cubicBezTo>
                <a:cubicBezTo>
                  <a:pt x="6187280" y="177783"/>
                  <a:pt x="6304222" y="153410"/>
                  <a:pt x="6281379" y="181626"/>
                </a:cubicBezTo>
                <a:cubicBezTo>
                  <a:pt x="6321899" y="201819"/>
                  <a:pt x="6335111" y="162590"/>
                  <a:pt x="6374947" y="179799"/>
                </a:cubicBezTo>
                <a:cubicBezTo>
                  <a:pt x="6417404" y="181336"/>
                  <a:pt x="6402484" y="169694"/>
                  <a:pt x="6448518" y="164378"/>
                </a:cubicBezTo>
                <a:cubicBezTo>
                  <a:pt x="6504958" y="162488"/>
                  <a:pt x="6493438" y="111203"/>
                  <a:pt x="6544700" y="167161"/>
                </a:cubicBezTo>
                <a:cubicBezTo>
                  <a:pt x="6601507" y="148697"/>
                  <a:pt x="6566269" y="164386"/>
                  <a:pt x="6648353" y="172250"/>
                </a:cubicBezTo>
                <a:cubicBezTo>
                  <a:pt x="6680008" y="155223"/>
                  <a:pt x="6707960" y="160673"/>
                  <a:pt x="6736227" y="173216"/>
                </a:cubicBezTo>
                <a:cubicBezTo>
                  <a:pt x="6813963" y="164284"/>
                  <a:pt x="6888143" y="181296"/>
                  <a:pt x="6977218" y="184289"/>
                </a:cubicBezTo>
                <a:cubicBezTo>
                  <a:pt x="7040424" y="188318"/>
                  <a:pt x="7000278" y="216835"/>
                  <a:pt x="7065221" y="227531"/>
                </a:cubicBezTo>
                <a:cubicBezTo>
                  <a:pt x="7130163" y="238228"/>
                  <a:pt x="7291878" y="238208"/>
                  <a:pt x="7366876" y="248468"/>
                </a:cubicBezTo>
                <a:cubicBezTo>
                  <a:pt x="7491356" y="206752"/>
                  <a:pt x="7367734" y="280166"/>
                  <a:pt x="7565449" y="258950"/>
                </a:cubicBezTo>
                <a:cubicBezTo>
                  <a:pt x="7575959" y="252432"/>
                  <a:pt x="7600854" y="257628"/>
                  <a:pt x="7599285" y="266021"/>
                </a:cubicBezTo>
                <a:cubicBezTo>
                  <a:pt x="7611616" y="262940"/>
                  <a:pt x="7639946" y="245819"/>
                  <a:pt x="7644411" y="258986"/>
                </a:cubicBezTo>
                <a:cubicBezTo>
                  <a:pt x="7708015" y="258012"/>
                  <a:pt x="7770249" y="247724"/>
                  <a:pt x="7825110" y="229109"/>
                </a:cubicBezTo>
                <a:cubicBezTo>
                  <a:pt x="7949762" y="247028"/>
                  <a:pt x="7921956" y="197757"/>
                  <a:pt x="7965804" y="190545"/>
                </a:cubicBezTo>
                <a:cubicBezTo>
                  <a:pt x="8039439" y="213878"/>
                  <a:pt x="8063651" y="191475"/>
                  <a:pt x="8147401" y="205617"/>
                </a:cubicBezTo>
                <a:cubicBezTo>
                  <a:pt x="8166453" y="196610"/>
                  <a:pt x="8225048" y="207099"/>
                  <a:pt x="8256033" y="193713"/>
                </a:cubicBezTo>
                <a:cubicBezTo>
                  <a:pt x="8311388" y="242017"/>
                  <a:pt x="8350376" y="178592"/>
                  <a:pt x="8410677" y="172167"/>
                </a:cubicBezTo>
                <a:cubicBezTo>
                  <a:pt x="8470978" y="165743"/>
                  <a:pt x="8572470" y="206385"/>
                  <a:pt x="8617841" y="155167"/>
                </a:cubicBezTo>
                <a:cubicBezTo>
                  <a:pt x="8646050" y="160448"/>
                  <a:pt x="8664949" y="183631"/>
                  <a:pt x="8715976" y="178374"/>
                </a:cubicBezTo>
                <a:cubicBezTo>
                  <a:pt x="8737194" y="188216"/>
                  <a:pt x="8738009" y="189511"/>
                  <a:pt x="8778827" y="172936"/>
                </a:cubicBezTo>
                <a:cubicBezTo>
                  <a:pt x="8725277" y="146372"/>
                  <a:pt x="8850819" y="175612"/>
                  <a:pt x="8840778" y="143149"/>
                </a:cubicBezTo>
                <a:cubicBezTo>
                  <a:pt x="8903519" y="121096"/>
                  <a:pt x="9021861" y="150359"/>
                  <a:pt x="9010380" y="91891"/>
                </a:cubicBezTo>
                <a:cubicBezTo>
                  <a:pt x="9027103" y="56852"/>
                  <a:pt x="9112524" y="108357"/>
                  <a:pt x="9110856" y="70997"/>
                </a:cubicBezTo>
                <a:cubicBezTo>
                  <a:pt x="9148189" y="94250"/>
                  <a:pt x="9209809" y="53285"/>
                  <a:pt x="9268817" y="53082"/>
                </a:cubicBezTo>
                <a:cubicBezTo>
                  <a:pt x="9279135" y="35997"/>
                  <a:pt x="9292736" y="36520"/>
                  <a:pt x="9316667" y="45047"/>
                </a:cubicBezTo>
                <a:cubicBezTo>
                  <a:pt x="9352186" y="45862"/>
                  <a:pt x="9390008" y="39799"/>
                  <a:pt x="9428209" y="29923"/>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12A9AB6-F309-6ED5-6985-04F62DFF5B5A}"/>
            </a:ext>
          </a:extLst>
        </p:cNvPr>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8194F602-7884-B4A5-8D37-84BC2EDA36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23" name="Freeform: Shape 22">
            <a:extLst>
              <a:ext uri="{FF2B5EF4-FFF2-40B4-BE49-F238E27FC236}">
                <a16:creationId xmlns:a16="http://schemas.microsoft.com/office/drawing/2014/main" id="{38FBA938-C593-6604-AF1B-8DAE746A2B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9144000" cy="2295238"/>
          </a:xfrm>
          <a:custGeom>
            <a:avLst/>
            <a:gdLst>
              <a:gd name="connsiteX0" fmla="*/ 12160143 w 12192000"/>
              <a:gd name="connsiteY0" fmla="*/ 831692 h 2079137"/>
              <a:gd name="connsiteX1" fmla="*/ 12159112 w 12192000"/>
              <a:gd name="connsiteY1" fmla="*/ 833361 h 2079137"/>
              <a:gd name="connsiteX2" fmla="*/ 12158912 w 12192000"/>
              <a:gd name="connsiteY2" fmla="*/ 832430 h 2079137"/>
              <a:gd name="connsiteX3" fmla="*/ 0 w 12192000"/>
              <a:gd name="connsiteY3" fmla="*/ 0 h 2079137"/>
              <a:gd name="connsiteX4" fmla="*/ 12192000 w 12192000"/>
              <a:gd name="connsiteY4" fmla="*/ 0 h 2079137"/>
              <a:gd name="connsiteX5" fmla="*/ 12192000 w 12192000"/>
              <a:gd name="connsiteY5" fmla="*/ 558063 h 2079137"/>
              <a:gd name="connsiteX6" fmla="*/ 12189259 w 12192000"/>
              <a:gd name="connsiteY6" fmla="*/ 810508 h 2079137"/>
              <a:gd name="connsiteX7" fmla="*/ 12170847 w 12192000"/>
              <a:gd name="connsiteY7" fmla="*/ 825280 h 2079137"/>
              <a:gd name="connsiteX8" fmla="*/ 12160143 w 12192000"/>
              <a:gd name="connsiteY8" fmla="*/ 831692 h 2079137"/>
              <a:gd name="connsiteX9" fmla="*/ 12163806 w 12192000"/>
              <a:gd name="connsiteY9" fmla="*/ 825759 h 2079137"/>
              <a:gd name="connsiteX10" fmla="*/ 12056557 w 12192000"/>
              <a:gd name="connsiteY10" fmla="*/ 810176 h 2079137"/>
              <a:gd name="connsiteX11" fmla="*/ 11900316 w 12192000"/>
              <a:gd name="connsiteY11" fmla="*/ 789618 h 2079137"/>
              <a:gd name="connsiteX12" fmla="*/ 11791206 w 12192000"/>
              <a:gd name="connsiteY12" fmla="*/ 824176 h 2079137"/>
              <a:gd name="connsiteX13" fmla="*/ 11659257 w 12192000"/>
              <a:gd name="connsiteY13" fmla="*/ 800841 h 2079137"/>
              <a:gd name="connsiteX14" fmla="*/ 11569789 w 12192000"/>
              <a:gd name="connsiteY14" fmla="*/ 797135 h 2079137"/>
              <a:gd name="connsiteX15" fmla="*/ 11367885 w 12192000"/>
              <a:gd name="connsiteY15" fmla="*/ 791985 h 2079137"/>
              <a:gd name="connsiteX16" fmla="*/ 11174663 w 12192000"/>
              <a:gd name="connsiteY16" fmla="*/ 788721 h 2079137"/>
              <a:gd name="connsiteX17" fmla="*/ 11068220 w 12192000"/>
              <a:gd name="connsiteY17" fmla="*/ 786994 h 2079137"/>
              <a:gd name="connsiteX18" fmla="*/ 10893266 w 12192000"/>
              <a:gd name="connsiteY18" fmla="*/ 794013 h 2079137"/>
              <a:gd name="connsiteX19" fmla="*/ 10844025 w 12192000"/>
              <a:gd name="connsiteY19" fmla="*/ 789857 h 2079137"/>
              <a:gd name="connsiteX20" fmla="*/ 10814353 w 12192000"/>
              <a:gd name="connsiteY20" fmla="*/ 789010 h 2079137"/>
              <a:gd name="connsiteX21" fmla="*/ 10748393 w 12192000"/>
              <a:gd name="connsiteY21" fmla="*/ 806738 h 2079137"/>
              <a:gd name="connsiteX22" fmla="*/ 10468256 w 12192000"/>
              <a:gd name="connsiteY22" fmla="*/ 778733 h 2079137"/>
              <a:gd name="connsiteX23" fmla="*/ 10256131 w 12192000"/>
              <a:gd name="connsiteY23" fmla="*/ 788332 h 2079137"/>
              <a:gd name="connsiteX24" fmla="*/ 10177442 w 12192000"/>
              <a:gd name="connsiteY24" fmla="*/ 777371 h 2079137"/>
              <a:gd name="connsiteX25" fmla="*/ 10006086 w 12192000"/>
              <a:gd name="connsiteY25" fmla="*/ 792651 h 2079137"/>
              <a:gd name="connsiteX26" fmla="*/ 9952382 w 12192000"/>
              <a:gd name="connsiteY26" fmla="*/ 815411 h 2079137"/>
              <a:gd name="connsiteX27" fmla="*/ 9926457 w 12192000"/>
              <a:gd name="connsiteY27" fmla="*/ 827295 h 2079137"/>
              <a:gd name="connsiteX28" fmla="*/ 9843405 w 12192000"/>
              <a:gd name="connsiteY28" fmla="*/ 867046 h 2079137"/>
              <a:gd name="connsiteX29" fmla="*/ 9830866 w 12192000"/>
              <a:gd name="connsiteY29" fmla="*/ 875047 h 2079137"/>
              <a:gd name="connsiteX30" fmla="*/ 9801807 w 12192000"/>
              <a:gd name="connsiteY30" fmla="*/ 872272 h 2079137"/>
              <a:gd name="connsiteX31" fmla="*/ 9785653 w 12192000"/>
              <a:gd name="connsiteY31" fmla="*/ 861743 h 2079137"/>
              <a:gd name="connsiteX32" fmla="*/ 9781177 w 12192000"/>
              <a:gd name="connsiteY32" fmla="*/ 864820 h 2079137"/>
              <a:gd name="connsiteX33" fmla="*/ 9768640 w 12192000"/>
              <a:gd name="connsiteY33" fmla="*/ 869379 h 2079137"/>
              <a:gd name="connsiteX34" fmla="*/ 9712211 w 12192000"/>
              <a:gd name="connsiteY34" fmla="*/ 900283 h 2079137"/>
              <a:gd name="connsiteX35" fmla="*/ 9689465 w 12192000"/>
              <a:gd name="connsiteY35" fmla="*/ 899268 h 2079137"/>
              <a:gd name="connsiteX36" fmla="*/ 9600339 w 12192000"/>
              <a:gd name="connsiteY36" fmla="*/ 922112 h 2079137"/>
              <a:gd name="connsiteX37" fmla="*/ 9582850 w 12192000"/>
              <a:gd name="connsiteY37" fmla="*/ 925510 h 2079137"/>
              <a:gd name="connsiteX38" fmla="*/ 9549638 w 12192000"/>
              <a:gd name="connsiteY38" fmla="*/ 940845 h 2079137"/>
              <a:gd name="connsiteX39" fmla="*/ 9539471 w 12192000"/>
              <a:gd name="connsiteY39" fmla="*/ 941799 h 2079137"/>
              <a:gd name="connsiteX40" fmla="*/ 9505592 w 12192000"/>
              <a:gd name="connsiteY40" fmla="*/ 955533 h 2079137"/>
              <a:gd name="connsiteX41" fmla="*/ 9432569 w 12192000"/>
              <a:gd name="connsiteY41" fmla="*/ 985377 h 2079137"/>
              <a:gd name="connsiteX42" fmla="*/ 9414216 w 12192000"/>
              <a:gd name="connsiteY42" fmla="*/ 992655 h 2079137"/>
              <a:gd name="connsiteX43" fmla="*/ 9397106 w 12192000"/>
              <a:gd name="connsiteY43" fmla="*/ 992980 h 2079137"/>
              <a:gd name="connsiteX44" fmla="*/ 9305108 w 12192000"/>
              <a:gd name="connsiteY44" fmla="*/ 1007767 h 2079137"/>
              <a:gd name="connsiteX45" fmla="*/ 9282434 w 12192000"/>
              <a:gd name="connsiteY45" fmla="*/ 1007523 h 2079137"/>
              <a:gd name="connsiteX46" fmla="*/ 9271941 w 12192000"/>
              <a:gd name="connsiteY46" fmla="*/ 1002839 h 2079137"/>
              <a:gd name="connsiteX47" fmla="*/ 9238227 w 12192000"/>
              <a:gd name="connsiteY47" fmla="*/ 1017668 h 2079137"/>
              <a:gd name="connsiteX48" fmla="*/ 9184265 w 12192000"/>
              <a:gd name="connsiteY48" fmla="*/ 1031275 h 2079137"/>
              <a:gd name="connsiteX49" fmla="*/ 9159000 w 12192000"/>
              <a:gd name="connsiteY49" fmla="*/ 1039569 h 2079137"/>
              <a:gd name="connsiteX50" fmla="*/ 9137031 w 12192000"/>
              <a:gd name="connsiteY50" fmla="*/ 1038699 h 2079137"/>
              <a:gd name="connsiteX51" fmla="*/ 9015702 w 12192000"/>
              <a:gd name="connsiteY51" fmla="*/ 1051400 h 2079137"/>
              <a:gd name="connsiteX52" fmla="*/ 8971403 w 12192000"/>
              <a:gd name="connsiteY52" fmla="*/ 1040542 h 2079137"/>
              <a:gd name="connsiteX53" fmla="*/ 8961826 w 12192000"/>
              <a:gd name="connsiteY53" fmla="*/ 1045364 h 2079137"/>
              <a:gd name="connsiteX54" fmla="*/ 8888623 w 12192000"/>
              <a:gd name="connsiteY54" fmla="*/ 1053908 h 2079137"/>
              <a:gd name="connsiteX55" fmla="*/ 8841066 w 12192000"/>
              <a:gd name="connsiteY55" fmla="*/ 1060421 h 2079137"/>
              <a:gd name="connsiteX56" fmla="*/ 8752342 w 12192000"/>
              <a:gd name="connsiteY56" fmla="*/ 1080646 h 2079137"/>
              <a:gd name="connsiteX57" fmla="*/ 8699139 w 12192000"/>
              <a:gd name="connsiteY57" fmla="*/ 1087885 h 2079137"/>
              <a:gd name="connsiteX58" fmla="*/ 8667273 w 12192000"/>
              <a:gd name="connsiteY58" fmla="*/ 1092062 h 2079137"/>
              <a:gd name="connsiteX59" fmla="*/ 8586064 w 12192000"/>
              <a:gd name="connsiteY59" fmla="*/ 1114603 h 2079137"/>
              <a:gd name="connsiteX60" fmla="*/ 8460312 w 12192000"/>
              <a:gd name="connsiteY60" fmla="*/ 1179878 h 2079137"/>
              <a:gd name="connsiteX61" fmla="*/ 8419023 w 12192000"/>
              <a:gd name="connsiteY61" fmla="*/ 1191748 h 2079137"/>
              <a:gd name="connsiteX62" fmla="*/ 8410939 w 12192000"/>
              <a:gd name="connsiteY62" fmla="*/ 1189696 h 2079137"/>
              <a:gd name="connsiteX63" fmla="*/ 8362040 w 12192000"/>
              <a:gd name="connsiteY63" fmla="*/ 1220820 h 2079137"/>
              <a:gd name="connsiteX64" fmla="*/ 8273677 w 12192000"/>
              <a:gd name="connsiteY64" fmla="*/ 1236495 h 2079137"/>
              <a:gd name="connsiteX65" fmla="*/ 8204283 w 12192000"/>
              <a:gd name="connsiteY65" fmla="*/ 1243537 h 2079137"/>
              <a:gd name="connsiteX66" fmla="*/ 8166550 w 12192000"/>
              <a:gd name="connsiteY66" fmla="*/ 1249551 h 2079137"/>
              <a:gd name="connsiteX67" fmla="*/ 8137785 w 12192000"/>
              <a:gd name="connsiteY67" fmla="*/ 1251636 h 2079137"/>
              <a:gd name="connsiteX68" fmla="*/ 8071596 w 12192000"/>
              <a:gd name="connsiteY68" fmla="*/ 1269274 h 2079137"/>
              <a:gd name="connsiteX69" fmla="*/ 7964816 w 12192000"/>
              <a:gd name="connsiteY69" fmla="*/ 1303668 h 2079137"/>
              <a:gd name="connsiteX70" fmla="*/ 7941495 w 12192000"/>
              <a:gd name="connsiteY70" fmla="*/ 1309821 h 2079137"/>
              <a:gd name="connsiteX71" fmla="*/ 7919123 w 12192000"/>
              <a:gd name="connsiteY71" fmla="*/ 1310466 h 2079137"/>
              <a:gd name="connsiteX72" fmla="*/ 7911902 w 12192000"/>
              <a:gd name="connsiteY72" fmla="*/ 1306569 h 2079137"/>
              <a:gd name="connsiteX73" fmla="*/ 7898703 w 12192000"/>
              <a:gd name="connsiteY73" fmla="*/ 1309208 h 2079137"/>
              <a:gd name="connsiteX74" fmla="*/ 7894703 w 12192000"/>
              <a:gd name="connsiteY74" fmla="*/ 1308939 h 2079137"/>
              <a:gd name="connsiteX75" fmla="*/ 7872267 w 12192000"/>
              <a:gd name="connsiteY75" fmla="*/ 1308370 h 2079137"/>
              <a:gd name="connsiteX76" fmla="*/ 7836454 w 12192000"/>
              <a:gd name="connsiteY76" fmla="*/ 1331265 h 2079137"/>
              <a:gd name="connsiteX77" fmla="*/ 7782451 w 12192000"/>
              <a:gd name="connsiteY77" fmla="*/ 1339601 h 2079137"/>
              <a:gd name="connsiteX78" fmla="*/ 7542969 w 12192000"/>
              <a:gd name="connsiteY78" fmla="*/ 1372495 h 2079137"/>
              <a:gd name="connsiteX79" fmla="*/ 7476832 w 12192000"/>
              <a:gd name="connsiteY79" fmla="*/ 1431655 h 2079137"/>
              <a:gd name="connsiteX80" fmla="*/ 7370237 w 12192000"/>
              <a:gd name="connsiteY80" fmla="*/ 1474339 h 2079137"/>
              <a:gd name="connsiteX81" fmla="*/ 7222223 w 12192000"/>
              <a:gd name="connsiteY81" fmla="*/ 1510199 h 2079137"/>
              <a:gd name="connsiteX82" fmla="*/ 7215703 w 12192000"/>
              <a:gd name="connsiteY82" fmla="*/ 1520424 h 2079137"/>
              <a:gd name="connsiteX83" fmla="*/ 7204548 w 12192000"/>
              <a:gd name="connsiteY83" fmla="*/ 1528145 h 2079137"/>
              <a:gd name="connsiteX84" fmla="*/ 7202038 w 12192000"/>
              <a:gd name="connsiteY84" fmla="*/ 1527954 h 2079137"/>
              <a:gd name="connsiteX85" fmla="*/ 7173860 w 12192000"/>
              <a:gd name="connsiteY85" fmla="*/ 1541605 h 2079137"/>
              <a:gd name="connsiteX86" fmla="*/ 7155079 w 12192000"/>
              <a:gd name="connsiteY86" fmla="*/ 1552495 h 2079137"/>
              <a:gd name="connsiteX87" fmla="*/ 7149757 w 12192000"/>
              <a:gd name="connsiteY87" fmla="*/ 1552732 h 2079137"/>
              <a:gd name="connsiteX88" fmla="*/ 7104804 w 12192000"/>
              <a:gd name="connsiteY88" fmla="*/ 1565792 h 2079137"/>
              <a:gd name="connsiteX89" fmla="*/ 7082824 w 12192000"/>
              <a:gd name="connsiteY89" fmla="*/ 1567947 h 2079137"/>
              <a:gd name="connsiteX90" fmla="*/ 7021520 w 12192000"/>
              <a:gd name="connsiteY90" fmla="*/ 1562334 h 2079137"/>
              <a:gd name="connsiteX91" fmla="*/ 6988956 w 12192000"/>
              <a:gd name="connsiteY91" fmla="*/ 1576442 h 2079137"/>
              <a:gd name="connsiteX92" fmla="*/ 6981922 w 12192000"/>
              <a:gd name="connsiteY92" fmla="*/ 1578821 h 2079137"/>
              <a:gd name="connsiteX93" fmla="*/ 6981583 w 12192000"/>
              <a:gd name="connsiteY93" fmla="*/ 1578678 h 2079137"/>
              <a:gd name="connsiteX94" fmla="*/ 6973762 w 12192000"/>
              <a:gd name="connsiteY94" fmla="*/ 1580811 h 2079137"/>
              <a:gd name="connsiteX95" fmla="*/ 6969093 w 12192000"/>
              <a:gd name="connsiteY95" fmla="*/ 1583157 h 2079137"/>
              <a:gd name="connsiteX96" fmla="*/ 6890037 w 12192000"/>
              <a:gd name="connsiteY96" fmla="*/ 1575825 h 2079137"/>
              <a:gd name="connsiteX97" fmla="*/ 6785054 w 12192000"/>
              <a:gd name="connsiteY97" fmla="*/ 1582200 h 2079137"/>
              <a:gd name="connsiteX98" fmla="*/ 6681692 w 12192000"/>
              <a:gd name="connsiteY98" fmla="*/ 1591296 h 2079137"/>
              <a:gd name="connsiteX99" fmla="*/ 6644556 w 12192000"/>
              <a:gd name="connsiteY99" fmla="*/ 1595940 h 2079137"/>
              <a:gd name="connsiteX100" fmla="*/ 6577106 w 12192000"/>
              <a:gd name="connsiteY100" fmla="*/ 1598261 h 2079137"/>
              <a:gd name="connsiteX101" fmla="*/ 6544183 w 12192000"/>
              <a:gd name="connsiteY101" fmla="*/ 1596149 h 2079137"/>
              <a:gd name="connsiteX102" fmla="*/ 6540921 w 12192000"/>
              <a:gd name="connsiteY102" fmla="*/ 1593857 h 2079137"/>
              <a:gd name="connsiteX103" fmla="*/ 6535046 w 12192000"/>
              <a:gd name="connsiteY103" fmla="*/ 1593283 h 2079137"/>
              <a:gd name="connsiteX104" fmla="*/ 6519853 w 12192000"/>
              <a:gd name="connsiteY104" fmla="*/ 1595771 h 2079137"/>
              <a:gd name="connsiteX105" fmla="*/ 6514280 w 12192000"/>
              <a:gd name="connsiteY105" fmla="*/ 1597376 h 2079137"/>
              <a:gd name="connsiteX106" fmla="*/ 6505824 w 12192000"/>
              <a:gd name="connsiteY106" fmla="*/ 1598298 h 2079137"/>
              <a:gd name="connsiteX107" fmla="*/ 6505573 w 12192000"/>
              <a:gd name="connsiteY107" fmla="*/ 1598109 h 2079137"/>
              <a:gd name="connsiteX108" fmla="*/ 6497741 w 12192000"/>
              <a:gd name="connsiteY108" fmla="*/ 1599392 h 2079137"/>
              <a:gd name="connsiteX109" fmla="*/ 6459992 w 12192000"/>
              <a:gd name="connsiteY109" fmla="*/ 1608358 h 2079137"/>
              <a:gd name="connsiteX110" fmla="*/ 6404572 w 12192000"/>
              <a:gd name="connsiteY110" fmla="*/ 1593771 h 2079137"/>
              <a:gd name="connsiteX111" fmla="*/ 6382671 w 12192000"/>
              <a:gd name="connsiteY111" fmla="*/ 1592612 h 2079137"/>
              <a:gd name="connsiteX112" fmla="*/ 6369843 w 12192000"/>
              <a:gd name="connsiteY112" fmla="*/ 1590015 h 2079137"/>
              <a:gd name="connsiteX113" fmla="*/ 6269740 w 12192000"/>
              <a:gd name="connsiteY113" fmla="*/ 1614633 h 2079137"/>
              <a:gd name="connsiteX114" fmla="*/ 6255405 w 12192000"/>
              <a:gd name="connsiteY114" fmla="*/ 1620529 h 2079137"/>
              <a:gd name="connsiteX115" fmla="*/ 6244248 w 12192000"/>
              <a:gd name="connsiteY115" fmla="*/ 1629561 h 2079137"/>
              <a:gd name="connsiteX116" fmla="*/ 6086396 w 12192000"/>
              <a:gd name="connsiteY116" fmla="*/ 1642666 h 2079137"/>
              <a:gd name="connsiteX117" fmla="*/ 5867429 w 12192000"/>
              <a:gd name="connsiteY117" fmla="*/ 1695554 h 2079137"/>
              <a:gd name="connsiteX118" fmla="*/ 5772864 w 12192000"/>
              <a:gd name="connsiteY118" fmla="*/ 1689002 h 2079137"/>
              <a:gd name="connsiteX119" fmla="*/ 5629833 w 12192000"/>
              <a:gd name="connsiteY119" fmla="*/ 1713273 h 2079137"/>
              <a:gd name="connsiteX120" fmla="*/ 5504771 w 12192000"/>
              <a:gd name="connsiteY120" fmla="*/ 1725744 h 2079137"/>
              <a:gd name="connsiteX121" fmla="*/ 5490967 w 12192000"/>
              <a:gd name="connsiteY121" fmla="*/ 1726367 h 2079137"/>
              <a:gd name="connsiteX122" fmla="*/ 5486015 w 12192000"/>
              <a:gd name="connsiteY122" fmla="*/ 1721481 h 2079137"/>
              <a:gd name="connsiteX123" fmla="*/ 5439364 w 12192000"/>
              <a:gd name="connsiteY123" fmla="*/ 1721349 h 2079137"/>
              <a:gd name="connsiteX124" fmla="*/ 5350025 w 12192000"/>
              <a:gd name="connsiteY124" fmla="*/ 1729885 h 2079137"/>
              <a:gd name="connsiteX125" fmla="*/ 5336104 w 12192000"/>
              <a:gd name="connsiteY125" fmla="*/ 1734377 h 2079137"/>
              <a:gd name="connsiteX126" fmla="*/ 5245234 w 12192000"/>
              <a:gd name="connsiteY126" fmla="*/ 1738520 h 2079137"/>
              <a:gd name="connsiteX127" fmla="*/ 5182955 w 12192000"/>
              <a:gd name="connsiteY127" fmla="*/ 1744622 h 2079137"/>
              <a:gd name="connsiteX128" fmla="*/ 5169506 w 12192000"/>
              <a:gd name="connsiteY128" fmla="*/ 1748993 h 2079137"/>
              <a:gd name="connsiteX129" fmla="*/ 5154299 w 12192000"/>
              <a:gd name="connsiteY129" fmla="*/ 1744080 h 2079137"/>
              <a:gd name="connsiteX130" fmla="*/ 5149917 w 12192000"/>
              <a:gd name="connsiteY130" fmla="*/ 1739727 h 2079137"/>
              <a:gd name="connsiteX131" fmla="*/ 5100319 w 12192000"/>
              <a:gd name="connsiteY131" fmla="*/ 1745797 h 2079137"/>
              <a:gd name="connsiteX132" fmla="*/ 5094361 w 12192000"/>
              <a:gd name="connsiteY132" fmla="*/ 1745767 h 2079137"/>
              <a:gd name="connsiteX133" fmla="*/ 5053410 w 12192000"/>
              <a:gd name="connsiteY133" fmla="*/ 1742790 h 2079137"/>
              <a:gd name="connsiteX134" fmla="*/ 4992711 w 12192000"/>
              <a:gd name="connsiteY134" fmla="*/ 1734075 h 2079137"/>
              <a:gd name="connsiteX135" fmla="*/ 4930098 w 12192000"/>
              <a:gd name="connsiteY135" fmla="*/ 1717312 h 2079137"/>
              <a:gd name="connsiteX136" fmla="*/ 4893834 w 12192000"/>
              <a:gd name="connsiteY136" fmla="*/ 1710028 h 2079137"/>
              <a:gd name="connsiteX137" fmla="*/ 4868730 w 12192000"/>
              <a:gd name="connsiteY137" fmla="*/ 1702384 h 2079137"/>
              <a:gd name="connsiteX138" fmla="*/ 4797925 w 12192000"/>
              <a:gd name="connsiteY138" fmla="*/ 1695535 h 2079137"/>
              <a:gd name="connsiteX139" fmla="*/ 4677670 w 12192000"/>
              <a:gd name="connsiteY139" fmla="*/ 1689453 h 2079137"/>
              <a:gd name="connsiteX140" fmla="*/ 4634248 w 12192000"/>
              <a:gd name="connsiteY140" fmla="*/ 1680227 h 2079137"/>
              <a:gd name="connsiteX141" fmla="*/ 4632434 w 12192000"/>
              <a:gd name="connsiteY141" fmla="*/ 1674607 h 2079137"/>
              <a:gd name="connsiteX142" fmla="*/ 4619204 w 12192000"/>
              <a:gd name="connsiteY142" fmla="*/ 1672507 h 2079137"/>
              <a:gd name="connsiteX143" fmla="*/ 4616283 w 12192000"/>
              <a:gd name="connsiteY143" fmla="*/ 1670977 h 2079137"/>
              <a:gd name="connsiteX144" fmla="*/ 4598926 w 12192000"/>
              <a:gd name="connsiteY144" fmla="*/ 1663178 h 2079137"/>
              <a:gd name="connsiteX145" fmla="*/ 4547069 w 12192000"/>
              <a:gd name="connsiteY145" fmla="*/ 1670642 h 2079137"/>
              <a:gd name="connsiteX146" fmla="*/ 4523516 w 12192000"/>
              <a:gd name="connsiteY146" fmla="*/ 1669785 h 2079137"/>
              <a:gd name="connsiteX147" fmla="*/ 4500586 w 12192000"/>
              <a:gd name="connsiteY147" fmla="*/ 1675912 h 2079137"/>
              <a:gd name="connsiteX148" fmla="*/ 4488196 w 12192000"/>
              <a:gd name="connsiteY148" fmla="*/ 1683463 h 2079137"/>
              <a:gd name="connsiteX149" fmla="*/ 4445463 w 12192000"/>
              <a:gd name="connsiteY149" fmla="*/ 1695634 h 2079137"/>
              <a:gd name="connsiteX150" fmla="*/ 4446550 w 12192000"/>
              <a:gd name="connsiteY150" fmla="*/ 1680538 h 2079137"/>
              <a:gd name="connsiteX151" fmla="*/ 4365375 w 12192000"/>
              <a:gd name="connsiteY151" fmla="*/ 1697935 h 2079137"/>
              <a:gd name="connsiteX152" fmla="*/ 4305123 w 12192000"/>
              <a:gd name="connsiteY152" fmla="*/ 1714185 h 2079137"/>
              <a:gd name="connsiteX153" fmla="*/ 4292665 w 12192000"/>
              <a:gd name="connsiteY153" fmla="*/ 1720703 h 2079137"/>
              <a:gd name="connsiteX154" fmla="*/ 4276789 w 12192000"/>
              <a:gd name="connsiteY154" fmla="*/ 1718367 h 2079137"/>
              <a:gd name="connsiteX155" fmla="*/ 4271683 w 12192000"/>
              <a:gd name="connsiteY155" fmla="*/ 1714801 h 2079137"/>
              <a:gd name="connsiteX156" fmla="*/ 4223918 w 12192000"/>
              <a:gd name="connsiteY156" fmla="*/ 1728936 h 2079137"/>
              <a:gd name="connsiteX157" fmla="*/ 4218039 w 12192000"/>
              <a:gd name="connsiteY157" fmla="*/ 1729885 h 2079137"/>
              <a:gd name="connsiteX158" fmla="*/ 4177153 w 12192000"/>
              <a:gd name="connsiteY158" fmla="*/ 1733691 h 2079137"/>
              <a:gd name="connsiteX159" fmla="*/ 4051032 w 12192000"/>
              <a:gd name="connsiteY159" fmla="*/ 1728886 h 2079137"/>
              <a:gd name="connsiteX160" fmla="*/ 4013978 w 12192000"/>
              <a:gd name="connsiteY160" fmla="*/ 1727679 h 2079137"/>
              <a:gd name="connsiteX161" fmla="*/ 3987857 w 12192000"/>
              <a:gd name="connsiteY161" fmla="*/ 1724282 h 2079137"/>
              <a:gd name="connsiteX162" fmla="*/ 3916852 w 12192000"/>
              <a:gd name="connsiteY162" fmla="*/ 1729184 h 2079137"/>
              <a:gd name="connsiteX163" fmla="*/ 3797263 w 12192000"/>
              <a:gd name="connsiteY163" fmla="*/ 1742976 h 2079137"/>
              <a:gd name="connsiteX164" fmla="*/ 3752806 w 12192000"/>
              <a:gd name="connsiteY164" fmla="*/ 1741033 h 2079137"/>
              <a:gd name="connsiteX165" fmla="*/ 3749997 w 12192000"/>
              <a:gd name="connsiteY165" fmla="*/ 1735799 h 2079137"/>
              <a:gd name="connsiteX166" fmla="*/ 3736582 w 12192000"/>
              <a:gd name="connsiteY166" fmla="*/ 1735907 h 2079137"/>
              <a:gd name="connsiteX167" fmla="*/ 3733428 w 12192000"/>
              <a:gd name="connsiteY167" fmla="*/ 1734881 h 2079137"/>
              <a:gd name="connsiteX168" fmla="*/ 3714911 w 12192000"/>
              <a:gd name="connsiteY168" fmla="*/ 1730056 h 2079137"/>
              <a:gd name="connsiteX169" fmla="*/ 3665172 w 12192000"/>
              <a:gd name="connsiteY169" fmla="*/ 1745936 h 2079137"/>
              <a:gd name="connsiteX170" fmla="*/ 3552006 w 12192000"/>
              <a:gd name="connsiteY170" fmla="*/ 1755220 h 2079137"/>
              <a:gd name="connsiteX171" fmla="*/ 3390301 w 12192000"/>
              <a:gd name="connsiteY171" fmla="*/ 1762546 h 2079137"/>
              <a:gd name="connsiteX172" fmla="*/ 3264312 w 12192000"/>
              <a:gd name="connsiteY172" fmla="*/ 1774620 h 2079137"/>
              <a:gd name="connsiteX173" fmla="*/ 3106901 w 12192000"/>
              <a:gd name="connsiteY173" fmla="*/ 1804264 h 2079137"/>
              <a:gd name="connsiteX174" fmla="*/ 2993303 w 12192000"/>
              <a:gd name="connsiteY174" fmla="*/ 1806542 h 2079137"/>
              <a:gd name="connsiteX175" fmla="*/ 2979115 w 12192000"/>
              <a:gd name="connsiteY175" fmla="*/ 1815432 h 2079137"/>
              <a:gd name="connsiteX176" fmla="*/ 2963118 w 12192000"/>
              <a:gd name="connsiteY176" fmla="*/ 1820962 h 2079137"/>
              <a:gd name="connsiteX177" fmla="*/ 2961156 w 12192000"/>
              <a:gd name="connsiteY177" fmla="*/ 1820297 h 2079137"/>
              <a:gd name="connsiteX178" fmla="*/ 2925719 w 12192000"/>
              <a:gd name="connsiteY178" fmla="*/ 1828468 h 2079137"/>
              <a:gd name="connsiteX179" fmla="*/ 2857951 w 12192000"/>
              <a:gd name="connsiteY179" fmla="*/ 1842496 h 2079137"/>
              <a:gd name="connsiteX180" fmla="*/ 2857427 w 12192000"/>
              <a:gd name="connsiteY180" fmla="*/ 1841591 h 2079137"/>
              <a:gd name="connsiteX181" fmla="*/ 2846731 w 12192000"/>
              <a:gd name="connsiteY181" fmla="*/ 1839316 h 2079137"/>
              <a:gd name="connsiteX182" fmla="*/ 2826290 w 12192000"/>
              <a:gd name="connsiteY182" fmla="*/ 1837274 h 2079137"/>
              <a:gd name="connsiteX183" fmla="*/ 2779146 w 12192000"/>
              <a:gd name="connsiteY183" fmla="*/ 1820071 h 2079137"/>
              <a:gd name="connsiteX184" fmla="*/ 2739608 w 12192000"/>
              <a:gd name="connsiteY184" fmla="*/ 1827861 h 2079137"/>
              <a:gd name="connsiteX185" fmla="*/ 2731631 w 12192000"/>
              <a:gd name="connsiteY185" fmla="*/ 1828881 h 2079137"/>
              <a:gd name="connsiteX186" fmla="*/ 2731464 w 12192000"/>
              <a:gd name="connsiteY186" fmla="*/ 1828677 h 2079137"/>
              <a:gd name="connsiteX187" fmla="*/ 2723037 w 12192000"/>
              <a:gd name="connsiteY187" fmla="*/ 1829303 h 2079137"/>
              <a:gd name="connsiteX188" fmla="*/ 2701616 w 12192000"/>
              <a:gd name="connsiteY188" fmla="*/ 1832725 h 2079137"/>
              <a:gd name="connsiteX189" fmla="*/ 2696239 w 12192000"/>
              <a:gd name="connsiteY189" fmla="*/ 1831904 h 2079137"/>
              <a:gd name="connsiteX190" fmla="*/ 2663445 w 12192000"/>
              <a:gd name="connsiteY190" fmla="*/ 1825958 h 2079137"/>
              <a:gd name="connsiteX191" fmla="*/ 2560925 w 12192000"/>
              <a:gd name="connsiteY191" fmla="*/ 1829094 h 2079137"/>
              <a:gd name="connsiteX192" fmla="*/ 2458739 w 12192000"/>
              <a:gd name="connsiteY192" fmla="*/ 1834479 h 2079137"/>
              <a:gd name="connsiteX193" fmla="*/ 2356074 w 12192000"/>
              <a:gd name="connsiteY193" fmla="*/ 1836991 h 2079137"/>
              <a:gd name="connsiteX194" fmla="*/ 2304241 w 12192000"/>
              <a:gd name="connsiteY194" fmla="*/ 1822021 h 2079137"/>
              <a:gd name="connsiteX195" fmla="*/ 2298362 w 12192000"/>
              <a:gd name="connsiteY195" fmla="*/ 1822125 h 2079137"/>
              <a:gd name="connsiteX196" fmla="*/ 2283527 w 12192000"/>
              <a:gd name="connsiteY196" fmla="*/ 1826361 h 2079137"/>
              <a:gd name="connsiteX197" fmla="*/ 2278150 w 12192000"/>
              <a:gd name="connsiteY197" fmla="*/ 1828604 h 2079137"/>
              <a:gd name="connsiteX198" fmla="*/ 2269853 w 12192000"/>
              <a:gd name="connsiteY198" fmla="*/ 1830502 h 2079137"/>
              <a:gd name="connsiteX199" fmla="*/ 2269585 w 12192000"/>
              <a:gd name="connsiteY199" fmla="*/ 1830341 h 2079137"/>
              <a:gd name="connsiteX200" fmla="*/ 2225332 w 12192000"/>
              <a:gd name="connsiteY200" fmla="*/ 1845825 h 2079137"/>
              <a:gd name="connsiteX201" fmla="*/ 2169048 w 12192000"/>
              <a:gd name="connsiteY201" fmla="*/ 1837658 h 2079137"/>
              <a:gd name="connsiteX202" fmla="*/ 2147231 w 12192000"/>
              <a:gd name="connsiteY202" fmla="*/ 1839027 h 2079137"/>
              <a:gd name="connsiteX203" fmla="*/ 2135241 w 12192000"/>
              <a:gd name="connsiteY203" fmla="*/ 1838652 h 2079137"/>
              <a:gd name="connsiteX204" fmla="*/ 2099215 w 12192000"/>
              <a:gd name="connsiteY204" fmla="*/ 1850768 h 2079137"/>
              <a:gd name="connsiteX205" fmla="*/ 2094046 w 12192000"/>
              <a:gd name="connsiteY205" fmla="*/ 1850806 h 2079137"/>
              <a:gd name="connsiteX206" fmla="*/ 2071850 w 12192000"/>
              <a:gd name="connsiteY206" fmla="*/ 1861319 h 2079137"/>
              <a:gd name="connsiteX207" fmla="*/ 2039607 w 12192000"/>
              <a:gd name="connsiteY207" fmla="*/ 1874318 h 2079137"/>
              <a:gd name="connsiteX208" fmla="*/ 2037289 w 12192000"/>
              <a:gd name="connsiteY208" fmla="*/ 1874025 h 2079137"/>
              <a:gd name="connsiteX209" fmla="*/ 2023615 w 12192000"/>
              <a:gd name="connsiteY209" fmla="*/ 1881562 h 2079137"/>
              <a:gd name="connsiteX210" fmla="*/ 1957176 w 12192000"/>
              <a:gd name="connsiteY210" fmla="*/ 1898709 h 2079137"/>
              <a:gd name="connsiteX211" fmla="*/ 1858081 w 12192000"/>
              <a:gd name="connsiteY211" fmla="*/ 1923144 h 2079137"/>
              <a:gd name="connsiteX212" fmla="*/ 1738865 w 12192000"/>
              <a:gd name="connsiteY212" fmla="*/ 1944965 h 2079137"/>
              <a:gd name="connsiteX213" fmla="*/ 1616692 w 12192000"/>
              <a:gd name="connsiteY213" fmla="*/ 1989107 h 2079137"/>
              <a:gd name="connsiteX214" fmla="*/ 1411898 w 12192000"/>
              <a:gd name="connsiteY214" fmla="*/ 2046254 h 2079137"/>
              <a:gd name="connsiteX215" fmla="*/ 1375780 w 12192000"/>
              <a:gd name="connsiteY215" fmla="*/ 2047961 h 2079137"/>
              <a:gd name="connsiteX216" fmla="*/ 1375707 w 12192000"/>
              <a:gd name="connsiteY216" fmla="*/ 2047981 h 2079137"/>
              <a:gd name="connsiteX217" fmla="*/ 1285585 w 12192000"/>
              <a:gd name="connsiteY217" fmla="*/ 2047113 h 2079137"/>
              <a:gd name="connsiteX218" fmla="*/ 1263658 w 12192000"/>
              <a:gd name="connsiteY218" fmla="*/ 2041397 h 2079137"/>
              <a:gd name="connsiteX219" fmla="*/ 1170403 w 12192000"/>
              <a:gd name="connsiteY219" fmla="*/ 2033399 h 2079137"/>
              <a:gd name="connsiteX220" fmla="*/ 1153718 w 12192000"/>
              <a:gd name="connsiteY220" fmla="*/ 2029576 h 2079137"/>
              <a:gd name="connsiteX221" fmla="*/ 1133937 w 12192000"/>
              <a:gd name="connsiteY221" fmla="*/ 2032149 h 2079137"/>
              <a:gd name="connsiteX222" fmla="*/ 1054999 w 12192000"/>
              <a:gd name="connsiteY222" fmla="*/ 2043242 h 2079137"/>
              <a:gd name="connsiteX223" fmla="*/ 1018405 w 12192000"/>
              <a:gd name="connsiteY223" fmla="*/ 2048281 h 2079137"/>
              <a:gd name="connsiteX224" fmla="*/ 1016563 w 12192000"/>
              <a:gd name="connsiteY224" fmla="*/ 2051718 h 2079137"/>
              <a:gd name="connsiteX225" fmla="*/ 1008284 w 12192000"/>
              <a:gd name="connsiteY225" fmla="*/ 2046742 h 2079137"/>
              <a:gd name="connsiteX226" fmla="*/ 981974 w 12192000"/>
              <a:gd name="connsiteY226" fmla="*/ 2048363 h 2079137"/>
              <a:gd name="connsiteX227" fmla="*/ 971903 w 12192000"/>
              <a:gd name="connsiteY227" fmla="*/ 2053484 h 2079137"/>
              <a:gd name="connsiteX228" fmla="*/ 954015 w 12192000"/>
              <a:gd name="connsiteY228" fmla="*/ 2052529 h 2079137"/>
              <a:gd name="connsiteX229" fmla="*/ 839571 w 12192000"/>
              <a:gd name="connsiteY229" fmla="*/ 2046509 h 2079137"/>
              <a:gd name="connsiteX230" fmla="*/ 823321 w 12192000"/>
              <a:gd name="connsiteY230" fmla="*/ 2054296 h 2079137"/>
              <a:gd name="connsiteX231" fmla="*/ 800990 w 12192000"/>
              <a:gd name="connsiteY231" fmla="*/ 2051523 h 2079137"/>
              <a:gd name="connsiteX232" fmla="*/ 776439 w 12192000"/>
              <a:gd name="connsiteY232" fmla="*/ 2062634 h 2079137"/>
              <a:gd name="connsiteX233" fmla="*/ 763041 w 12192000"/>
              <a:gd name="connsiteY233" fmla="*/ 2063995 h 2079137"/>
              <a:gd name="connsiteX234" fmla="*/ 757863 w 12192000"/>
              <a:gd name="connsiteY234" fmla="*/ 2065877 h 2079137"/>
              <a:gd name="connsiteX235" fmla="*/ 745053 w 12192000"/>
              <a:gd name="connsiteY235" fmla="*/ 2051831 h 2079137"/>
              <a:gd name="connsiteX236" fmla="*/ 722609 w 12192000"/>
              <a:gd name="connsiteY236" fmla="*/ 2049504 h 2079137"/>
              <a:gd name="connsiteX237" fmla="*/ 717618 w 12192000"/>
              <a:gd name="connsiteY237" fmla="*/ 2042131 h 2079137"/>
              <a:gd name="connsiteX238" fmla="*/ 703285 w 12192000"/>
              <a:gd name="connsiteY238" fmla="*/ 2046808 h 2079137"/>
              <a:gd name="connsiteX239" fmla="*/ 680199 w 12192000"/>
              <a:gd name="connsiteY239" fmla="*/ 2051947 h 2079137"/>
              <a:gd name="connsiteX240" fmla="*/ 667351 w 12192000"/>
              <a:gd name="connsiteY240" fmla="*/ 2054469 h 2079137"/>
              <a:gd name="connsiteX241" fmla="*/ 660961 w 12192000"/>
              <a:gd name="connsiteY241" fmla="*/ 2049404 h 2079137"/>
              <a:gd name="connsiteX242" fmla="*/ 638282 w 12192000"/>
              <a:gd name="connsiteY242" fmla="*/ 2060093 h 2079137"/>
              <a:gd name="connsiteX243" fmla="*/ 583551 w 12192000"/>
              <a:gd name="connsiteY243" fmla="*/ 2070197 h 2079137"/>
              <a:gd name="connsiteX244" fmla="*/ 525274 w 12192000"/>
              <a:gd name="connsiteY244" fmla="*/ 2079137 h 2079137"/>
              <a:gd name="connsiteX245" fmla="*/ 405635 w 12192000"/>
              <a:gd name="connsiteY245" fmla="*/ 2059339 h 2079137"/>
              <a:gd name="connsiteX246" fmla="*/ 281555 w 12192000"/>
              <a:gd name="connsiteY246" fmla="*/ 2022847 h 2079137"/>
              <a:gd name="connsiteX247" fmla="*/ 98513 w 12192000"/>
              <a:gd name="connsiteY247" fmla="*/ 1969504 h 2079137"/>
              <a:gd name="connsiteX248" fmla="*/ 56191 w 12192000"/>
              <a:gd name="connsiteY248" fmla="*/ 1950709 h 2079137"/>
              <a:gd name="connsiteX249" fmla="*/ 0 w 12192000"/>
              <a:gd name="connsiteY249" fmla="*/ 1935789 h 2079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Lst>
            <a:rect l="l" t="t" r="r" b="b"/>
            <a:pathLst>
              <a:path w="12192000" h="2079137">
                <a:moveTo>
                  <a:pt x="12160143" y="831692"/>
                </a:moveTo>
                <a:lnTo>
                  <a:pt x="12159112" y="833361"/>
                </a:lnTo>
                <a:cubicBezTo>
                  <a:pt x="12157915" y="833832"/>
                  <a:pt x="12157402" y="833649"/>
                  <a:pt x="12158912" y="832430"/>
                </a:cubicBezTo>
                <a:close/>
                <a:moveTo>
                  <a:pt x="0" y="0"/>
                </a:moveTo>
                <a:lnTo>
                  <a:pt x="12192000" y="0"/>
                </a:lnTo>
                <a:lnTo>
                  <a:pt x="12192000" y="558063"/>
                </a:lnTo>
                <a:lnTo>
                  <a:pt x="12189259" y="810508"/>
                </a:lnTo>
                <a:lnTo>
                  <a:pt x="12170847" y="825280"/>
                </a:lnTo>
                <a:lnTo>
                  <a:pt x="12160143" y="831692"/>
                </a:lnTo>
                <a:lnTo>
                  <a:pt x="12163806" y="825759"/>
                </a:lnTo>
                <a:cubicBezTo>
                  <a:pt x="12125449" y="821525"/>
                  <a:pt x="12082203" y="824698"/>
                  <a:pt x="12056557" y="810176"/>
                </a:cubicBezTo>
                <a:cubicBezTo>
                  <a:pt x="12050902" y="790976"/>
                  <a:pt x="11923731" y="799312"/>
                  <a:pt x="11900316" y="789618"/>
                </a:cubicBezTo>
                <a:cubicBezTo>
                  <a:pt x="11841702" y="803374"/>
                  <a:pt x="11823963" y="832645"/>
                  <a:pt x="11791206" y="824176"/>
                </a:cubicBezTo>
                <a:cubicBezTo>
                  <a:pt x="11768977" y="817380"/>
                  <a:pt x="11683857" y="828947"/>
                  <a:pt x="11659257" y="800841"/>
                </a:cubicBezTo>
                <a:cubicBezTo>
                  <a:pt x="11617173" y="818107"/>
                  <a:pt x="11602556" y="790694"/>
                  <a:pt x="11569789" y="797135"/>
                </a:cubicBezTo>
                <a:cubicBezTo>
                  <a:pt x="11498310" y="795094"/>
                  <a:pt x="11458472" y="819882"/>
                  <a:pt x="11367885" y="791985"/>
                </a:cubicBezTo>
                <a:cubicBezTo>
                  <a:pt x="11325508" y="798158"/>
                  <a:pt x="11266580" y="755023"/>
                  <a:pt x="11174663" y="788721"/>
                </a:cubicBezTo>
                <a:cubicBezTo>
                  <a:pt x="11122703" y="792192"/>
                  <a:pt x="11150009" y="775410"/>
                  <a:pt x="11068220" y="786994"/>
                </a:cubicBezTo>
                <a:cubicBezTo>
                  <a:pt x="11046931" y="759861"/>
                  <a:pt x="10919185" y="793102"/>
                  <a:pt x="10893266" y="794013"/>
                </a:cubicBezTo>
                <a:cubicBezTo>
                  <a:pt x="10874184" y="776189"/>
                  <a:pt x="10862860" y="788743"/>
                  <a:pt x="10844025" y="789857"/>
                </a:cubicBezTo>
                <a:cubicBezTo>
                  <a:pt x="10836453" y="779294"/>
                  <a:pt x="10820690" y="778184"/>
                  <a:pt x="10814353" y="789010"/>
                </a:cubicBezTo>
                <a:cubicBezTo>
                  <a:pt x="10819669" y="816016"/>
                  <a:pt x="10754019" y="789067"/>
                  <a:pt x="10748393" y="806738"/>
                </a:cubicBezTo>
                <a:cubicBezTo>
                  <a:pt x="10687156" y="807873"/>
                  <a:pt x="10550299" y="781800"/>
                  <a:pt x="10468256" y="778733"/>
                </a:cubicBezTo>
                <a:cubicBezTo>
                  <a:pt x="10436666" y="770025"/>
                  <a:pt x="10371995" y="797252"/>
                  <a:pt x="10256131" y="788332"/>
                </a:cubicBezTo>
                <a:cubicBezTo>
                  <a:pt x="10240995" y="781626"/>
                  <a:pt x="10182664" y="765742"/>
                  <a:pt x="10177442" y="777371"/>
                </a:cubicBezTo>
                <a:cubicBezTo>
                  <a:pt x="10141447" y="775683"/>
                  <a:pt x="10030323" y="810071"/>
                  <a:pt x="10006086" y="792651"/>
                </a:cubicBezTo>
                <a:cubicBezTo>
                  <a:pt x="10009448" y="818833"/>
                  <a:pt x="9960389" y="791426"/>
                  <a:pt x="9952382" y="815411"/>
                </a:cubicBezTo>
                <a:lnTo>
                  <a:pt x="9926457" y="827295"/>
                </a:lnTo>
                <a:lnTo>
                  <a:pt x="9843405" y="867046"/>
                </a:lnTo>
                <a:lnTo>
                  <a:pt x="9830866" y="875047"/>
                </a:lnTo>
                <a:lnTo>
                  <a:pt x="9801807" y="872272"/>
                </a:lnTo>
                <a:lnTo>
                  <a:pt x="9785653" y="861743"/>
                </a:lnTo>
                <a:lnTo>
                  <a:pt x="9781177" y="864820"/>
                </a:lnTo>
                <a:cubicBezTo>
                  <a:pt x="9776153" y="871003"/>
                  <a:pt x="9773556" y="874842"/>
                  <a:pt x="9768640" y="869379"/>
                </a:cubicBezTo>
                <a:lnTo>
                  <a:pt x="9712211" y="900283"/>
                </a:lnTo>
                <a:cubicBezTo>
                  <a:pt x="9706243" y="902750"/>
                  <a:pt x="9698952" y="902954"/>
                  <a:pt x="9689465" y="899268"/>
                </a:cubicBezTo>
                <a:cubicBezTo>
                  <a:pt x="9670819" y="902906"/>
                  <a:pt x="9618108" y="917739"/>
                  <a:pt x="9600339" y="922112"/>
                </a:cubicBezTo>
                <a:lnTo>
                  <a:pt x="9582850" y="925510"/>
                </a:lnTo>
                <a:cubicBezTo>
                  <a:pt x="9574400" y="928631"/>
                  <a:pt x="9556868" y="938130"/>
                  <a:pt x="9549638" y="940845"/>
                </a:cubicBezTo>
                <a:cubicBezTo>
                  <a:pt x="9543792" y="942327"/>
                  <a:pt x="9546812" y="939351"/>
                  <a:pt x="9539471" y="941799"/>
                </a:cubicBezTo>
                <a:cubicBezTo>
                  <a:pt x="9538994" y="947702"/>
                  <a:pt x="9536009" y="953248"/>
                  <a:pt x="9505592" y="955533"/>
                </a:cubicBezTo>
                <a:cubicBezTo>
                  <a:pt x="9486013" y="968563"/>
                  <a:pt x="9460860" y="978842"/>
                  <a:pt x="9432569" y="985377"/>
                </a:cubicBezTo>
                <a:cubicBezTo>
                  <a:pt x="9426990" y="980335"/>
                  <a:pt x="9418918" y="990185"/>
                  <a:pt x="9414216" y="992655"/>
                </a:cubicBezTo>
                <a:cubicBezTo>
                  <a:pt x="9412644" y="989014"/>
                  <a:pt x="9400057" y="989255"/>
                  <a:pt x="9397106" y="992980"/>
                </a:cubicBezTo>
                <a:cubicBezTo>
                  <a:pt x="9314093" y="1020862"/>
                  <a:pt x="9349678" y="978420"/>
                  <a:pt x="9305108" y="1007767"/>
                </a:cubicBezTo>
                <a:cubicBezTo>
                  <a:pt x="9296670" y="1010324"/>
                  <a:pt x="9289251" y="1009612"/>
                  <a:pt x="9282434" y="1007523"/>
                </a:cubicBezTo>
                <a:lnTo>
                  <a:pt x="9271941" y="1002839"/>
                </a:lnTo>
                <a:lnTo>
                  <a:pt x="9238227" y="1017668"/>
                </a:lnTo>
                <a:cubicBezTo>
                  <a:pt x="9221294" y="1023415"/>
                  <a:pt x="9203166" y="1027997"/>
                  <a:pt x="9184265" y="1031275"/>
                </a:cubicBezTo>
                <a:cubicBezTo>
                  <a:pt x="9178371" y="1024135"/>
                  <a:pt x="9165618" y="1036637"/>
                  <a:pt x="9159000" y="1039569"/>
                </a:cubicBezTo>
                <a:cubicBezTo>
                  <a:pt x="9157881" y="1034602"/>
                  <a:pt x="9141725" y="1033964"/>
                  <a:pt x="9137031" y="1038699"/>
                </a:cubicBezTo>
                <a:cubicBezTo>
                  <a:pt x="9023973" y="1069523"/>
                  <a:pt x="9079946" y="1015706"/>
                  <a:pt x="9015702" y="1051400"/>
                </a:cubicBezTo>
                <a:lnTo>
                  <a:pt x="8971403" y="1040542"/>
                </a:lnTo>
                <a:lnTo>
                  <a:pt x="8961826" y="1045364"/>
                </a:lnTo>
                <a:cubicBezTo>
                  <a:pt x="8922837" y="1050010"/>
                  <a:pt x="8909116" y="1040754"/>
                  <a:pt x="8888623" y="1053908"/>
                </a:cubicBezTo>
                <a:cubicBezTo>
                  <a:pt x="8850424" y="1035587"/>
                  <a:pt x="8865892" y="1054194"/>
                  <a:pt x="8841066" y="1060421"/>
                </a:cubicBezTo>
                <a:cubicBezTo>
                  <a:pt x="8818353" y="1064878"/>
                  <a:pt x="8775995" y="1076068"/>
                  <a:pt x="8752342" y="1080646"/>
                </a:cubicBezTo>
                <a:cubicBezTo>
                  <a:pt x="8736966" y="1099406"/>
                  <a:pt x="8723186" y="1079948"/>
                  <a:pt x="8699139" y="1087885"/>
                </a:cubicBezTo>
                <a:cubicBezTo>
                  <a:pt x="8688630" y="1095506"/>
                  <a:pt x="8680324" y="1097539"/>
                  <a:pt x="8667273" y="1092062"/>
                </a:cubicBezTo>
                <a:cubicBezTo>
                  <a:pt x="8619205" y="1128818"/>
                  <a:pt x="8634590" y="1097116"/>
                  <a:pt x="8586064" y="1114603"/>
                </a:cubicBezTo>
                <a:cubicBezTo>
                  <a:pt x="8544721" y="1131913"/>
                  <a:pt x="8496602" y="1145520"/>
                  <a:pt x="8460312" y="1179878"/>
                </a:cubicBezTo>
                <a:cubicBezTo>
                  <a:pt x="8454266" y="1189140"/>
                  <a:pt x="8435781" y="1194455"/>
                  <a:pt x="8419023" y="1191748"/>
                </a:cubicBezTo>
                <a:cubicBezTo>
                  <a:pt x="8416138" y="1191283"/>
                  <a:pt x="8413416" y="1190591"/>
                  <a:pt x="8410939" y="1189696"/>
                </a:cubicBezTo>
                <a:cubicBezTo>
                  <a:pt x="8390077" y="1213458"/>
                  <a:pt x="8370324" y="1205397"/>
                  <a:pt x="8362040" y="1220820"/>
                </a:cubicBezTo>
                <a:cubicBezTo>
                  <a:pt x="8320616" y="1231942"/>
                  <a:pt x="8281663" y="1222882"/>
                  <a:pt x="8273677" y="1236495"/>
                </a:cubicBezTo>
                <a:cubicBezTo>
                  <a:pt x="8251358" y="1238573"/>
                  <a:pt x="8216738" y="1228341"/>
                  <a:pt x="8204283" y="1243537"/>
                </a:cubicBezTo>
                <a:cubicBezTo>
                  <a:pt x="8198634" y="1233135"/>
                  <a:pt x="8181550" y="1254947"/>
                  <a:pt x="8166550" y="1249551"/>
                </a:cubicBezTo>
                <a:cubicBezTo>
                  <a:pt x="8155570" y="1244572"/>
                  <a:pt x="8147825" y="1250027"/>
                  <a:pt x="8137785" y="1251636"/>
                </a:cubicBezTo>
                <a:cubicBezTo>
                  <a:pt x="8123427" y="1248361"/>
                  <a:pt x="8081662" y="1261833"/>
                  <a:pt x="8071596" y="1269274"/>
                </a:cubicBezTo>
                <a:cubicBezTo>
                  <a:pt x="8048949" y="1293759"/>
                  <a:pt x="7983924" y="1284712"/>
                  <a:pt x="7964816" y="1303668"/>
                </a:cubicBezTo>
                <a:cubicBezTo>
                  <a:pt x="7957137" y="1306992"/>
                  <a:pt x="7949335" y="1308861"/>
                  <a:pt x="7941495" y="1309821"/>
                </a:cubicBezTo>
                <a:lnTo>
                  <a:pt x="7919123" y="1310466"/>
                </a:lnTo>
                <a:lnTo>
                  <a:pt x="7911902" y="1306569"/>
                </a:lnTo>
                <a:lnTo>
                  <a:pt x="7898703" y="1309208"/>
                </a:lnTo>
                <a:lnTo>
                  <a:pt x="7894703" y="1308939"/>
                </a:lnTo>
                <a:lnTo>
                  <a:pt x="7872267" y="1308370"/>
                </a:lnTo>
                <a:cubicBezTo>
                  <a:pt x="7886550" y="1330359"/>
                  <a:pt x="7812648" y="1314851"/>
                  <a:pt x="7836454" y="1331265"/>
                </a:cubicBezTo>
                <a:cubicBezTo>
                  <a:pt x="7798907" y="1336933"/>
                  <a:pt x="7831419" y="1351068"/>
                  <a:pt x="7782451" y="1339601"/>
                </a:cubicBezTo>
                <a:cubicBezTo>
                  <a:pt x="7727636" y="1365002"/>
                  <a:pt x="7583002" y="1338768"/>
                  <a:pt x="7542969" y="1372495"/>
                </a:cubicBezTo>
                <a:cubicBezTo>
                  <a:pt x="7546396" y="1360942"/>
                  <a:pt x="7492851" y="1424323"/>
                  <a:pt x="7476832" y="1431655"/>
                </a:cubicBezTo>
                <a:cubicBezTo>
                  <a:pt x="7439619" y="1443703"/>
                  <a:pt x="7425596" y="1454661"/>
                  <a:pt x="7370237" y="1474339"/>
                </a:cubicBezTo>
                <a:cubicBezTo>
                  <a:pt x="7316246" y="1485928"/>
                  <a:pt x="7281903" y="1512712"/>
                  <a:pt x="7222223" y="1510199"/>
                </a:cubicBezTo>
                <a:cubicBezTo>
                  <a:pt x="7221190" y="1514030"/>
                  <a:pt x="7218885" y="1517398"/>
                  <a:pt x="7215703" y="1520424"/>
                </a:cubicBezTo>
                <a:lnTo>
                  <a:pt x="7204548" y="1528145"/>
                </a:lnTo>
                <a:lnTo>
                  <a:pt x="7202038" y="1527954"/>
                </a:lnTo>
                <a:lnTo>
                  <a:pt x="7173860" y="1541605"/>
                </a:lnTo>
                <a:lnTo>
                  <a:pt x="7155079" y="1552495"/>
                </a:lnTo>
                <a:lnTo>
                  <a:pt x="7149757" y="1552732"/>
                </a:lnTo>
                <a:cubicBezTo>
                  <a:pt x="7141378" y="1554948"/>
                  <a:pt x="7115959" y="1563256"/>
                  <a:pt x="7104804" y="1565792"/>
                </a:cubicBezTo>
                <a:cubicBezTo>
                  <a:pt x="7099811" y="1550850"/>
                  <a:pt x="7096935" y="1561973"/>
                  <a:pt x="7082824" y="1567947"/>
                </a:cubicBezTo>
                <a:cubicBezTo>
                  <a:pt x="7071919" y="1546070"/>
                  <a:pt x="7039417" y="1570606"/>
                  <a:pt x="7021520" y="1562334"/>
                </a:cubicBezTo>
                <a:cubicBezTo>
                  <a:pt x="7011400" y="1567217"/>
                  <a:pt x="7000495" y="1571981"/>
                  <a:pt x="6988956" y="1576442"/>
                </a:cubicBezTo>
                <a:lnTo>
                  <a:pt x="6981922" y="1578821"/>
                </a:lnTo>
                <a:lnTo>
                  <a:pt x="6981583" y="1578678"/>
                </a:lnTo>
                <a:cubicBezTo>
                  <a:pt x="6979627" y="1578791"/>
                  <a:pt x="6977153" y="1579421"/>
                  <a:pt x="6973762" y="1580811"/>
                </a:cubicBezTo>
                <a:lnTo>
                  <a:pt x="6969093" y="1583157"/>
                </a:lnTo>
                <a:lnTo>
                  <a:pt x="6890037" y="1575825"/>
                </a:lnTo>
                <a:cubicBezTo>
                  <a:pt x="6849459" y="1579997"/>
                  <a:pt x="6820022" y="1566922"/>
                  <a:pt x="6785054" y="1582200"/>
                </a:cubicBezTo>
                <a:cubicBezTo>
                  <a:pt x="6747047" y="1586037"/>
                  <a:pt x="6712794" y="1582954"/>
                  <a:pt x="6681692" y="1591296"/>
                </a:cubicBezTo>
                <a:cubicBezTo>
                  <a:pt x="6667557" y="1587501"/>
                  <a:pt x="6654822" y="1586753"/>
                  <a:pt x="6644556" y="1595940"/>
                </a:cubicBezTo>
                <a:cubicBezTo>
                  <a:pt x="6608615" y="1597269"/>
                  <a:pt x="6597697" y="1587005"/>
                  <a:pt x="6577106" y="1598261"/>
                </a:cubicBezTo>
                <a:lnTo>
                  <a:pt x="6544183" y="1596149"/>
                </a:lnTo>
                <a:lnTo>
                  <a:pt x="6540921" y="1593857"/>
                </a:lnTo>
                <a:lnTo>
                  <a:pt x="6535046" y="1593283"/>
                </a:lnTo>
                <a:lnTo>
                  <a:pt x="6519853" y="1595771"/>
                </a:lnTo>
                <a:lnTo>
                  <a:pt x="6514280" y="1597376"/>
                </a:lnTo>
                <a:cubicBezTo>
                  <a:pt x="6510385" y="1598232"/>
                  <a:pt x="6507735" y="1598481"/>
                  <a:pt x="6505824" y="1598298"/>
                </a:cubicBezTo>
                <a:lnTo>
                  <a:pt x="6505573" y="1598109"/>
                </a:lnTo>
                <a:lnTo>
                  <a:pt x="6497741" y="1599392"/>
                </a:lnTo>
                <a:cubicBezTo>
                  <a:pt x="6484628" y="1602044"/>
                  <a:pt x="6471968" y="1605085"/>
                  <a:pt x="6459992" y="1608358"/>
                </a:cubicBezTo>
                <a:cubicBezTo>
                  <a:pt x="6447037" y="1597612"/>
                  <a:pt x="6404274" y="1616787"/>
                  <a:pt x="6404572" y="1593771"/>
                </a:cubicBezTo>
                <a:cubicBezTo>
                  <a:pt x="6388277" y="1597519"/>
                  <a:pt x="6380141" y="1607970"/>
                  <a:pt x="6382671" y="1592612"/>
                </a:cubicBezTo>
                <a:lnTo>
                  <a:pt x="6369843" y="1590015"/>
                </a:lnTo>
                <a:lnTo>
                  <a:pt x="6269740" y="1614633"/>
                </a:lnTo>
                <a:lnTo>
                  <a:pt x="6255405" y="1620529"/>
                </a:lnTo>
                <a:cubicBezTo>
                  <a:pt x="6250911" y="1623016"/>
                  <a:pt x="6247090" y="1625968"/>
                  <a:pt x="6244248" y="1629561"/>
                </a:cubicBezTo>
                <a:cubicBezTo>
                  <a:pt x="6188859" y="1618246"/>
                  <a:pt x="6143250" y="1639346"/>
                  <a:pt x="6086396" y="1642666"/>
                </a:cubicBezTo>
                <a:cubicBezTo>
                  <a:pt x="6024311" y="1653696"/>
                  <a:pt x="5889522" y="1686499"/>
                  <a:pt x="5867429" y="1695554"/>
                </a:cubicBezTo>
                <a:cubicBezTo>
                  <a:pt x="5848669" y="1700350"/>
                  <a:pt x="5763994" y="1699795"/>
                  <a:pt x="5772864" y="1689002"/>
                </a:cubicBezTo>
                <a:cubicBezTo>
                  <a:pt x="5718480" y="1716048"/>
                  <a:pt x="5694188" y="1696562"/>
                  <a:pt x="5629833" y="1713273"/>
                </a:cubicBezTo>
                <a:lnTo>
                  <a:pt x="5504771" y="1725744"/>
                </a:lnTo>
                <a:lnTo>
                  <a:pt x="5490967" y="1726367"/>
                </a:lnTo>
                <a:lnTo>
                  <a:pt x="5486015" y="1721481"/>
                </a:lnTo>
                <a:lnTo>
                  <a:pt x="5439364" y="1721349"/>
                </a:lnTo>
                <a:cubicBezTo>
                  <a:pt x="5418850" y="1733129"/>
                  <a:pt x="5381503" y="1725668"/>
                  <a:pt x="5350025" y="1729885"/>
                </a:cubicBezTo>
                <a:lnTo>
                  <a:pt x="5336104" y="1734377"/>
                </a:lnTo>
                <a:lnTo>
                  <a:pt x="5245234" y="1738520"/>
                </a:lnTo>
                <a:lnTo>
                  <a:pt x="5182955" y="1744622"/>
                </a:lnTo>
                <a:lnTo>
                  <a:pt x="5169506" y="1748993"/>
                </a:lnTo>
                <a:lnTo>
                  <a:pt x="5154299" y="1744080"/>
                </a:lnTo>
                <a:cubicBezTo>
                  <a:pt x="5152463" y="1742751"/>
                  <a:pt x="5150989" y="1741283"/>
                  <a:pt x="5149917" y="1739727"/>
                </a:cubicBezTo>
                <a:lnTo>
                  <a:pt x="5100319" y="1745797"/>
                </a:lnTo>
                <a:lnTo>
                  <a:pt x="5094361" y="1745767"/>
                </a:lnTo>
                <a:lnTo>
                  <a:pt x="5053410" y="1742790"/>
                </a:lnTo>
                <a:lnTo>
                  <a:pt x="4992711" y="1734075"/>
                </a:lnTo>
                <a:cubicBezTo>
                  <a:pt x="4972764" y="1728527"/>
                  <a:pt x="4955480" y="1708667"/>
                  <a:pt x="4930098" y="1717312"/>
                </a:cubicBezTo>
                <a:cubicBezTo>
                  <a:pt x="4936142" y="1706767"/>
                  <a:pt x="4900350" y="1719438"/>
                  <a:pt x="4893834" y="1710028"/>
                </a:cubicBezTo>
                <a:cubicBezTo>
                  <a:pt x="4890113" y="1702277"/>
                  <a:pt x="4878389" y="1704314"/>
                  <a:pt x="4868730" y="1702384"/>
                </a:cubicBezTo>
                <a:cubicBezTo>
                  <a:pt x="4860577" y="1694955"/>
                  <a:pt x="4813519" y="1692594"/>
                  <a:pt x="4797925" y="1695535"/>
                </a:cubicBezTo>
                <a:cubicBezTo>
                  <a:pt x="4754973" y="1708626"/>
                  <a:pt x="4712186" y="1679830"/>
                  <a:pt x="4677670" y="1689453"/>
                </a:cubicBezTo>
                <a:cubicBezTo>
                  <a:pt x="4650390" y="1686902"/>
                  <a:pt x="4641786" y="1682702"/>
                  <a:pt x="4634248" y="1680227"/>
                </a:cubicBezTo>
                <a:lnTo>
                  <a:pt x="4632434" y="1674607"/>
                </a:lnTo>
                <a:lnTo>
                  <a:pt x="4619204" y="1672507"/>
                </a:lnTo>
                <a:lnTo>
                  <a:pt x="4616283" y="1670977"/>
                </a:lnTo>
                <a:cubicBezTo>
                  <a:pt x="4610716" y="1668036"/>
                  <a:pt x="4605090" y="1665277"/>
                  <a:pt x="4598926" y="1663178"/>
                </a:cubicBezTo>
                <a:cubicBezTo>
                  <a:pt x="4588025" y="1686237"/>
                  <a:pt x="4544698" y="1649138"/>
                  <a:pt x="4547069" y="1670642"/>
                </a:cubicBezTo>
                <a:lnTo>
                  <a:pt x="4523516" y="1669785"/>
                </a:lnTo>
                <a:lnTo>
                  <a:pt x="4500586" y="1675912"/>
                </a:lnTo>
                <a:lnTo>
                  <a:pt x="4488196" y="1683463"/>
                </a:lnTo>
                <a:lnTo>
                  <a:pt x="4445463" y="1695634"/>
                </a:lnTo>
                <a:lnTo>
                  <a:pt x="4446550" y="1680538"/>
                </a:lnTo>
                <a:lnTo>
                  <a:pt x="4365375" y="1697935"/>
                </a:lnTo>
                <a:lnTo>
                  <a:pt x="4305123" y="1714185"/>
                </a:lnTo>
                <a:lnTo>
                  <a:pt x="4292665" y="1720703"/>
                </a:lnTo>
                <a:lnTo>
                  <a:pt x="4276789" y="1718367"/>
                </a:lnTo>
                <a:cubicBezTo>
                  <a:pt x="4274740" y="1717359"/>
                  <a:pt x="4273021" y="1716157"/>
                  <a:pt x="4271683" y="1714801"/>
                </a:cubicBezTo>
                <a:lnTo>
                  <a:pt x="4223918" y="1728936"/>
                </a:lnTo>
                <a:lnTo>
                  <a:pt x="4218039" y="1729885"/>
                </a:lnTo>
                <a:lnTo>
                  <a:pt x="4177153" y="1733691"/>
                </a:lnTo>
                <a:lnTo>
                  <a:pt x="4051032" y="1728886"/>
                </a:lnTo>
                <a:cubicBezTo>
                  <a:pt x="4055072" y="1717510"/>
                  <a:pt x="4022108" y="1735873"/>
                  <a:pt x="4013978" y="1727679"/>
                </a:cubicBezTo>
                <a:cubicBezTo>
                  <a:pt x="4008905" y="1720660"/>
                  <a:pt x="3997723" y="1724594"/>
                  <a:pt x="3987857" y="1724282"/>
                </a:cubicBezTo>
                <a:cubicBezTo>
                  <a:pt x="3978476" y="1718309"/>
                  <a:pt x="3931683" y="1723723"/>
                  <a:pt x="3916852" y="1729184"/>
                </a:cubicBezTo>
                <a:cubicBezTo>
                  <a:pt x="3876910" y="1749138"/>
                  <a:pt x="3829523" y="1727824"/>
                  <a:pt x="3797263" y="1742976"/>
                </a:cubicBezTo>
                <a:cubicBezTo>
                  <a:pt x="3769922" y="1744951"/>
                  <a:pt x="3760682" y="1742230"/>
                  <a:pt x="3752806" y="1741033"/>
                </a:cubicBezTo>
                <a:lnTo>
                  <a:pt x="3749997" y="1735799"/>
                </a:lnTo>
                <a:lnTo>
                  <a:pt x="3736582" y="1735907"/>
                </a:lnTo>
                <a:lnTo>
                  <a:pt x="3733428" y="1734881"/>
                </a:lnTo>
                <a:cubicBezTo>
                  <a:pt x="3727408" y="1732899"/>
                  <a:pt x="3721365" y="1731108"/>
                  <a:pt x="3714911" y="1730056"/>
                </a:cubicBezTo>
                <a:cubicBezTo>
                  <a:pt x="3708355" y="1754554"/>
                  <a:pt x="3658933" y="1725152"/>
                  <a:pt x="3665172" y="1745936"/>
                </a:cubicBezTo>
                <a:cubicBezTo>
                  <a:pt x="3628569" y="1744420"/>
                  <a:pt x="3583742" y="1775884"/>
                  <a:pt x="3552006" y="1755220"/>
                </a:cubicBezTo>
                <a:cubicBezTo>
                  <a:pt x="3497522" y="1758390"/>
                  <a:pt x="3448310" y="1757433"/>
                  <a:pt x="3390301" y="1762546"/>
                </a:cubicBezTo>
                <a:cubicBezTo>
                  <a:pt x="3345266" y="1774524"/>
                  <a:pt x="3297039" y="1758531"/>
                  <a:pt x="3264312" y="1774620"/>
                </a:cubicBezTo>
                <a:cubicBezTo>
                  <a:pt x="3212634" y="1771139"/>
                  <a:pt x="3147905" y="1780248"/>
                  <a:pt x="3106901" y="1804264"/>
                </a:cubicBezTo>
                <a:cubicBezTo>
                  <a:pt x="3051355" y="1805490"/>
                  <a:pt x="3041708" y="1820368"/>
                  <a:pt x="2993303" y="1806542"/>
                </a:cubicBezTo>
                <a:cubicBezTo>
                  <a:pt x="2989182" y="1810139"/>
                  <a:pt x="2984377" y="1813039"/>
                  <a:pt x="2979115" y="1815432"/>
                </a:cubicBezTo>
                <a:lnTo>
                  <a:pt x="2963118" y="1820962"/>
                </a:lnTo>
                <a:lnTo>
                  <a:pt x="2961156" y="1820297"/>
                </a:lnTo>
                <a:lnTo>
                  <a:pt x="2925719" y="1828468"/>
                </a:lnTo>
                <a:lnTo>
                  <a:pt x="2857951" y="1842496"/>
                </a:lnTo>
                <a:lnTo>
                  <a:pt x="2857427" y="1841591"/>
                </a:lnTo>
                <a:cubicBezTo>
                  <a:pt x="2855386" y="1839734"/>
                  <a:pt x="2852250" y="1838690"/>
                  <a:pt x="2846731" y="1839316"/>
                </a:cubicBezTo>
                <a:cubicBezTo>
                  <a:pt x="2855175" y="1823564"/>
                  <a:pt x="2843311" y="1834035"/>
                  <a:pt x="2826290" y="1837274"/>
                </a:cubicBezTo>
                <a:cubicBezTo>
                  <a:pt x="2835609" y="1813530"/>
                  <a:pt x="2787284" y="1831665"/>
                  <a:pt x="2779146" y="1820071"/>
                </a:cubicBezTo>
                <a:cubicBezTo>
                  <a:pt x="2766432" y="1822985"/>
                  <a:pt x="2753158" y="1825635"/>
                  <a:pt x="2739608" y="1827861"/>
                </a:cubicBezTo>
                <a:lnTo>
                  <a:pt x="2731631" y="1828881"/>
                </a:lnTo>
                <a:cubicBezTo>
                  <a:pt x="2731575" y="1828813"/>
                  <a:pt x="2731521" y="1828744"/>
                  <a:pt x="2731464" y="1828677"/>
                </a:cubicBezTo>
                <a:cubicBezTo>
                  <a:pt x="2729715" y="1828415"/>
                  <a:pt x="2727085" y="1828569"/>
                  <a:pt x="2723037" y="1829303"/>
                </a:cubicBezTo>
                <a:lnTo>
                  <a:pt x="2701616" y="1832725"/>
                </a:lnTo>
                <a:lnTo>
                  <a:pt x="2696239" y="1831904"/>
                </a:lnTo>
                <a:lnTo>
                  <a:pt x="2663445" y="1825958"/>
                </a:lnTo>
                <a:cubicBezTo>
                  <a:pt x="2641260" y="1825904"/>
                  <a:pt x="2595040" y="1827674"/>
                  <a:pt x="2560925" y="1829094"/>
                </a:cubicBezTo>
                <a:cubicBezTo>
                  <a:pt x="2527977" y="1836499"/>
                  <a:pt x="2496507" y="1831991"/>
                  <a:pt x="2458739" y="1834479"/>
                </a:cubicBezTo>
                <a:cubicBezTo>
                  <a:pt x="2419379" y="1848893"/>
                  <a:pt x="2396428" y="1834257"/>
                  <a:pt x="2356074" y="1836991"/>
                </a:cubicBezTo>
                <a:cubicBezTo>
                  <a:pt x="2323435" y="1857644"/>
                  <a:pt x="2325610" y="1826053"/>
                  <a:pt x="2304241" y="1822021"/>
                </a:cubicBezTo>
                <a:lnTo>
                  <a:pt x="2298362" y="1822125"/>
                </a:lnTo>
                <a:lnTo>
                  <a:pt x="2283527" y="1826361"/>
                </a:lnTo>
                <a:lnTo>
                  <a:pt x="2278150" y="1828604"/>
                </a:lnTo>
                <a:cubicBezTo>
                  <a:pt x="2274371" y="1829907"/>
                  <a:pt x="2271762" y="1830461"/>
                  <a:pt x="2269853" y="1830502"/>
                </a:cubicBezTo>
                <a:lnTo>
                  <a:pt x="2269585" y="1830341"/>
                </a:lnTo>
                <a:lnTo>
                  <a:pt x="2225332" y="1845825"/>
                </a:lnTo>
                <a:cubicBezTo>
                  <a:pt x="2211505" y="1836594"/>
                  <a:pt x="2170867" y="1860661"/>
                  <a:pt x="2169048" y="1837658"/>
                </a:cubicBezTo>
                <a:cubicBezTo>
                  <a:pt x="2153238" y="1843278"/>
                  <a:pt x="2146132" y="1854645"/>
                  <a:pt x="2147231" y="1839027"/>
                </a:cubicBezTo>
                <a:cubicBezTo>
                  <a:pt x="2141901" y="1840465"/>
                  <a:pt x="2138205" y="1840014"/>
                  <a:pt x="2135241" y="1838652"/>
                </a:cubicBezTo>
                <a:lnTo>
                  <a:pt x="2099215" y="1850768"/>
                </a:lnTo>
                <a:lnTo>
                  <a:pt x="2094046" y="1850806"/>
                </a:lnTo>
                <a:lnTo>
                  <a:pt x="2071850" y="1861319"/>
                </a:lnTo>
                <a:lnTo>
                  <a:pt x="2039607" y="1874318"/>
                </a:lnTo>
                <a:lnTo>
                  <a:pt x="2037289" y="1874025"/>
                </a:lnTo>
                <a:lnTo>
                  <a:pt x="2023615" y="1881562"/>
                </a:lnTo>
                <a:cubicBezTo>
                  <a:pt x="2019390" y="1884562"/>
                  <a:pt x="1959668" y="1894795"/>
                  <a:pt x="1957176" y="1898709"/>
                </a:cubicBezTo>
                <a:cubicBezTo>
                  <a:pt x="1901224" y="1893805"/>
                  <a:pt x="1914145" y="1913274"/>
                  <a:pt x="1858081" y="1923144"/>
                </a:cubicBezTo>
                <a:cubicBezTo>
                  <a:pt x="1819487" y="1923227"/>
                  <a:pt x="1798952" y="1929741"/>
                  <a:pt x="1738865" y="1944965"/>
                </a:cubicBezTo>
                <a:cubicBezTo>
                  <a:pt x="1698633" y="1955957"/>
                  <a:pt x="1670491" y="1978862"/>
                  <a:pt x="1616692" y="1989107"/>
                </a:cubicBezTo>
                <a:cubicBezTo>
                  <a:pt x="1565257" y="2022368"/>
                  <a:pt x="1474172" y="2022156"/>
                  <a:pt x="1411898" y="2046254"/>
                </a:cubicBezTo>
                <a:cubicBezTo>
                  <a:pt x="1380237" y="2035952"/>
                  <a:pt x="1386648" y="2042292"/>
                  <a:pt x="1375780" y="2047961"/>
                </a:cubicBezTo>
                <a:cubicBezTo>
                  <a:pt x="1375756" y="2047968"/>
                  <a:pt x="1375731" y="2047974"/>
                  <a:pt x="1375707" y="2047981"/>
                </a:cubicBezTo>
                <a:lnTo>
                  <a:pt x="1285585" y="2047113"/>
                </a:lnTo>
                <a:cubicBezTo>
                  <a:pt x="1279541" y="2043453"/>
                  <a:pt x="1272537" y="2040974"/>
                  <a:pt x="1263658" y="2041397"/>
                </a:cubicBezTo>
                <a:cubicBezTo>
                  <a:pt x="1212454" y="2058890"/>
                  <a:pt x="1258499" y="2026611"/>
                  <a:pt x="1170403" y="2033399"/>
                </a:cubicBezTo>
                <a:cubicBezTo>
                  <a:pt x="1166530" y="2036274"/>
                  <a:pt x="1154254" y="2033463"/>
                  <a:pt x="1153718" y="2029576"/>
                </a:cubicBezTo>
                <a:cubicBezTo>
                  <a:pt x="1148486" y="2030819"/>
                  <a:pt x="1137980" y="2038354"/>
                  <a:pt x="1133937" y="2032149"/>
                </a:cubicBezTo>
                <a:cubicBezTo>
                  <a:pt x="1104720" y="2031606"/>
                  <a:pt x="1077532" y="2035424"/>
                  <a:pt x="1054999" y="2043242"/>
                </a:cubicBezTo>
                <a:cubicBezTo>
                  <a:pt x="1024875" y="2038090"/>
                  <a:pt x="1020473" y="2042711"/>
                  <a:pt x="1018405" y="2048281"/>
                </a:cubicBezTo>
                <a:lnTo>
                  <a:pt x="1016563" y="2051718"/>
                </a:lnTo>
                <a:lnTo>
                  <a:pt x="1008284" y="2046742"/>
                </a:lnTo>
                <a:cubicBezTo>
                  <a:pt x="999244" y="2043620"/>
                  <a:pt x="990505" y="2044937"/>
                  <a:pt x="981974" y="2048363"/>
                </a:cubicBezTo>
                <a:lnTo>
                  <a:pt x="971903" y="2053484"/>
                </a:lnTo>
                <a:lnTo>
                  <a:pt x="954015" y="2052529"/>
                </a:lnTo>
                <a:cubicBezTo>
                  <a:pt x="931960" y="2051365"/>
                  <a:pt x="861352" y="2046214"/>
                  <a:pt x="839571" y="2046509"/>
                </a:cubicBezTo>
                <a:lnTo>
                  <a:pt x="823321" y="2054296"/>
                </a:lnTo>
                <a:lnTo>
                  <a:pt x="800990" y="2051523"/>
                </a:lnTo>
                <a:cubicBezTo>
                  <a:pt x="790723" y="2052171"/>
                  <a:pt x="782268" y="2055403"/>
                  <a:pt x="776439" y="2062634"/>
                </a:cubicBezTo>
                <a:cubicBezTo>
                  <a:pt x="773155" y="2056184"/>
                  <a:pt x="769593" y="2059253"/>
                  <a:pt x="763041" y="2063995"/>
                </a:cubicBezTo>
                <a:lnTo>
                  <a:pt x="757863" y="2065877"/>
                </a:lnTo>
                <a:lnTo>
                  <a:pt x="745053" y="2051831"/>
                </a:lnTo>
                <a:lnTo>
                  <a:pt x="722609" y="2049504"/>
                </a:lnTo>
                <a:lnTo>
                  <a:pt x="717618" y="2042131"/>
                </a:lnTo>
                <a:lnTo>
                  <a:pt x="703285" y="2046808"/>
                </a:lnTo>
                <a:cubicBezTo>
                  <a:pt x="698219" y="2048137"/>
                  <a:pt x="690058" y="2049926"/>
                  <a:pt x="680199" y="2051947"/>
                </a:cubicBezTo>
                <a:lnTo>
                  <a:pt x="667351" y="2054469"/>
                </a:lnTo>
                <a:lnTo>
                  <a:pt x="660961" y="2049404"/>
                </a:lnTo>
                <a:lnTo>
                  <a:pt x="638282" y="2060093"/>
                </a:lnTo>
                <a:lnTo>
                  <a:pt x="583551" y="2070197"/>
                </a:lnTo>
                <a:cubicBezTo>
                  <a:pt x="569268" y="2091365"/>
                  <a:pt x="529124" y="2053106"/>
                  <a:pt x="525274" y="2079137"/>
                </a:cubicBezTo>
                <a:cubicBezTo>
                  <a:pt x="506495" y="2056498"/>
                  <a:pt x="440091" y="2069666"/>
                  <a:pt x="405635" y="2059339"/>
                </a:cubicBezTo>
                <a:cubicBezTo>
                  <a:pt x="397410" y="2069278"/>
                  <a:pt x="294416" y="2032966"/>
                  <a:pt x="281555" y="2022847"/>
                </a:cubicBezTo>
                <a:cubicBezTo>
                  <a:pt x="171589" y="1986245"/>
                  <a:pt x="126791" y="1985528"/>
                  <a:pt x="98513" y="1969504"/>
                </a:cubicBezTo>
                <a:cubicBezTo>
                  <a:pt x="85544" y="1965247"/>
                  <a:pt x="73324" y="1958000"/>
                  <a:pt x="56191" y="1950709"/>
                </a:cubicBezTo>
                <a:lnTo>
                  <a:pt x="0" y="1935789"/>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
        <p:nvSpPr>
          <p:cNvPr id="2" name="Title 1">
            <a:extLst>
              <a:ext uri="{FF2B5EF4-FFF2-40B4-BE49-F238E27FC236}">
                <a16:creationId xmlns:a16="http://schemas.microsoft.com/office/drawing/2014/main" id="{917CCB10-4EA6-1D8D-E183-7878715EF288}"/>
              </a:ext>
            </a:extLst>
          </p:cNvPr>
          <p:cNvSpPr>
            <a:spLocks noGrp="1"/>
          </p:cNvSpPr>
          <p:nvPr>
            <p:ph type="title"/>
          </p:nvPr>
        </p:nvSpPr>
        <p:spPr>
          <a:xfrm>
            <a:off x="852777" y="548640"/>
            <a:ext cx="7157553" cy="1188720"/>
          </a:xfrm>
        </p:spPr>
        <p:txBody>
          <a:bodyPr>
            <a:normAutofit/>
          </a:bodyPr>
          <a:lstStyle/>
          <a:p>
            <a:r>
              <a:rPr lang="en-US" b="1" dirty="0">
                <a:solidFill>
                  <a:schemeClr val="tx1">
                    <a:lumMod val="85000"/>
                    <a:lumOff val="15000"/>
                  </a:schemeClr>
                </a:solidFill>
              </a:rPr>
              <a:t>Executive Summary</a:t>
            </a:r>
          </a:p>
        </p:txBody>
      </p:sp>
      <p:sp>
        <p:nvSpPr>
          <p:cNvPr id="3" name="Content Placeholder 2">
            <a:extLst>
              <a:ext uri="{FF2B5EF4-FFF2-40B4-BE49-F238E27FC236}">
                <a16:creationId xmlns:a16="http://schemas.microsoft.com/office/drawing/2014/main" id="{95652E52-4DA3-36E4-E70B-8FE13ECD7931}"/>
              </a:ext>
            </a:extLst>
          </p:cNvPr>
          <p:cNvSpPr>
            <a:spLocks noGrp="1"/>
          </p:cNvSpPr>
          <p:nvPr>
            <p:ph idx="1"/>
          </p:nvPr>
        </p:nvSpPr>
        <p:spPr>
          <a:xfrm>
            <a:off x="852778" y="1737360"/>
            <a:ext cx="7157552" cy="4645151"/>
          </a:xfrm>
        </p:spPr>
        <p:txBody>
          <a:bodyPr anchor="ctr">
            <a:normAutofit fontScale="92500" lnSpcReduction="20000"/>
          </a:bodyPr>
          <a:lstStyle/>
          <a:p>
            <a:r>
              <a:rPr lang="en-US" sz="1800" b="1" dirty="0"/>
              <a:t>Recommended resolution window:</a:t>
            </a:r>
            <a:br>
              <a:rPr lang="en-US" sz="1800" dirty="0"/>
            </a:br>
            <a:r>
              <a:rPr lang="en-US" sz="1800" dirty="0"/>
              <a:t>A 7-day window already captures the majority of recontacts; longer windows add diminishing returns. </a:t>
            </a:r>
          </a:p>
          <a:p>
            <a:pPr marL="0" indent="0">
              <a:buNone/>
            </a:pPr>
            <a:endParaRPr lang="en-US" sz="1800" dirty="0"/>
          </a:p>
          <a:p>
            <a:r>
              <a:rPr lang="en-US" sz="1800" b="1" dirty="0"/>
              <a:t>Channel performance by country:</a:t>
            </a:r>
            <a:br>
              <a:rPr lang="en-US" sz="1800" dirty="0"/>
            </a:br>
            <a:r>
              <a:rPr lang="en-US" sz="1800" dirty="0"/>
              <a:t>Overall chat has the lowest 7-day recontact rate, and email has the highest recontact rate; calls lie in the middle</a:t>
            </a:r>
          </a:p>
          <a:p>
            <a:pPr marL="0" indent="0">
              <a:buNone/>
            </a:pPr>
            <a:endParaRPr lang="en-US" sz="1800" dirty="0"/>
          </a:p>
          <a:p>
            <a:r>
              <a:rPr lang="en-US" sz="1800" b="1" dirty="0"/>
              <a:t>Agent Company Performance:</a:t>
            </a:r>
            <a:br>
              <a:rPr lang="en-US" sz="1800" dirty="0"/>
            </a:br>
            <a:r>
              <a:rPr lang="en-US" sz="1800" dirty="0"/>
              <a:t>COMPANY_3 delivers the lowest 7-day recontact rate at meaningful scale, while COMPANY_1 has the highest recontact rate on the largest volume</a:t>
            </a:r>
          </a:p>
          <a:p>
            <a:pPr marL="0" indent="0">
              <a:buNone/>
            </a:pPr>
            <a:endParaRPr lang="en-US" sz="1800" dirty="0"/>
          </a:p>
          <a:p>
            <a:r>
              <a:rPr lang="en-US" sz="1800" b="1" dirty="0"/>
              <a:t>% of Merchants with repeat contacts per product:</a:t>
            </a:r>
            <a:br>
              <a:rPr lang="en-US" sz="1800" b="1" dirty="0"/>
            </a:br>
            <a:r>
              <a:rPr lang="en-US" sz="1800" dirty="0"/>
              <a:t>~50% of merchants contact support more than once in the year; product with highest repeat contacts are Profile, Hardware and Misc.</a:t>
            </a:r>
          </a:p>
          <a:p>
            <a:endParaRPr lang="en-US" sz="1800" dirty="0"/>
          </a:p>
          <a:p>
            <a:r>
              <a:rPr lang="en-US" sz="1800" b="1" dirty="0"/>
              <a:t>Cost allocation per channel:</a:t>
            </a:r>
            <a:br>
              <a:rPr lang="en-US" sz="1800" dirty="0"/>
            </a:br>
            <a:r>
              <a:rPr lang="en-US" sz="1800" dirty="0"/>
              <a:t>Chat channel is the cheapest per interaction with average cost per interaction being ~€1.72</a:t>
            </a:r>
          </a:p>
        </p:txBody>
      </p:sp>
      <p:sp>
        <p:nvSpPr>
          <p:cNvPr id="25" name="Freeform: Shape 24">
            <a:extLst>
              <a:ext uri="{FF2B5EF4-FFF2-40B4-BE49-F238E27FC236}">
                <a16:creationId xmlns:a16="http://schemas.microsoft.com/office/drawing/2014/main" id="{8D403EE0-45C4-2217-D889-6F5F21BA3B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668439" y="5970896"/>
            <a:ext cx="7475562" cy="887104"/>
          </a:xfrm>
          <a:custGeom>
            <a:avLst/>
            <a:gdLst>
              <a:gd name="connsiteX0" fmla="*/ 4686423 w 9517857"/>
              <a:gd name="connsiteY0" fmla="*/ 247919 h 918356"/>
              <a:gd name="connsiteX1" fmla="*/ 4689051 w 9517857"/>
              <a:gd name="connsiteY1" fmla="*/ 250968 h 918356"/>
              <a:gd name="connsiteX2" fmla="*/ 4687244 w 9517857"/>
              <a:gd name="connsiteY2" fmla="*/ 251298 h 918356"/>
              <a:gd name="connsiteX3" fmla="*/ 4685225 w 9517857"/>
              <a:gd name="connsiteY3" fmla="*/ 246530 h 918356"/>
              <a:gd name="connsiteX4" fmla="*/ 4686133 w 9517857"/>
              <a:gd name="connsiteY4" fmla="*/ 246727 h 918356"/>
              <a:gd name="connsiteX5" fmla="*/ 4686423 w 9517857"/>
              <a:gd name="connsiteY5" fmla="*/ 247919 h 918356"/>
              <a:gd name="connsiteX6" fmla="*/ 9517856 w 9517857"/>
              <a:gd name="connsiteY6" fmla="*/ 0 h 918356"/>
              <a:gd name="connsiteX7" fmla="*/ 9517857 w 9517857"/>
              <a:gd name="connsiteY7" fmla="*/ 12 h 918356"/>
              <a:gd name="connsiteX8" fmla="*/ 9517857 w 9517857"/>
              <a:gd name="connsiteY8" fmla="*/ 918356 h 918356"/>
              <a:gd name="connsiteX9" fmla="*/ 14604 w 9517857"/>
              <a:gd name="connsiteY9" fmla="*/ 918356 h 918356"/>
              <a:gd name="connsiteX10" fmla="*/ 12841 w 9517857"/>
              <a:gd name="connsiteY10" fmla="*/ 917763 h 918356"/>
              <a:gd name="connsiteX11" fmla="*/ 93 w 9517857"/>
              <a:gd name="connsiteY11" fmla="*/ 912471 h 918356"/>
              <a:gd name="connsiteX12" fmla="*/ 58674 w 9517857"/>
              <a:gd name="connsiteY12" fmla="*/ 890322 h 918356"/>
              <a:gd name="connsiteX13" fmla="*/ 275005 w 9517857"/>
              <a:gd name="connsiteY13" fmla="*/ 807229 h 918356"/>
              <a:gd name="connsiteX14" fmla="*/ 587824 w 9517857"/>
              <a:gd name="connsiteY14" fmla="*/ 798195 h 918356"/>
              <a:gd name="connsiteX15" fmla="*/ 651826 w 9517857"/>
              <a:gd name="connsiteY15" fmla="*/ 738338 h 918356"/>
              <a:gd name="connsiteX16" fmla="*/ 727985 w 9517857"/>
              <a:gd name="connsiteY16" fmla="*/ 719826 h 918356"/>
              <a:gd name="connsiteX17" fmla="*/ 778982 w 9517857"/>
              <a:gd name="connsiteY17" fmla="*/ 710142 h 918356"/>
              <a:gd name="connsiteX18" fmla="*/ 849944 w 9517857"/>
              <a:gd name="connsiteY18" fmla="*/ 717987 h 918356"/>
              <a:gd name="connsiteX19" fmla="*/ 921659 w 9517857"/>
              <a:gd name="connsiteY19" fmla="*/ 712695 h 918356"/>
              <a:gd name="connsiteX20" fmla="*/ 930946 w 9517857"/>
              <a:gd name="connsiteY20" fmla="*/ 734046 h 918356"/>
              <a:gd name="connsiteX21" fmla="*/ 986250 w 9517857"/>
              <a:gd name="connsiteY21" fmla="*/ 713530 h 918356"/>
              <a:gd name="connsiteX22" fmla="*/ 1013752 w 9517857"/>
              <a:gd name="connsiteY22" fmla="*/ 713361 h 918356"/>
              <a:gd name="connsiteX23" fmla="*/ 1023734 w 9517857"/>
              <a:gd name="connsiteY23" fmla="*/ 718571 h 918356"/>
              <a:gd name="connsiteX24" fmla="*/ 1063207 w 9517857"/>
              <a:gd name="connsiteY24" fmla="*/ 715651 h 918356"/>
              <a:gd name="connsiteX25" fmla="*/ 1081980 w 9517857"/>
              <a:gd name="connsiteY25" fmla="*/ 738455 h 918356"/>
              <a:gd name="connsiteX26" fmla="*/ 1218120 w 9517857"/>
              <a:gd name="connsiteY26" fmla="*/ 713280 h 918356"/>
              <a:gd name="connsiteX27" fmla="*/ 1397459 w 9517857"/>
              <a:gd name="connsiteY27" fmla="*/ 691190 h 918356"/>
              <a:gd name="connsiteX28" fmla="*/ 1580688 w 9517857"/>
              <a:gd name="connsiteY28" fmla="*/ 693697 h 918356"/>
              <a:gd name="connsiteX29" fmla="*/ 1772334 w 9517857"/>
              <a:gd name="connsiteY29" fmla="*/ 710640 h 918356"/>
              <a:gd name="connsiteX30" fmla="*/ 2002561 w 9517857"/>
              <a:gd name="connsiteY30" fmla="*/ 659917 h 918356"/>
              <a:gd name="connsiteX31" fmla="*/ 2135144 w 9517857"/>
              <a:gd name="connsiteY31" fmla="*/ 636501 h 918356"/>
              <a:gd name="connsiteX32" fmla="*/ 2440292 w 9517857"/>
              <a:gd name="connsiteY32" fmla="*/ 593862 h 918356"/>
              <a:gd name="connsiteX33" fmla="*/ 2547829 w 9517857"/>
              <a:gd name="connsiteY33" fmla="*/ 566150 h 918356"/>
              <a:gd name="connsiteX34" fmla="*/ 2658055 w 9517857"/>
              <a:gd name="connsiteY34" fmla="*/ 578727 h 918356"/>
              <a:gd name="connsiteX35" fmla="*/ 2693698 w 9517857"/>
              <a:gd name="connsiteY35" fmla="*/ 560029 h 918356"/>
              <a:gd name="connsiteX36" fmla="*/ 2699673 w 9517857"/>
              <a:gd name="connsiteY36" fmla="*/ 556400 h 918356"/>
              <a:gd name="connsiteX37" fmla="*/ 2727306 w 9517857"/>
              <a:gd name="connsiteY37" fmla="*/ 550698 h 918356"/>
              <a:gd name="connsiteX38" fmla="*/ 2730451 w 9517857"/>
              <a:gd name="connsiteY38" fmla="*/ 538058 h 918356"/>
              <a:gd name="connsiteX39" fmla="*/ 2768713 w 9517857"/>
              <a:gd name="connsiteY39" fmla="*/ 521575 h 918356"/>
              <a:gd name="connsiteX40" fmla="*/ 2820868 w 9517857"/>
              <a:gd name="connsiteY40" fmla="*/ 514160 h 918356"/>
              <a:gd name="connsiteX41" fmla="*/ 3073635 w 9517857"/>
              <a:gd name="connsiteY41" fmla="*/ 491294 h 918356"/>
              <a:gd name="connsiteX42" fmla="*/ 3222071 w 9517857"/>
              <a:gd name="connsiteY42" fmla="*/ 470559 h 918356"/>
              <a:gd name="connsiteX43" fmla="*/ 3274069 w 9517857"/>
              <a:gd name="connsiteY43" fmla="*/ 451605 h 918356"/>
              <a:gd name="connsiteX44" fmla="*/ 3349632 w 9517857"/>
              <a:gd name="connsiteY44" fmla="*/ 432583 h 918356"/>
              <a:gd name="connsiteX45" fmla="*/ 3479593 w 9517857"/>
              <a:gd name="connsiteY45" fmla="*/ 390437 h 918356"/>
              <a:gd name="connsiteX46" fmla="*/ 3660110 w 9517857"/>
              <a:gd name="connsiteY46" fmla="*/ 348726 h 918356"/>
              <a:gd name="connsiteX47" fmla="*/ 3750023 w 9517857"/>
              <a:gd name="connsiteY47" fmla="*/ 370678 h 918356"/>
              <a:gd name="connsiteX48" fmla="*/ 3844133 w 9517857"/>
              <a:gd name="connsiteY48" fmla="*/ 360648 h 918356"/>
              <a:gd name="connsiteX49" fmla="*/ 3913545 w 9517857"/>
              <a:gd name="connsiteY49" fmla="*/ 344235 h 918356"/>
              <a:gd name="connsiteX50" fmla="*/ 4266740 w 9517857"/>
              <a:gd name="connsiteY50" fmla="*/ 361454 h 918356"/>
              <a:gd name="connsiteX51" fmla="*/ 4430770 w 9517857"/>
              <a:gd name="connsiteY51" fmla="*/ 342643 h 918356"/>
              <a:gd name="connsiteX52" fmla="*/ 4512664 w 9517857"/>
              <a:gd name="connsiteY52" fmla="*/ 319948 h 918356"/>
              <a:gd name="connsiteX53" fmla="*/ 4616423 w 9517857"/>
              <a:gd name="connsiteY53" fmla="*/ 290914 h 918356"/>
              <a:gd name="connsiteX54" fmla="*/ 4691675 w 9517857"/>
              <a:gd name="connsiteY54" fmla="*/ 254011 h 918356"/>
              <a:gd name="connsiteX55" fmla="*/ 4689051 w 9517857"/>
              <a:gd name="connsiteY55" fmla="*/ 250968 h 918356"/>
              <a:gd name="connsiteX56" fmla="*/ 4719994 w 9517857"/>
              <a:gd name="connsiteY56" fmla="*/ 245307 h 918356"/>
              <a:gd name="connsiteX57" fmla="*/ 4752894 w 9517857"/>
              <a:gd name="connsiteY57" fmla="*/ 239875 h 918356"/>
              <a:gd name="connsiteX58" fmla="*/ 4769329 w 9517857"/>
              <a:gd name="connsiteY58" fmla="*/ 233585 h 918356"/>
              <a:gd name="connsiteX59" fmla="*/ 4775634 w 9517857"/>
              <a:gd name="connsiteY59" fmla="*/ 234063 h 918356"/>
              <a:gd name="connsiteX60" fmla="*/ 4790452 w 9517857"/>
              <a:gd name="connsiteY60" fmla="*/ 233572 h 918356"/>
              <a:gd name="connsiteX61" fmla="*/ 4789062 w 9517857"/>
              <a:gd name="connsiteY61" fmla="*/ 241924 h 918356"/>
              <a:gd name="connsiteX62" fmla="*/ 4827826 w 9517857"/>
              <a:gd name="connsiteY62" fmla="*/ 246977 h 918356"/>
              <a:gd name="connsiteX63" fmla="*/ 4892569 w 9517857"/>
              <a:gd name="connsiteY63" fmla="*/ 249933 h 918356"/>
              <a:gd name="connsiteX64" fmla="*/ 4896611 w 9517857"/>
              <a:gd name="connsiteY64" fmla="*/ 240448 h 918356"/>
              <a:gd name="connsiteX65" fmla="*/ 4917286 w 9517857"/>
              <a:gd name="connsiteY65" fmla="*/ 243659 h 918356"/>
              <a:gd name="connsiteX66" fmla="*/ 4981173 w 9517857"/>
              <a:gd name="connsiteY66" fmla="*/ 247103 h 918356"/>
              <a:gd name="connsiteX67" fmla="*/ 5060397 w 9517857"/>
              <a:gd name="connsiteY67" fmla="*/ 263688 h 918356"/>
              <a:gd name="connsiteX68" fmla="*/ 5252996 w 9517857"/>
              <a:gd name="connsiteY68" fmla="*/ 270655 h 918356"/>
              <a:gd name="connsiteX69" fmla="*/ 5358056 w 9517857"/>
              <a:gd name="connsiteY69" fmla="*/ 247248 h 918356"/>
              <a:gd name="connsiteX70" fmla="*/ 5426496 w 9517857"/>
              <a:gd name="connsiteY70" fmla="*/ 235142 h 918356"/>
              <a:gd name="connsiteX71" fmla="*/ 5497161 w 9517857"/>
              <a:gd name="connsiteY71" fmla="*/ 228808 h 918356"/>
              <a:gd name="connsiteX72" fmla="*/ 5826043 w 9517857"/>
              <a:gd name="connsiteY72" fmla="*/ 148073 h 918356"/>
              <a:gd name="connsiteX73" fmla="*/ 6013415 w 9517857"/>
              <a:gd name="connsiteY73" fmla="*/ 137316 h 918356"/>
              <a:gd name="connsiteX74" fmla="*/ 6080994 w 9517857"/>
              <a:gd name="connsiteY74" fmla="*/ 142938 h 918356"/>
              <a:gd name="connsiteX75" fmla="*/ 6194152 w 9517857"/>
              <a:gd name="connsiteY75" fmla="*/ 151772 h 918356"/>
              <a:gd name="connsiteX76" fmla="*/ 6281379 w 9517857"/>
              <a:gd name="connsiteY76" fmla="*/ 181626 h 918356"/>
              <a:gd name="connsiteX77" fmla="*/ 6374947 w 9517857"/>
              <a:gd name="connsiteY77" fmla="*/ 179799 h 918356"/>
              <a:gd name="connsiteX78" fmla="*/ 6448518 w 9517857"/>
              <a:gd name="connsiteY78" fmla="*/ 164378 h 918356"/>
              <a:gd name="connsiteX79" fmla="*/ 6544700 w 9517857"/>
              <a:gd name="connsiteY79" fmla="*/ 167161 h 918356"/>
              <a:gd name="connsiteX80" fmla="*/ 6648353 w 9517857"/>
              <a:gd name="connsiteY80" fmla="*/ 172250 h 918356"/>
              <a:gd name="connsiteX81" fmla="*/ 6736227 w 9517857"/>
              <a:gd name="connsiteY81" fmla="*/ 173216 h 918356"/>
              <a:gd name="connsiteX82" fmla="*/ 6977218 w 9517857"/>
              <a:gd name="connsiteY82" fmla="*/ 184289 h 918356"/>
              <a:gd name="connsiteX83" fmla="*/ 7065221 w 9517857"/>
              <a:gd name="connsiteY83" fmla="*/ 227531 h 918356"/>
              <a:gd name="connsiteX84" fmla="*/ 7366876 w 9517857"/>
              <a:gd name="connsiteY84" fmla="*/ 248468 h 918356"/>
              <a:gd name="connsiteX85" fmla="*/ 7565449 w 9517857"/>
              <a:gd name="connsiteY85" fmla="*/ 258950 h 918356"/>
              <a:gd name="connsiteX86" fmla="*/ 7599285 w 9517857"/>
              <a:gd name="connsiteY86" fmla="*/ 266021 h 918356"/>
              <a:gd name="connsiteX87" fmla="*/ 7644411 w 9517857"/>
              <a:gd name="connsiteY87" fmla="*/ 258986 h 918356"/>
              <a:gd name="connsiteX88" fmla="*/ 7825110 w 9517857"/>
              <a:gd name="connsiteY88" fmla="*/ 229109 h 918356"/>
              <a:gd name="connsiteX89" fmla="*/ 7965804 w 9517857"/>
              <a:gd name="connsiteY89" fmla="*/ 190545 h 918356"/>
              <a:gd name="connsiteX90" fmla="*/ 8147401 w 9517857"/>
              <a:gd name="connsiteY90" fmla="*/ 205617 h 918356"/>
              <a:gd name="connsiteX91" fmla="*/ 8256033 w 9517857"/>
              <a:gd name="connsiteY91" fmla="*/ 193713 h 918356"/>
              <a:gd name="connsiteX92" fmla="*/ 8410677 w 9517857"/>
              <a:gd name="connsiteY92" fmla="*/ 172167 h 918356"/>
              <a:gd name="connsiteX93" fmla="*/ 8617841 w 9517857"/>
              <a:gd name="connsiteY93" fmla="*/ 155167 h 918356"/>
              <a:gd name="connsiteX94" fmla="*/ 8715976 w 9517857"/>
              <a:gd name="connsiteY94" fmla="*/ 178374 h 918356"/>
              <a:gd name="connsiteX95" fmla="*/ 8778827 w 9517857"/>
              <a:gd name="connsiteY95" fmla="*/ 172936 h 918356"/>
              <a:gd name="connsiteX96" fmla="*/ 8840778 w 9517857"/>
              <a:gd name="connsiteY96" fmla="*/ 143149 h 918356"/>
              <a:gd name="connsiteX97" fmla="*/ 9010380 w 9517857"/>
              <a:gd name="connsiteY97" fmla="*/ 91891 h 918356"/>
              <a:gd name="connsiteX98" fmla="*/ 9110856 w 9517857"/>
              <a:gd name="connsiteY98" fmla="*/ 70997 h 918356"/>
              <a:gd name="connsiteX99" fmla="*/ 9268817 w 9517857"/>
              <a:gd name="connsiteY99" fmla="*/ 53082 h 918356"/>
              <a:gd name="connsiteX100" fmla="*/ 9316667 w 9517857"/>
              <a:gd name="connsiteY100" fmla="*/ 45047 h 918356"/>
              <a:gd name="connsiteX101" fmla="*/ 9428209 w 9517857"/>
              <a:gd name="connsiteY101" fmla="*/ 29923 h 918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9517857" h="918356">
                <a:moveTo>
                  <a:pt x="4686423" y="247919"/>
                </a:moveTo>
                <a:lnTo>
                  <a:pt x="4689051" y="250968"/>
                </a:lnTo>
                <a:lnTo>
                  <a:pt x="4687244" y="251298"/>
                </a:lnTo>
                <a:close/>
                <a:moveTo>
                  <a:pt x="4685225" y="246530"/>
                </a:moveTo>
                <a:cubicBezTo>
                  <a:pt x="4688837" y="243198"/>
                  <a:pt x="4687468" y="244598"/>
                  <a:pt x="4686133" y="246727"/>
                </a:cubicBezTo>
                <a:lnTo>
                  <a:pt x="4686423" y="247919"/>
                </a:lnTo>
                <a:close/>
                <a:moveTo>
                  <a:pt x="9517856" y="0"/>
                </a:moveTo>
                <a:lnTo>
                  <a:pt x="9517857" y="12"/>
                </a:lnTo>
                <a:lnTo>
                  <a:pt x="9517857" y="918356"/>
                </a:lnTo>
                <a:lnTo>
                  <a:pt x="14604" y="918356"/>
                </a:lnTo>
                <a:lnTo>
                  <a:pt x="12841" y="917763"/>
                </a:lnTo>
                <a:cubicBezTo>
                  <a:pt x="4532" y="914864"/>
                  <a:pt x="-773" y="912807"/>
                  <a:pt x="93" y="912471"/>
                </a:cubicBezTo>
                <a:cubicBezTo>
                  <a:pt x="172" y="912298"/>
                  <a:pt x="58594" y="890495"/>
                  <a:pt x="58674" y="890322"/>
                </a:cubicBezTo>
                <a:cubicBezTo>
                  <a:pt x="127436" y="929614"/>
                  <a:pt x="206243" y="828226"/>
                  <a:pt x="275005" y="807229"/>
                </a:cubicBezTo>
                <a:cubicBezTo>
                  <a:pt x="303983" y="806087"/>
                  <a:pt x="504960" y="777375"/>
                  <a:pt x="587824" y="798195"/>
                </a:cubicBezTo>
                <a:cubicBezTo>
                  <a:pt x="598733" y="769348"/>
                  <a:pt x="682904" y="785924"/>
                  <a:pt x="651826" y="738338"/>
                </a:cubicBezTo>
                <a:cubicBezTo>
                  <a:pt x="688440" y="737862"/>
                  <a:pt x="753255" y="750396"/>
                  <a:pt x="727985" y="719826"/>
                </a:cubicBezTo>
                <a:cubicBezTo>
                  <a:pt x="739648" y="718749"/>
                  <a:pt x="775717" y="715087"/>
                  <a:pt x="778982" y="710142"/>
                </a:cubicBezTo>
                <a:cubicBezTo>
                  <a:pt x="779189" y="709407"/>
                  <a:pt x="849736" y="718721"/>
                  <a:pt x="849944" y="717987"/>
                </a:cubicBezTo>
                <a:lnTo>
                  <a:pt x="921659" y="712695"/>
                </a:lnTo>
                <a:lnTo>
                  <a:pt x="930946" y="734046"/>
                </a:lnTo>
                <a:lnTo>
                  <a:pt x="986250" y="713530"/>
                </a:lnTo>
                <a:lnTo>
                  <a:pt x="1013752" y="713361"/>
                </a:lnTo>
                <a:lnTo>
                  <a:pt x="1023734" y="718571"/>
                </a:lnTo>
                <a:cubicBezTo>
                  <a:pt x="1033291" y="721276"/>
                  <a:pt x="1045398" y="721394"/>
                  <a:pt x="1063207" y="715651"/>
                </a:cubicBezTo>
                <a:lnTo>
                  <a:pt x="1081980" y="738455"/>
                </a:lnTo>
                <a:lnTo>
                  <a:pt x="1218120" y="713280"/>
                </a:lnTo>
                <a:cubicBezTo>
                  <a:pt x="1230137" y="716162"/>
                  <a:pt x="1387179" y="685179"/>
                  <a:pt x="1397459" y="691190"/>
                </a:cubicBezTo>
                <a:cubicBezTo>
                  <a:pt x="1490025" y="704984"/>
                  <a:pt x="1465878" y="715604"/>
                  <a:pt x="1580688" y="693697"/>
                </a:cubicBezTo>
                <a:cubicBezTo>
                  <a:pt x="1607067" y="704379"/>
                  <a:pt x="1719477" y="658239"/>
                  <a:pt x="1772334" y="710640"/>
                </a:cubicBezTo>
                <a:cubicBezTo>
                  <a:pt x="1745536" y="644824"/>
                  <a:pt x="1976078" y="716436"/>
                  <a:pt x="2002561" y="659917"/>
                </a:cubicBezTo>
                <a:cubicBezTo>
                  <a:pt x="2045346" y="660357"/>
                  <a:pt x="2166676" y="654391"/>
                  <a:pt x="2135144" y="636501"/>
                </a:cubicBezTo>
                <a:cubicBezTo>
                  <a:pt x="2276591" y="665055"/>
                  <a:pt x="2293173" y="591792"/>
                  <a:pt x="2440292" y="593862"/>
                </a:cubicBezTo>
                <a:cubicBezTo>
                  <a:pt x="2495160" y="534824"/>
                  <a:pt x="2473343" y="585644"/>
                  <a:pt x="2547829" y="566150"/>
                </a:cubicBezTo>
                <a:cubicBezTo>
                  <a:pt x="2545438" y="614169"/>
                  <a:pt x="2632278" y="528280"/>
                  <a:pt x="2658055" y="578727"/>
                </a:cubicBezTo>
                <a:cubicBezTo>
                  <a:pt x="2670795" y="573581"/>
                  <a:pt x="2682322" y="567005"/>
                  <a:pt x="2693698" y="560029"/>
                </a:cubicBezTo>
                <a:lnTo>
                  <a:pt x="2699673" y="556400"/>
                </a:lnTo>
                <a:lnTo>
                  <a:pt x="2727306" y="550698"/>
                </a:lnTo>
                <a:lnTo>
                  <a:pt x="2730451" y="538058"/>
                </a:lnTo>
                <a:lnTo>
                  <a:pt x="2768713" y="521575"/>
                </a:lnTo>
                <a:cubicBezTo>
                  <a:pt x="2783756" y="517104"/>
                  <a:pt x="2800788" y="514291"/>
                  <a:pt x="2820868" y="514160"/>
                </a:cubicBezTo>
                <a:cubicBezTo>
                  <a:pt x="2894791" y="532885"/>
                  <a:pt x="2981506" y="465507"/>
                  <a:pt x="3073635" y="491294"/>
                </a:cubicBezTo>
                <a:cubicBezTo>
                  <a:pt x="3106872" y="496624"/>
                  <a:pt x="3205785" y="487718"/>
                  <a:pt x="3222071" y="470559"/>
                </a:cubicBezTo>
                <a:cubicBezTo>
                  <a:pt x="3242193" y="465514"/>
                  <a:pt x="3267163" y="469136"/>
                  <a:pt x="3274069" y="451605"/>
                </a:cubicBezTo>
                <a:cubicBezTo>
                  <a:pt x="3286659" y="430165"/>
                  <a:pt x="3363648" y="455571"/>
                  <a:pt x="3349632" y="432583"/>
                </a:cubicBezTo>
                <a:cubicBezTo>
                  <a:pt x="3404182" y="449847"/>
                  <a:pt x="3438210" y="404323"/>
                  <a:pt x="3479593" y="390437"/>
                </a:cubicBezTo>
                <a:cubicBezTo>
                  <a:pt x="3523240" y="408403"/>
                  <a:pt x="3567027" y="361554"/>
                  <a:pt x="3660110" y="348726"/>
                </a:cubicBezTo>
                <a:cubicBezTo>
                  <a:pt x="3708299" y="369683"/>
                  <a:pt x="3662447" y="344775"/>
                  <a:pt x="3750023" y="370678"/>
                </a:cubicBezTo>
                <a:cubicBezTo>
                  <a:pt x="3752092" y="367132"/>
                  <a:pt x="3816880" y="365055"/>
                  <a:pt x="3844133" y="360648"/>
                </a:cubicBezTo>
                <a:cubicBezTo>
                  <a:pt x="3871386" y="356240"/>
                  <a:pt x="3882848" y="332490"/>
                  <a:pt x="3913545" y="344235"/>
                </a:cubicBezTo>
                <a:cubicBezTo>
                  <a:pt x="4050255" y="376864"/>
                  <a:pt x="4159924" y="363190"/>
                  <a:pt x="4266740" y="361454"/>
                </a:cubicBezTo>
                <a:cubicBezTo>
                  <a:pt x="4385770" y="354374"/>
                  <a:pt x="4314535" y="340143"/>
                  <a:pt x="4430770" y="342643"/>
                </a:cubicBezTo>
                <a:cubicBezTo>
                  <a:pt x="4439969" y="322594"/>
                  <a:pt x="4478290" y="314645"/>
                  <a:pt x="4512664" y="319948"/>
                </a:cubicBezTo>
                <a:cubicBezTo>
                  <a:pt x="4570011" y="315138"/>
                  <a:pt x="4549085" y="269599"/>
                  <a:pt x="4616423" y="290914"/>
                </a:cubicBezTo>
                <a:cubicBezTo>
                  <a:pt x="4599641" y="270277"/>
                  <a:pt x="4692085" y="269216"/>
                  <a:pt x="4691675" y="254011"/>
                </a:cubicBezTo>
                <a:lnTo>
                  <a:pt x="4689051" y="250968"/>
                </a:lnTo>
                <a:lnTo>
                  <a:pt x="4719994" y="245307"/>
                </a:lnTo>
                <a:cubicBezTo>
                  <a:pt x="4732635" y="242775"/>
                  <a:pt x="4745300" y="240335"/>
                  <a:pt x="4752894" y="239875"/>
                </a:cubicBezTo>
                <a:lnTo>
                  <a:pt x="4769329" y="233585"/>
                </a:lnTo>
                <a:lnTo>
                  <a:pt x="4775634" y="234063"/>
                </a:lnTo>
                <a:lnTo>
                  <a:pt x="4790452" y="233572"/>
                </a:lnTo>
                <a:cubicBezTo>
                  <a:pt x="4789989" y="236356"/>
                  <a:pt x="4789525" y="239141"/>
                  <a:pt x="4789062" y="241924"/>
                </a:cubicBezTo>
                <a:cubicBezTo>
                  <a:pt x="4786342" y="249932"/>
                  <a:pt x="4804560" y="248631"/>
                  <a:pt x="4827826" y="246977"/>
                </a:cubicBezTo>
                <a:cubicBezTo>
                  <a:pt x="4875782" y="239569"/>
                  <a:pt x="4874112" y="283413"/>
                  <a:pt x="4892569" y="249933"/>
                </a:cubicBezTo>
                <a:lnTo>
                  <a:pt x="4896611" y="240448"/>
                </a:lnTo>
                <a:lnTo>
                  <a:pt x="4917286" y="243659"/>
                </a:lnTo>
                <a:cubicBezTo>
                  <a:pt x="4923060" y="243799"/>
                  <a:pt x="4981729" y="240979"/>
                  <a:pt x="4981173" y="247103"/>
                </a:cubicBezTo>
                <a:cubicBezTo>
                  <a:pt x="5024880" y="220690"/>
                  <a:pt x="5014146" y="257963"/>
                  <a:pt x="5060397" y="263688"/>
                </a:cubicBezTo>
                <a:cubicBezTo>
                  <a:pt x="5093356" y="238589"/>
                  <a:pt x="5157892" y="275351"/>
                  <a:pt x="5252996" y="270655"/>
                </a:cubicBezTo>
                <a:cubicBezTo>
                  <a:pt x="5288840" y="241872"/>
                  <a:pt x="5287005" y="287921"/>
                  <a:pt x="5358056" y="247248"/>
                </a:cubicBezTo>
                <a:cubicBezTo>
                  <a:pt x="5361752" y="250257"/>
                  <a:pt x="5403312" y="238215"/>
                  <a:pt x="5426496" y="235142"/>
                </a:cubicBezTo>
                <a:cubicBezTo>
                  <a:pt x="5449679" y="232069"/>
                  <a:pt x="5473549" y="245611"/>
                  <a:pt x="5497161" y="228808"/>
                </a:cubicBezTo>
                <a:cubicBezTo>
                  <a:pt x="5611861" y="172767"/>
                  <a:pt x="5723211" y="165860"/>
                  <a:pt x="5826043" y="148073"/>
                </a:cubicBezTo>
                <a:cubicBezTo>
                  <a:pt x="5943127" y="133166"/>
                  <a:pt x="5872659" y="193078"/>
                  <a:pt x="6013415" y="137316"/>
                </a:cubicBezTo>
                <a:cubicBezTo>
                  <a:pt x="6031924" y="154783"/>
                  <a:pt x="6050745" y="154258"/>
                  <a:pt x="6080994" y="142938"/>
                </a:cubicBezTo>
                <a:cubicBezTo>
                  <a:pt x="6138083" y="137090"/>
                  <a:pt x="6140195" y="184383"/>
                  <a:pt x="6194152" y="151772"/>
                </a:cubicBezTo>
                <a:cubicBezTo>
                  <a:pt x="6187280" y="177783"/>
                  <a:pt x="6304222" y="153410"/>
                  <a:pt x="6281379" y="181626"/>
                </a:cubicBezTo>
                <a:cubicBezTo>
                  <a:pt x="6321899" y="201819"/>
                  <a:pt x="6335111" y="162590"/>
                  <a:pt x="6374947" y="179799"/>
                </a:cubicBezTo>
                <a:cubicBezTo>
                  <a:pt x="6417404" y="181336"/>
                  <a:pt x="6402484" y="169694"/>
                  <a:pt x="6448518" y="164378"/>
                </a:cubicBezTo>
                <a:cubicBezTo>
                  <a:pt x="6504958" y="162488"/>
                  <a:pt x="6493438" y="111203"/>
                  <a:pt x="6544700" y="167161"/>
                </a:cubicBezTo>
                <a:cubicBezTo>
                  <a:pt x="6601507" y="148697"/>
                  <a:pt x="6566269" y="164386"/>
                  <a:pt x="6648353" y="172250"/>
                </a:cubicBezTo>
                <a:cubicBezTo>
                  <a:pt x="6680008" y="155223"/>
                  <a:pt x="6707960" y="160673"/>
                  <a:pt x="6736227" y="173216"/>
                </a:cubicBezTo>
                <a:cubicBezTo>
                  <a:pt x="6813963" y="164284"/>
                  <a:pt x="6888143" y="181296"/>
                  <a:pt x="6977218" y="184289"/>
                </a:cubicBezTo>
                <a:cubicBezTo>
                  <a:pt x="7040424" y="188318"/>
                  <a:pt x="7000278" y="216835"/>
                  <a:pt x="7065221" y="227531"/>
                </a:cubicBezTo>
                <a:cubicBezTo>
                  <a:pt x="7130163" y="238228"/>
                  <a:pt x="7291878" y="238208"/>
                  <a:pt x="7366876" y="248468"/>
                </a:cubicBezTo>
                <a:cubicBezTo>
                  <a:pt x="7491356" y="206752"/>
                  <a:pt x="7367734" y="280166"/>
                  <a:pt x="7565449" y="258950"/>
                </a:cubicBezTo>
                <a:cubicBezTo>
                  <a:pt x="7575959" y="252432"/>
                  <a:pt x="7600854" y="257628"/>
                  <a:pt x="7599285" y="266021"/>
                </a:cubicBezTo>
                <a:cubicBezTo>
                  <a:pt x="7611616" y="262940"/>
                  <a:pt x="7639946" y="245819"/>
                  <a:pt x="7644411" y="258986"/>
                </a:cubicBezTo>
                <a:cubicBezTo>
                  <a:pt x="7708015" y="258012"/>
                  <a:pt x="7770249" y="247724"/>
                  <a:pt x="7825110" y="229109"/>
                </a:cubicBezTo>
                <a:cubicBezTo>
                  <a:pt x="7949762" y="247028"/>
                  <a:pt x="7921956" y="197757"/>
                  <a:pt x="7965804" y="190545"/>
                </a:cubicBezTo>
                <a:cubicBezTo>
                  <a:pt x="8039439" y="213878"/>
                  <a:pt x="8063651" y="191475"/>
                  <a:pt x="8147401" y="205617"/>
                </a:cubicBezTo>
                <a:cubicBezTo>
                  <a:pt x="8166453" y="196610"/>
                  <a:pt x="8225048" y="207099"/>
                  <a:pt x="8256033" y="193713"/>
                </a:cubicBezTo>
                <a:cubicBezTo>
                  <a:pt x="8311388" y="242017"/>
                  <a:pt x="8350376" y="178592"/>
                  <a:pt x="8410677" y="172167"/>
                </a:cubicBezTo>
                <a:cubicBezTo>
                  <a:pt x="8470978" y="165743"/>
                  <a:pt x="8572470" y="206385"/>
                  <a:pt x="8617841" y="155167"/>
                </a:cubicBezTo>
                <a:cubicBezTo>
                  <a:pt x="8646050" y="160448"/>
                  <a:pt x="8664949" y="183631"/>
                  <a:pt x="8715976" y="178374"/>
                </a:cubicBezTo>
                <a:cubicBezTo>
                  <a:pt x="8737194" y="188216"/>
                  <a:pt x="8738009" y="189511"/>
                  <a:pt x="8778827" y="172936"/>
                </a:cubicBezTo>
                <a:cubicBezTo>
                  <a:pt x="8725277" y="146372"/>
                  <a:pt x="8850819" y="175612"/>
                  <a:pt x="8840778" y="143149"/>
                </a:cubicBezTo>
                <a:cubicBezTo>
                  <a:pt x="8903519" y="121096"/>
                  <a:pt x="9021861" y="150359"/>
                  <a:pt x="9010380" y="91891"/>
                </a:cubicBezTo>
                <a:cubicBezTo>
                  <a:pt x="9027103" y="56852"/>
                  <a:pt x="9112524" y="108357"/>
                  <a:pt x="9110856" y="70997"/>
                </a:cubicBezTo>
                <a:cubicBezTo>
                  <a:pt x="9148189" y="94250"/>
                  <a:pt x="9209809" y="53285"/>
                  <a:pt x="9268817" y="53082"/>
                </a:cubicBezTo>
                <a:cubicBezTo>
                  <a:pt x="9279135" y="35997"/>
                  <a:pt x="9292736" y="36520"/>
                  <a:pt x="9316667" y="45047"/>
                </a:cubicBezTo>
                <a:cubicBezTo>
                  <a:pt x="9352186" y="45862"/>
                  <a:pt x="9390008" y="39799"/>
                  <a:pt x="9428209" y="29923"/>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spTree>
    <p:extLst>
      <p:ext uri="{BB962C8B-B14F-4D97-AF65-F5344CB8AC3E}">
        <p14:creationId xmlns:p14="http://schemas.microsoft.com/office/powerpoint/2010/main" val="394391372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6" name="Rectangle 25">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Freeform: Shape 26">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8824632"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p:cNvSpPr>
            <a:spLocks noGrp="1"/>
          </p:cNvSpPr>
          <p:nvPr>
            <p:ph type="title"/>
          </p:nvPr>
        </p:nvSpPr>
        <p:spPr>
          <a:xfrm>
            <a:off x="852775" y="609597"/>
            <a:ext cx="7044316" cy="1330841"/>
          </a:xfrm>
        </p:spPr>
        <p:txBody>
          <a:bodyPr>
            <a:normAutofit fontScale="90000"/>
          </a:bodyPr>
          <a:lstStyle/>
          <a:p>
            <a:pPr algn="l">
              <a:defRPr sz="1800"/>
            </a:pPr>
            <a:r>
              <a:rPr lang="en-US" sz="1400" b="1" dirty="0"/>
              <a:t>Q1 - The resolution window is 7 days; we would like to optimize this timeframe. Recommend a new one and justify. </a:t>
            </a:r>
            <a:br>
              <a:rPr lang="en-US" sz="1400" b="1" dirty="0"/>
            </a:br>
            <a:br>
              <a:rPr lang="en-US" sz="2000" b="1" dirty="0"/>
            </a:br>
            <a:r>
              <a:rPr lang="en-US" sz="2000" b="1" dirty="0"/>
              <a:t>A 7-day window already captures the majority of recontacts; longer windows add diminishing returns.</a:t>
            </a:r>
          </a:p>
        </p:txBody>
      </p:sp>
      <p:sp>
        <p:nvSpPr>
          <p:cNvPr id="3" name="Content Placeholder 2"/>
          <p:cNvSpPr>
            <a:spLocks noGrp="1"/>
          </p:cNvSpPr>
          <p:nvPr>
            <p:ph idx="1"/>
          </p:nvPr>
        </p:nvSpPr>
        <p:spPr>
          <a:xfrm>
            <a:off x="852775" y="2198362"/>
            <a:ext cx="3719225" cy="3917773"/>
          </a:xfrm>
        </p:spPr>
        <p:txBody>
          <a:bodyPr>
            <a:normAutofit/>
          </a:bodyPr>
          <a:lstStyle/>
          <a:p>
            <a:pPr>
              <a:defRPr sz="1800"/>
            </a:pPr>
            <a:r>
              <a:rPr lang="en-US" sz="1700" b="1" dirty="0">
                <a:latin typeface="Calibri"/>
              </a:rPr>
              <a:t>Recontacts timeline: large share within the first 3–7 days.</a:t>
            </a:r>
          </a:p>
          <a:p>
            <a:pPr>
              <a:defRPr sz="1800"/>
            </a:pPr>
            <a:r>
              <a:rPr lang="en-US" sz="1700" dirty="0">
                <a:latin typeface="Calibri"/>
              </a:rPr>
              <a:t>Shorter windows give faster feedback but risk classifying unresolved issues as resolved.</a:t>
            </a:r>
          </a:p>
          <a:p>
            <a:pPr>
              <a:defRPr sz="1800"/>
            </a:pPr>
            <a:r>
              <a:rPr lang="en-US" sz="1700" dirty="0">
                <a:latin typeface="Calibri"/>
              </a:rPr>
              <a:t>Recommendation: Use a 7–10 day window and define 'resolved' as: IS_RESOLVING_INTERACTION = TRUE + no same-product recontact within that window.</a:t>
            </a:r>
          </a:p>
        </p:txBody>
      </p:sp>
      <p:sp>
        <p:nvSpPr>
          <p:cNvPr id="25" name="Freeform: Shape 24">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4036218" y="6209414"/>
            <a:ext cx="5107781"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aphicFrame>
        <p:nvGraphicFramePr>
          <p:cNvPr id="4" name="Chart 3">
            <a:extLst>
              <a:ext uri="{FF2B5EF4-FFF2-40B4-BE49-F238E27FC236}">
                <a16:creationId xmlns:a16="http://schemas.microsoft.com/office/drawing/2014/main" id="{85C3E57A-3834-36AA-BCED-55469E26D1A7}"/>
              </a:ext>
            </a:extLst>
          </p:cNvPr>
          <p:cNvGraphicFramePr>
            <a:graphicFrameLocks/>
          </p:cNvGraphicFramePr>
          <p:nvPr>
            <p:extLst>
              <p:ext uri="{D42A27DB-BD31-4B8C-83A1-F6EECF244321}">
                <p14:modId xmlns:p14="http://schemas.microsoft.com/office/powerpoint/2010/main" val="3441473532"/>
              </p:ext>
            </p:extLst>
          </p:nvPr>
        </p:nvGraphicFramePr>
        <p:xfrm>
          <a:off x="5039525" y="2184914"/>
          <a:ext cx="3591379" cy="3755915"/>
        </p:xfrm>
        <a:graphic>
          <a:graphicData uri="http://schemas.openxmlformats.org/drawingml/2006/chart">
            <c:chart xmlns:c="http://schemas.openxmlformats.org/drawingml/2006/chart" xmlns:r="http://schemas.openxmlformats.org/officeDocument/2006/relationships" r:id="rId2"/>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2" name="Rectangle 31">
            <a:extLst>
              <a:ext uri="{FF2B5EF4-FFF2-40B4-BE49-F238E27FC236}">
                <a16:creationId xmlns:a16="http://schemas.microsoft.com/office/drawing/2014/main" id="{131BAD53-4E89-4F62-BBB7-26359763ED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Freeform: Shape 32">
            <a:extLst>
              <a:ext uri="{FF2B5EF4-FFF2-40B4-BE49-F238E27FC236}">
                <a16:creationId xmlns:a16="http://schemas.microsoft.com/office/drawing/2014/main" id="{62756DA2-40EB-4C6F-B962-5822FFB54F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240078" cy="6858000"/>
          </a:xfrm>
          <a:custGeom>
            <a:avLst/>
            <a:gdLst>
              <a:gd name="connsiteX0" fmla="*/ 0 w 6096000"/>
              <a:gd name="connsiteY0" fmla="*/ 0 h 6858000"/>
              <a:gd name="connsiteX1" fmla="*/ 5567517 w 6096000"/>
              <a:gd name="connsiteY1" fmla="*/ 0 h 6858000"/>
              <a:gd name="connsiteX2" fmla="*/ 5566938 w 6096000"/>
              <a:gd name="connsiteY2" fmla="*/ 1705 h 6858000"/>
              <a:gd name="connsiteX3" fmla="*/ 5551594 w 6096000"/>
              <a:gd name="connsiteY3" fmla="*/ 17287 h 6858000"/>
              <a:gd name="connsiteX4" fmla="*/ 5545641 w 6096000"/>
              <a:gd name="connsiteY4" fmla="*/ 130336 h 6858000"/>
              <a:gd name="connsiteX5" fmla="*/ 5538289 w 6096000"/>
              <a:gd name="connsiteY5" fmla="*/ 187093 h 6858000"/>
              <a:gd name="connsiteX6" fmla="*/ 5545790 w 6096000"/>
              <a:gd name="connsiteY6" fmla="*/ 265704 h 6858000"/>
              <a:gd name="connsiteX7" fmla="*/ 5542313 w 6096000"/>
              <a:gd name="connsiteY7" fmla="*/ 354566 h 6858000"/>
              <a:gd name="connsiteX8" fmla="*/ 5524126 w 6096000"/>
              <a:gd name="connsiteY8" fmla="*/ 472000 h 6858000"/>
              <a:gd name="connsiteX9" fmla="*/ 5522170 w 6096000"/>
              <a:gd name="connsiteY9" fmla="*/ 473782 h 6858000"/>
              <a:gd name="connsiteX10" fmla="*/ 5521798 w 6096000"/>
              <a:gd name="connsiteY10" fmla="*/ 491380 h 6858000"/>
              <a:gd name="connsiteX11" fmla="*/ 5536419 w 6096000"/>
              <a:gd name="connsiteY11" fmla="*/ 531675 h 6858000"/>
              <a:gd name="connsiteX12" fmla="*/ 5533435 w 6096000"/>
              <a:gd name="connsiteY12" fmla="*/ 536015 h 6858000"/>
              <a:gd name="connsiteX13" fmla="*/ 5538088 w 6096000"/>
              <a:gd name="connsiteY13" fmla="*/ 572092 h 6858000"/>
              <a:gd name="connsiteX14" fmla="*/ 5536061 w 6096000"/>
              <a:gd name="connsiteY14" fmla="*/ 572511 h 6858000"/>
              <a:gd name="connsiteX15" fmla="*/ 5528218 w 6096000"/>
              <a:gd name="connsiteY15" fmla="*/ 582332 h 6858000"/>
              <a:gd name="connsiteX16" fmla="*/ 5518011 w 6096000"/>
              <a:gd name="connsiteY16" fmla="*/ 601285 h 6858000"/>
              <a:gd name="connsiteX17" fmla="*/ 5473174 w 6096000"/>
              <a:gd name="connsiteY17" fmla="*/ 681608 h 6858000"/>
              <a:gd name="connsiteX18" fmla="*/ 5472963 w 6096000"/>
              <a:gd name="connsiteY18" fmla="*/ 689151 h 6858000"/>
              <a:gd name="connsiteX19" fmla="*/ 5472485 w 6096000"/>
              <a:gd name="connsiteY19" fmla="*/ 689289 h 6858000"/>
              <a:gd name="connsiteX20" fmla="*/ 5471326 w 6096000"/>
              <a:gd name="connsiteY20" fmla="*/ 697222 h 6858000"/>
              <a:gd name="connsiteX21" fmla="*/ 5472164 w 6096000"/>
              <a:gd name="connsiteY21" fmla="*/ 717531 h 6858000"/>
              <a:gd name="connsiteX22" fmla="*/ 5468891 w 6096000"/>
              <a:gd name="connsiteY22" fmla="*/ 722494 h 6858000"/>
              <a:gd name="connsiteX23" fmla="*/ 5463081 w 6096000"/>
              <a:gd name="connsiteY23" fmla="*/ 724368 h 6858000"/>
              <a:gd name="connsiteX24" fmla="*/ 5446981 w 6096000"/>
              <a:gd name="connsiteY24" fmla="*/ 752692 h 6858000"/>
              <a:gd name="connsiteX25" fmla="*/ 5417190 w 6096000"/>
              <a:gd name="connsiteY25" fmla="*/ 816346 h 6858000"/>
              <a:gd name="connsiteX26" fmla="*/ 5388958 w 6096000"/>
              <a:gd name="connsiteY26" fmla="*/ 889417 h 6858000"/>
              <a:gd name="connsiteX27" fmla="*/ 5307044 w 6096000"/>
              <a:gd name="connsiteY27" fmla="*/ 1063288 h 6858000"/>
              <a:gd name="connsiteX28" fmla="*/ 5303837 w 6096000"/>
              <a:gd name="connsiteY28" fmla="*/ 1157176 h 6858000"/>
              <a:gd name="connsiteX29" fmla="*/ 5286494 w 6096000"/>
              <a:gd name="connsiteY29" fmla="*/ 1210776 h 6858000"/>
              <a:gd name="connsiteX30" fmla="*/ 5282463 w 6096000"/>
              <a:gd name="connsiteY30" fmla="*/ 1301993 h 6858000"/>
              <a:gd name="connsiteX31" fmla="*/ 5252235 w 6096000"/>
              <a:gd name="connsiteY31" fmla="*/ 1360879 h 6858000"/>
              <a:gd name="connsiteX32" fmla="*/ 5244497 w 6096000"/>
              <a:gd name="connsiteY32" fmla="*/ 1404045 h 6858000"/>
              <a:gd name="connsiteX33" fmla="*/ 5223823 w 6096000"/>
              <a:gd name="connsiteY33" fmla="*/ 1429568 h 6858000"/>
              <a:gd name="connsiteX34" fmla="*/ 5224851 w 6096000"/>
              <a:gd name="connsiteY34" fmla="*/ 1430305 h 6858000"/>
              <a:gd name="connsiteX35" fmla="*/ 5212394 w 6096000"/>
              <a:gd name="connsiteY35" fmla="*/ 1463304 h 6858000"/>
              <a:gd name="connsiteX36" fmla="*/ 5209958 w 6096000"/>
              <a:gd name="connsiteY36" fmla="*/ 1514846 h 6858000"/>
              <a:gd name="connsiteX37" fmla="*/ 5206417 w 6096000"/>
              <a:gd name="connsiteY37" fmla="*/ 1519731 h 6858000"/>
              <a:gd name="connsiteX38" fmla="*/ 5206640 w 6096000"/>
              <a:gd name="connsiteY38" fmla="*/ 1519929 h 6858000"/>
              <a:gd name="connsiteX39" fmla="*/ 5207632 w 6096000"/>
              <a:gd name="connsiteY39" fmla="*/ 1546022 h 6858000"/>
              <a:gd name="connsiteX40" fmla="*/ 5212030 w 6096000"/>
              <a:gd name="connsiteY40" fmla="*/ 1578752 h 6858000"/>
              <a:gd name="connsiteX41" fmla="*/ 5203533 w 6096000"/>
              <a:gd name="connsiteY41" fmla="*/ 1647555 h 6858000"/>
              <a:gd name="connsiteX42" fmla="*/ 5190877 w 6096000"/>
              <a:gd name="connsiteY42" fmla="*/ 1715685 h 6858000"/>
              <a:gd name="connsiteX43" fmla="*/ 5184235 w 6096000"/>
              <a:gd name="connsiteY43" fmla="*/ 1740358 h 6858000"/>
              <a:gd name="connsiteX44" fmla="*/ 5181475 w 6096000"/>
              <a:gd name="connsiteY44" fmla="*/ 1784314 h 6858000"/>
              <a:gd name="connsiteX45" fmla="*/ 5185845 w 6096000"/>
              <a:gd name="connsiteY45" fmla="*/ 1804434 h 6858000"/>
              <a:gd name="connsiteX46" fmla="*/ 5185068 w 6096000"/>
              <a:gd name="connsiteY46" fmla="*/ 1805316 h 6858000"/>
              <a:gd name="connsiteX47" fmla="*/ 5188593 w 6096000"/>
              <a:gd name="connsiteY47" fmla="*/ 1807109 h 6858000"/>
              <a:gd name="connsiteX48" fmla="*/ 5185920 w 6096000"/>
              <a:gd name="connsiteY48" fmla="*/ 1821003 h 6858000"/>
              <a:gd name="connsiteX49" fmla="*/ 5183543 w 6096000"/>
              <a:gd name="connsiteY49" fmla="*/ 1824832 h 6858000"/>
              <a:gd name="connsiteX50" fmla="*/ 5182235 w 6096000"/>
              <a:gd name="connsiteY50" fmla="*/ 1830429 h 6858000"/>
              <a:gd name="connsiteX51" fmla="*/ 5182525 w 6096000"/>
              <a:gd name="connsiteY51" fmla="*/ 1830569 h 6858000"/>
              <a:gd name="connsiteX52" fmla="*/ 5180663 w 6096000"/>
              <a:gd name="connsiteY52" fmla="*/ 1835810 h 6858000"/>
              <a:gd name="connsiteX53" fmla="*/ 5167452 w 6096000"/>
              <a:gd name="connsiteY53" fmla="*/ 1861483 h 6858000"/>
              <a:gd name="connsiteX54" fmla="*/ 5174266 w 6096000"/>
              <a:gd name="connsiteY54" fmla="*/ 1892417 h 6858000"/>
              <a:gd name="connsiteX55" fmla="*/ 5189262 w 6096000"/>
              <a:gd name="connsiteY55" fmla="*/ 1895114 h 6858000"/>
              <a:gd name="connsiteX56" fmla="*/ 5187100 w 6096000"/>
              <a:gd name="connsiteY56" fmla="*/ 1899379 h 6858000"/>
              <a:gd name="connsiteX57" fmla="*/ 5180471 w 6096000"/>
              <a:gd name="connsiteY57" fmla="*/ 1907867 h 6858000"/>
              <a:gd name="connsiteX58" fmla="*/ 5181361 w 6096000"/>
              <a:gd name="connsiteY58" fmla="*/ 1910265 h 6858000"/>
              <a:gd name="connsiteX59" fmla="*/ 5178268 w 6096000"/>
              <a:gd name="connsiteY59" fmla="*/ 1935584 h 6858000"/>
              <a:gd name="connsiteX60" fmla="*/ 5183619 w 6096000"/>
              <a:gd name="connsiteY60" fmla="*/ 1942021 h 6858000"/>
              <a:gd name="connsiteX61" fmla="*/ 5184480 w 6096000"/>
              <a:gd name="connsiteY61" fmla="*/ 1945112 h 6858000"/>
              <a:gd name="connsiteX62" fmla="*/ 5172776 w 6096000"/>
              <a:gd name="connsiteY62" fmla="*/ 1961162 h 6858000"/>
              <a:gd name="connsiteX63" fmla="*/ 5168513 w 6096000"/>
              <a:gd name="connsiteY63" fmla="*/ 1969445 h 6858000"/>
              <a:gd name="connsiteX64" fmla="*/ 5126597 w 6096000"/>
              <a:gd name="connsiteY64" fmla="*/ 2024270 h 6858000"/>
              <a:gd name="connsiteX65" fmla="*/ 5119528 w 6096000"/>
              <a:gd name="connsiteY65" fmla="*/ 2107942 h 6858000"/>
              <a:gd name="connsiteX66" fmla="*/ 5110356 w 6096000"/>
              <a:gd name="connsiteY66" fmla="*/ 2193455 h 6858000"/>
              <a:gd name="connsiteX67" fmla="*/ 5104992 w 6096000"/>
              <a:gd name="connsiteY67" fmla="*/ 2260088 h 6858000"/>
              <a:gd name="connsiteX68" fmla="*/ 5059439 w 6096000"/>
              <a:gd name="connsiteY68" fmla="*/ 2335735 h 6858000"/>
              <a:gd name="connsiteX69" fmla="*/ 5022061 w 6096000"/>
              <a:gd name="connsiteY69" fmla="*/ 2408995 h 6858000"/>
              <a:gd name="connsiteX70" fmla="*/ 5022253 w 6096000"/>
              <a:gd name="connsiteY70" fmla="*/ 2445869 h 6858000"/>
              <a:gd name="connsiteX71" fmla="*/ 5011426 w 6096000"/>
              <a:gd name="connsiteY71" fmla="*/ 2496499 h 6858000"/>
              <a:gd name="connsiteX72" fmla="*/ 4994224 w 6096000"/>
              <a:gd name="connsiteY72" fmla="*/ 2549900 h 6858000"/>
              <a:gd name="connsiteX73" fmla="*/ 4995245 w 6096000"/>
              <a:gd name="connsiteY73" fmla="*/ 2596456 h 6858000"/>
              <a:gd name="connsiteX74" fmla="*/ 4988570 w 6096000"/>
              <a:gd name="connsiteY74" fmla="*/ 2606088 h 6858000"/>
              <a:gd name="connsiteX75" fmla="*/ 4988371 w 6096000"/>
              <a:gd name="connsiteY75" fmla="*/ 2635351 h 6858000"/>
              <a:gd name="connsiteX76" fmla="*/ 4983212 w 6096000"/>
              <a:gd name="connsiteY76" fmla="*/ 2665666 h 6858000"/>
              <a:gd name="connsiteX77" fmla="*/ 4968234 w 6096000"/>
              <a:gd name="connsiteY77" fmla="*/ 2715895 h 6858000"/>
              <a:gd name="connsiteX78" fmla="*/ 4975888 w 6096000"/>
              <a:gd name="connsiteY78" fmla="*/ 2725052 h 6858000"/>
              <a:gd name="connsiteX79" fmla="*/ 4980195 w 6096000"/>
              <a:gd name="connsiteY79" fmla="*/ 2726489 h 6858000"/>
              <a:gd name="connsiteX80" fmla="*/ 4976218 w 6096000"/>
              <a:gd name="connsiteY80" fmla="*/ 2740278 h 6858000"/>
              <a:gd name="connsiteX81" fmla="*/ 4980571 w 6096000"/>
              <a:gd name="connsiteY81" fmla="*/ 2751112 h 6858000"/>
              <a:gd name="connsiteX82" fmla="*/ 4973893 w 6096000"/>
              <a:gd name="connsiteY82" fmla="*/ 2760208 h 6858000"/>
              <a:gd name="connsiteX83" fmla="*/ 4979005 w 6096000"/>
              <a:gd name="connsiteY83" fmla="*/ 2790136 h 6858000"/>
              <a:gd name="connsiteX84" fmla="*/ 4986137 w 6096000"/>
              <a:gd name="connsiteY84" fmla="*/ 2804183 h 6858000"/>
              <a:gd name="connsiteX85" fmla="*/ 4986175 w 6096000"/>
              <a:gd name="connsiteY85" fmla="*/ 2825860 h 6858000"/>
              <a:gd name="connsiteX86" fmla="*/ 4993936 w 6096000"/>
              <a:gd name="connsiteY86" fmla="*/ 2911749 h 6858000"/>
              <a:gd name="connsiteX87" fmla="*/ 4992563 w 6096000"/>
              <a:gd name="connsiteY87" fmla="*/ 2977278 h 6858000"/>
              <a:gd name="connsiteX88" fmla="*/ 4980516 w 6096000"/>
              <a:gd name="connsiteY88" fmla="*/ 2991092 h 6858000"/>
              <a:gd name="connsiteX89" fmla="*/ 4992801 w 6096000"/>
              <a:gd name="connsiteY89" fmla="*/ 3020247 h 6858000"/>
              <a:gd name="connsiteX90" fmla="*/ 5014805 w 6096000"/>
              <a:gd name="connsiteY90" fmla="*/ 3065434 h 6858000"/>
              <a:gd name="connsiteX91" fmla="*/ 5002733 w 6096000"/>
              <a:gd name="connsiteY91" fmla="*/ 3103777 h 6858000"/>
              <a:gd name="connsiteX92" fmla="*/ 5002941 w 6096000"/>
              <a:gd name="connsiteY92" fmla="*/ 3151828 h 6858000"/>
              <a:gd name="connsiteX93" fmla="*/ 5002883 w 6096000"/>
              <a:gd name="connsiteY93" fmla="*/ 3180546 h 6858000"/>
              <a:gd name="connsiteX94" fmla="*/ 5016711 w 6096000"/>
              <a:gd name="connsiteY94" fmla="*/ 3258677 h 6858000"/>
              <a:gd name="connsiteX95" fmla="*/ 5017918 w 6096000"/>
              <a:gd name="connsiteY95" fmla="*/ 3262610 h 6858000"/>
              <a:gd name="connsiteX96" fmla="*/ 5011672 w 6096000"/>
              <a:gd name="connsiteY96" fmla="*/ 3277179 h 6858000"/>
              <a:gd name="connsiteX97" fmla="*/ 5009344 w 6096000"/>
              <a:gd name="connsiteY97" fmla="*/ 3278130 h 6858000"/>
              <a:gd name="connsiteX98" fmla="*/ 5026770 w 6096000"/>
              <a:gd name="connsiteY98" fmla="*/ 3325671 h 6858000"/>
              <a:gd name="connsiteX99" fmla="*/ 5024571 w 6096000"/>
              <a:gd name="connsiteY99" fmla="*/ 3332072 h 6858000"/>
              <a:gd name="connsiteX100" fmla="*/ 5041705 w 6096000"/>
              <a:gd name="connsiteY100" fmla="*/ 3362948 h 6858000"/>
              <a:gd name="connsiteX101" fmla="*/ 5047477 w 6096000"/>
              <a:gd name="connsiteY101" fmla="*/ 3378959 h 6858000"/>
              <a:gd name="connsiteX102" fmla="*/ 5060758 w 6096000"/>
              <a:gd name="connsiteY102" fmla="*/ 3407057 h 6858000"/>
              <a:gd name="connsiteX103" fmla="*/ 5058968 w 6096000"/>
              <a:gd name="connsiteY103" fmla="*/ 3409825 h 6858000"/>
              <a:gd name="connsiteX104" fmla="*/ 5062667 w 6096000"/>
              <a:gd name="connsiteY104" fmla="*/ 3415218 h 6858000"/>
              <a:gd name="connsiteX105" fmla="*/ 5060928 w 6096000"/>
              <a:gd name="connsiteY105" fmla="*/ 3419880 h 6858000"/>
              <a:gd name="connsiteX106" fmla="*/ 5062923 w 6096000"/>
              <a:gd name="connsiteY106" fmla="*/ 3424545 h 6858000"/>
              <a:gd name="connsiteX107" fmla="*/ 5064623 w 6096000"/>
              <a:gd name="connsiteY107" fmla="*/ 3476412 h 6858000"/>
              <a:gd name="connsiteX108" fmla="*/ 5069684 w 6096000"/>
              <a:gd name="connsiteY108" fmla="*/ 3486850 h 6858000"/>
              <a:gd name="connsiteX109" fmla="*/ 5063339 w 6096000"/>
              <a:gd name="connsiteY109" fmla="*/ 3496391 h 6858000"/>
              <a:gd name="connsiteX110" fmla="*/ 5070139 w 6096000"/>
              <a:gd name="connsiteY110" fmla="*/ 3531201 h 6858000"/>
              <a:gd name="connsiteX111" fmla="*/ 5079896 w 6096000"/>
              <a:gd name="connsiteY111" fmla="*/ 3542019 h 6858000"/>
              <a:gd name="connsiteX112" fmla="*/ 5087540 w 6096000"/>
              <a:gd name="connsiteY112" fmla="*/ 3552249 h 6858000"/>
              <a:gd name="connsiteX113" fmla="*/ 5087902 w 6096000"/>
              <a:gd name="connsiteY113" fmla="*/ 3553678 h 6858000"/>
              <a:gd name="connsiteX114" fmla="*/ 5091509 w 6096000"/>
              <a:gd name="connsiteY114" fmla="*/ 3568021 h 6858000"/>
              <a:gd name="connsiteX115" fmla="*/ 5091934 w 6096000"/>
              <a:gd name="connsiteY115" fmla="*/ 3569719 h 6858000"/>
              <a:gd name="connsiteX116" fmla="*/ 5089362 w 6096000"/>
              <a:gd name="connsiteY116" fmla="*/ 3586412 h 6858000"/>
              <a:gd name="connsiteX117" fmla="*/ 5092358 w 6096000"/>
              <a:gd name="connsiteY117" fmla="*/ 3597336 h 6858000"/>
              <a:gd name="connsiteX118" fmla="*/ 5084254 w 6096000"/>
              <a:gd name="connsiteY118" fmla="*/ 3606007 h 6858000"/>
              <a:gd name="connsiteX119" fmla="*/ 5084281 w 6096000"/>
              <a:gd name="connsiteY119" fmla="*/ 3641228 h 6858000"/>
              <a:gd name="connsiteX120" fmla="*/ 5091848 w 6096000"/>
              <a:gd name="connsiteY120" fmla="*/ 3653088 h 6858000"/>
              <a:gd name="connsiteX121" fmla="*/ 5097436 w 6096000"/>
              <a:gd name="connsiteY121" fmla="*/ 3664114 h 6858000"/>
              <a:gd name="connsiteX122" fmla="*/ 5097518 w 6096000"/>
              <a:gd name="connsiteY122" fmla="*/ 3665569 h 6858000"/>
              <a:gd name="connsiteX123" fmla="*/ 5099829 w 6096000"/>
              <a:gd name="connsiteY123" fmla="*/ 3707357 h 6858000"/>
              <a:gd name="connsiteX124" fmla="*/ 5114696 w 6096000"/>
              <a:gd name="connsiteY124" fmla="*/ 3778166 h 6858000"/>
              <a:gd name="connsiteX125" fmla="*/ 5135379 w 6096000"/>
              <a:gd name="connsiteY125" fmla="*/ 3878222 h 6858000"/>
              <a:gd name="connsiteX126" fmla="*/ 5130138 w 6096000"/>
              <a:gd name="connsiteY126" fmla="*/ 4048117 h 6858000"/>
              <a:gd name="connsiteX127" fmla="*/ 5090040 w 6096000"/>
              <a:gd name="connsiteY127" fmla="*/ 4219510 h 6858000"/>
              <a:gd name="connsiteX128" fmla="*/ 5092812 w 6096000"/>
              <a:gd name="connsiteY128" fmla="*/ 4411258 h 6858000"/>
              <a:gd name="connsiteX129" fmla="*/ 5084599 w 6096000"/>
              <a:gd name="connsiteY129" fmla="*/ 4488531 h 6858000"/>
              <a:gd name="connsiteX130" fmla="*/ 5084072 w 6096000"/>
              <a:gd name="connsiteY130" fmla="*/ 4539168 h 6858000"/>
              <a:gd name="connsiteX131" fmla="*/ 5068936 w 6096000"/>
              <a:gd name="connsiteY131" fmla="*/ 4625153 h 6858000"/>
              <a:gd name="connsiteX132" fmla="*/ 5059114 w 6096000"/>
              <a:gd name="connsiteY132" fmla="*/ 4733115 h 6858000"/>
              <a:gd name="connsiteX133" fmla="*/ 5037209 w 6096000"/>
              <a:gd name="connsiteY133" fmla="*/ 4844323 h 6858000"/>
              <a:gd name="connsiteX134" fmla="*/ 5020638 w 6096000"/>
              <a:gd name="connsiteY134" fmla="*/ 4877992 h 6858000"/>
              <a:gd name="connsiteX135" fmla="*/ 5006413 w 6096000"/>
              <a:gd name="connsiteY135" fmla="*/ 4925805 h 6858000"/>
              <a:gd name="connsiteX136" fmla="*/ 4971037 w 6096000"/>
              <a:gd name="connsiteY136" fmla="*/ 5009272 h 6858000"/>
              <a:gd name="connsiteX137" fmla="*/ 4963105 w 6096000"/>
              <a:gd name="connsiteY137" fmla="*/ 5111369 h 6858000"/>
              <a:gd name="connsiteX138" fmla="*/ 4976341 w 6096000"/>
              <a:gd name="connsiteY138" fmla="*/ 5210876 h 6858000"/>
              <a:gd name="connsiteX139" fmla="*/ 4980617 w 6096000"/>
              <a:gd name="connsiteY139" fmla="*/ 5269726 h 6858000"/>
              <a:gd name="connsiteX140" fmla="*/ 4997733 w 6096000"/>
              <a:gd name="connsiteY140" fmla="*/ 5464225 h 6858000"/>
              <a:gd name="connsiteX141" fmla="*/ 5001400 w 6096000"/>
              <a:gd name="connsiteY141" fmla="*/ 5594585 h 6858000"/>
              <a:gd name="connsiteX142" fmla="*/ 4983700 w 6096000"/>
              <a:gd name="connsiteY142" fmla="*/ 5667896 h 6858000"/>
              <a:gd name="connsiteX143" fmla="*/ 4968506 w 6096000"/>
              <a:gd name="connsiteY143" fmla="*/ 5769225 h 6858000"/>
              <a:gd name="connsiteX144" fmla="*/ 4969765 w 6096000"/>
              <a:gd name="connsiteY144" fmla="*/ 5823324 h 6858000"/>
              <a:gd name="connsiteX145" fmla="*/ 4966129 w 6096000"/>
              <a:gd name="connsiteY145" fmla="*/ 5862699 h 6858000"/>
              <a:gd name="connsiteX146" fmla="*/ 4970695 w 6096000"/>
              <a:gd name="connsiteY146" fmla="*/ 5906467 h 6858000"/>
              <a:gd name="connsiteX147" fmla="*/ 4991568 w 6096000"/>
              <a:gd name="connsiteY147" fmla="*/ 5939847 h 6858000"/>
              <a:gd name="connsiteX148" fmla="*/ 4986815 w 6096000"/>
              <a:gd name="connsiteY148" fmla="*/ 5973994 h 6858000"/>
              <a:gd name="connsiteX149" fmla="*/ 4987776 w 6096000"/>
              <a:gd name="connsiteY149" fmla="*/ 6089693 h 6858000"/>
              <a:gd name="connsiteX150" fmla="*/ 4991621 w 6096000"/>
              <a:gd name="connsiteY150" fmla="*/ 6224938 h 6858000"/>
              <a:gd name="connsiteX151" fmla="*/ 5017157 w 6096000"/>
              <a:gd name="connsiteY151" fmla="*/ 6370251 h 6858000"/>
              <a:gd name="connsiteX152" fmla="*/ 5040797 w 6096000"/>
              <a:gd name="connsiteY152" fmla="*/ 6541313 h 6858000"/>
              <a:gd name="connsiteX153" fmla="*/ 5045375 w 6096000"/>
              <a:gd name="connsiteY153" fmla="*/ 6640957 h 6858000"/>
              <a:gd name="connsiteX154" fmla="*/ 5058442 w 6096000"/>
              <a:gd name="connsiteY154" fmla="*/ 6705297 h 6858000"/>
              <a:gd name="connsiteX155" fmla="*/ 5071125 w 6096000"/>
              <a:gd name="connsiteY155" fmla="*/ 6759582 h 6858000"/>
              <a:gd name="connsiteX156" fmla="*/ 5069172 w 6096000"/>
              <a:gd name="connsiteY156" fmla="*/ 6817746 h 6858000"/>
              <a:gd name="connsiteX157" fmla="*/ 5072322 w 6096000"/>
              <a:gd name="connsiteY157" fmla="*/ 6843646 h 6858000"/>
              <a:gd name="connsiteX158" fmla="*/ 5091388 w 6096000"/>
              <a:gd name="connsiteY158" fmla="*/ 6857998 h 6858000"/>
              <a:gd name="connsiteX159" fmla="*/ 6096000 w 6096000"/>
              <a:gd name="connsiteY159" fmla="*/ 6857998 h 6858000"/>
              <a:gd name="connsiteX160" fmla="*/ 6096000 w 6096000"/>
              <a:gd name="connsiteY160" fmla="*/ 6858000 h 6858000"/>
              <a:gd name="connsiteX161" fmla="*/ 0 w 6096000"/>
              <a:gd name="connsiteY161"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Lst>
            <a:rect l="l" t="t" r="r" b="b"/>
            <a:pathLst>
              <a:path w="6096000" h="6858000">
                <a:moveTo>
                  <a:pt x="0" y="0"/>
                </a:moveTo>
                <a:lnTo>
                  <a:pt x="5567517" y="0"/>
                </a:lnTo>
                <a:lnTo>
                  <a:pt x="5566938" y="1705"/>
                </a:lnTo>
                <a:cubicBezTo>
                  <a:pt x="5563126" y="8440"/>
                  <a:pt x="5558112" y="13784"/>
                  <a:pt x="5551594" y="17287"/>
                </a:cubicBezTo>
                <a:cubicBezTo>
                  <a:pt x="5562364" y="82036"/>
                  <a:pt x="5510349" y="69804"/>
                  <a:pt x="5545641" y="130336"/>
                </a:cubicBezTo>
                <a:cubicBezTo>
                  <a:pt x="5526953" y="117589"/>
                  <a:pt x="5536978" y="162458"/>
                  <a:pt x="5538289" y="187093"/>
                </a:cubicBezTo>
                <a:cubicBezTo>
                  <a:pt x="5536205" y="226511"/>
                  <a:pt x="5545722" y="205530"/>
                  <a:pt x="5545790" y="265704"/>
                </a:cubicBezTo>
                <a:cubicBezTo>
                  <a:pt x="5542296" y="317533"/>
                  <a:pt x="5543813" y="325288"/>
                  <a:pt x="5542313" y="354566"/>
                </a:cubicBezTo>
                <a:lnTo>
                  <a:pt x="5524126" y="472000"/>
                </a:lnTo>
                <a:lnTo>
                  <a:pt x="5522170" y="473782"/>
                </a:lnTo>
                <a:cubicBezTo>
                  <a:pt x="5517847" y="482008"/>
                  <a:pt x="5518682" y="487340"/>
                  <a:pt x="5521798" y="491380"/>
                </a:cubicBezTo>
                <a:lnTo>
                  <a:pt x="5536419" y="531675"/>
                </a:lnTo>
                <a:lnTo>
                  <a:pt x="5533435" y="536015"/>
                </a:lnTo>
                <a:lnTo>
                  <a:pt x="5538088" y="572092"/>
                </a:lnTo>
                <a:lnTo>
                  <a:pt x="5536061" y="572511"/>
                </a:lnTo>
                <a:cubicBezTo>
                  <a:pt x="5531611" y="574271"/>
                  <a:pt x="5528529" y="577121"/>
                  <a:pt x="5528218" y="582332"/>
                </a:cubicBezTo>
                <a:cubicBezTo>
                  <a:pt x="5498002" y="573171"/>
                  <a:pt x="5516262" y="585107"/>
                  <a:pt x="5518011" y="601285"/>
                </a:cubicBezTo>
                <a:cubicBezTo>
                  <a:pt x="5508838" y="617831"/>
                  <a:pt x="5480684" y="666964"/>
                  <a:pt x="5473174" y="681608"/>
                </a:cubicBezTo>
                <a:cubicBezTo>
                  <a:pt x="5473102" y="684122"/>
                  <a:pt x="5473033" y="686637"/>
                  <a:pt x="5472963" y="689151"/>
                </a:cubicBezTo>
                <a:lnTo>
                  <a:pt x="5472485" y="689289"/>
                </a:lnTo>
                <a:cubicBezTo>
                  <a:pt x="5471434" y="690905"/>
                  <a:pt x="5470986" y="693376"/>
                  <a:pt x="5471326" y="697222"/>
                </a:cubicBezTo>
                <a:cubicBezTo>
                  <a:pt x="5471606" y="703992"/>
                  <a:pt x="5471884" y="710761"/>
                  <a:pt x="5472164" y="717531"/>
                </a:cubicBezTo>
                <a:lnTo>
                  <a:pt x="5468891" y="722494"/>
                </a:lnTo>
                <a:lnTo>
                  <a:pt x="5463081" y="724368"/>
                </a:lnTo>
                <a:lnTo>
                  <a:pt x="5446981" y="752692"/>
                </a:lnTo>
                <a:cubicBezTo>
                  <a:pt x="5454691" y="764380"/>
                  <a:pt x="5422719" y="808083"/>
                  <a:pt x="5417190" y="816346"/>
                </a:cubicBezTo>
                <a:lnTo>
                  <a:pt x="5388958" y="889417"/>
                </a:lnTo>
                <a:cubicBezTo>
                  <a:pt x="5320491" y="969963"/>
                  <a:pt x="5321907" y="1005331"/>
                  <a:pt x="5307044" y="1063288"/>
                </a:cubicBezTo>
                <a:cubicBezTo>
                  <a:pt x="5313332" y="1111028"/>
                  <a:pt x="5317096" y="1110140"/>
                  <a:pt x="5303837" y="1157176"/>
                </a:cubicBezTo>
                <a:cubicBezTo>
                  <a:pt x="5301103" y="1192124"/>
                  <a:pt x="5301884" y="1197232"/>
                  <a:pt x="5286494" y="1210776"/>
                </a:cubicBezTo>
                <a:lnTo>
                  <a:pt x="5282463" y="1301993"/>
                </a:lnTo>
                <a:lnTo>
                  <a:pt x="5252235" y="1360879"/>
                </a:lnTo>
                <a:lnTo>
                  <a:pt x="5244497" y="1404045"/>
                </a:lnTo>
                <a:lnTo>
                  <a:pt x="5223823" y="1429568"/>
                </a:lnTo>
                <a:lnTo>
                  <a:pt x="5224851" y="1430305"/>
                </a:lnTo>
                <a:cubicBezTo>
                  <a:pt x="5226697" y="1432466"/>
                  <a:pt x="5214738" y="1459891"/>
                  <a:pt x="5212394" y="1463304"/>
                </a:cubicBezTo>
                <a:cubicBezTo>
                  <a:pt x="5209912" y="1477394"/>
                  <a:pt x="5213027" y="1501295"/>
                  <a:pt x="5209958" y="1514846"/>
                </a:cubicBezTo>
                <a:lnTo>
                  <a:pt x="5206417" y="1519731"/>
                </a:lnTo>
                <a:lnTo>
                  <a:pt x="5206640" y="1519929"/>
                </a:lnTo>
                <a:cubicBezTo>
                  <a:pt x="5206490" y="1521210"/>
                  <a:pt x="5209710" y="1543635"/>
                  <a:pt x="5207632" y="1546022"/>
                </a:cubicBezTo>
                <a:lnTo>
                  <a:pt x="5212030" y="1578752"/>
                </a:lnTo>
                <a:cubicBezTo>
                  <a:pt x="5206147" y="1605585"/>
                  <a:pt x="5226381" y="1622803"/>
                  <a:pt x="5203533" y="1647555"/>
                </a:cubicBezTo>
                <a:cubicBezTo>
                  <a:pt x="5198128" y="1672675"/>
                  <a:pt x="5203213" y="1694404"/>
                  <a:pt x="5190877" y="1715685"/>
                </a:cubicBezTo>
                <a:cubicBezTo>
                  <a:pt x="5196815" y="1724301"/>
                  <a:pt x="5198098" y="1732435"/>
                  <a:pt x="5184235" y="1740358"/>
                </a:cubicBezTo>
                <a:cubicBezTo>
                  <a:pt x="5182625" y="1763793"/>
                  <a:pt x="5198368" y="1769422"/>
                  <a:pt x="5181475" y="1784314"/>
                </a:cubicBezTo>
                <a:cubicBezTo>
                  <a:pt x="5205987" y="1797417"/>
                  <a:pt x="5195246" y="1798221"/>
                  <a:pt x="5185845" y="1804434"/>
                </a:cubicBezTo>
                <a:lnTo>
                  <a:pt x="5185068" y="1805316"/>
                </a:lnTo>
                <a:lnTo>
                  <a:pt x="5188593" y="1807109"/>
                </a:lnTo>
                <a:lnTo>
                  <a:pt x="5185920" y="1821003"/>
                </a:lnTo>
                <a:lnTo>
                  <a:pt x="5183543" y="1824832"/>
                </a:lnTo>
                <a:cubicBezTo>
                  <a:pt x="5182284" y="1827468"/>
                  <a:pt x="5181937" y="1829219"/>
                  <a:pt x="5182235" y="1830429"/>
                </a:cubicBezTo>
                <a:lnTo>
                  <a:pt x="5182525" y="1830569"/>
                </a:lnTo>
                <a:lnTo>
                  <a:pt x="5180663" y="1835810"/>
                </a:lnTo>
                <a:cubicBezTo>
                  <a:pt x="5176779" y="1844665"/>
                  <a:pt x="5172297" y="1853278"/>
                  <a:pt x="5167452" y="1861483"/>
                </a:cubicBezTo>
                <a:cubicBezTo>
                  <a:pt x="5179827" y="1866643"/>
                  <a:pt x="5166788" y="1884999"/>
                  <a:pt x="5174266" y="1892417"/>
                </a:cubicBezTo>
                <a:lnTo>
                  <a:pt x="5189262" y="1895114"/>
                </a:lnTo>
                <a:lnTo>
                  <a:pt x="5187100" y="1899379"/>
                </a:lnTo>
                <a:lnTo>
                  <a:pt x="5180471" y="1907867"/>
                </a:lnTo>
                <a:cubicBezTo>
                  <a:pt x="5179609" y="1909162"/>
                  <a:pt x="5179647" y="1909994"/>
                  <a:pt x="5181361" y="1910265"/>
                </a:cubicBezTo>
                <a:cubicBezTo>
                  <a:pt x="5180995" y="1914884"/>
                  <a:pt x="5177893" y="1930292"/>
                  <a:pt x="5178268" y="1935584"/>
                </a:cubicBezTo>
                <a:lnTo>
                  <a:pt x="5183619" y="1942021"/>
                </a:lnTo>
                <a:lnTo>
                  <a:pt x="5184480" y="1945112"/>
                </a:lnTo>
                <a:lnTo>
                  <a:pt x="5172776" y="1961162"/>
                </a:lnTo>
                <a:lnTo>
                  <a:pt x="5168513" y="1969445"/>
                </a:lnTo>
                <a:lnTo>
                  <a:pt x="5126597" y="2024270"/>
                </a:lnTo>
                <a:lnTo>
                  <a:pt x="5119528" y="2107942"/>
                </a:lnTo>
                <a:cubicBezTo>
                  <a:pt x="5089290" y="2138038"/>
                  <a:pt x="5110415" y="2159228"/>
                  <a:pt x="5110356" y="2193455"/>
                </a:cubicBezTo>
                <a:cubicBezTo>
                  <a:pt x="5101302" y="2220953"/>
                  <a:pt x="5110381" y="2224200"/>
                  <a:pt x="5104992" y="2260088"/>
                </a:cubicBezTo>
                <a:cubicBezTo>
                  <a:pt x="5096504" y="2291744"/>
                  <a:pt x="5078225" y="2299003"/>
                  <a:pt x="5059439" y="2335735"/>
                </a:cubicBezTo>
                <a:cubicBezTo>
                  <a:pt x="5029465" y="2329020"/>
                  <a:pt x="5058046" y="2407546"/>
                  <a:pt x="5022061" y="2408995"/>
                </a:cubicBezTo>
                <a:cubicBezTo>
                  <a:pt x="5023289" y="2413465"/>
                  <a:pt x="5019654" y="2441580"/>
                  <a:pt x="5022253" y="2445869"/>
                </a:cubicBezTo>
                <a:cubicBezTo>
                  <a:pt x="5022440" y="2449625"/>
                  <a:pt x="5011241" y="2492743"/>
                  <a:pt x="5011426" y="2496499"/>
                </a:cubicBezTo>
                <a:lnTo>
                  <a:pt x="4994224" y="2549900"/>
                </a:lnTo>
                <a:cubicBezTo>
                  <a:pt x="4992353" y="2564757"/>
                  <a:pt x="4998952" y="2582253"/>
                  <a:pt x="4995245" y="2596456"/>
                </a:cubicBezTo>
                <a:lnTo>
                  <a:pt x="4988570" y="2606088"/>
                </a:lnTo>
                <a:cubicBezTo>
                  <a:pt x="4988504" y="2615842"/>
                  <a:pt x="4988436" y="2625597"/>
                  <a:pt x="4988371" y="2635351"/>
                </a:cubicBezTo>
                <a:lnTo>
                  <a:pt x="4983212" y="2665666"/>
                </a:lnTo>
                <a:lnTo>
                  <a:pt x="4968234" y="2715895"/>
                </a:lnTo>
                <a:lnTo>
                  <a:pt x="4975888" y="2725052"/>
                </a:lnTo>
                <a:lnTo>
                  <a:pt x="4980195" y="2726489"/>
                </a:lnTo>
                <a:lnTo>
                  <a:pt x="4976218" y="2740278"/>
                </a:lnTo>
                <a:lnTo>
                  <a:pt x="4980571" y="2751112"/>
                </a:lnTo>
                <a:lnTo>
                  <a:pt x="4973893" y="2760208"/>
                </a:lnTo>
                <a:lnTo>
                  <a:pt x="4979005" y="2790136"/>
                </a:lnTo>
                <a:lnTo>
                  <a:pt x="4986137" y="2804183"/>
                </a:lnTo>
                <a:cubicBezTo>
                  <a:pt x="4986150" y="2811409"/>
                  <a:pt x="4986162" y="2818634"/>
                  <a:pt x="4986175" y="2825860"/>
                </a:cubicBezTo>
                <a:cubicBezTo>
                  <a:pt x="4987474" y="2843788"/>
                  <a:pt x="4992871" y="2886513"/>
                  <a:pt x="4993936" y="2911749"/>
                </a:cubicBezTo>
                <a:cubicBezTo>
                  <a:pt x="4993313" y="2946689"/>
                  <a:pt x="4980300" y="2954448"/>
                  <a:pt x="4992563" y="2977278"/>
                </a:cubicBezTo>
                <a:cubicBezTo>
                  <a:pt x="4985688" y="2983455"/>
                  <a:pt x="4982051" y="2987749"/>
                  <a:pt x="4980516" y="2991092"/>
                </a:cubicBezTo>
                <a:cubicBezTo>
                  <a:pt x="4975910" y="3001119"/>
                  <a:pt x="4990216" y="3002537"/>
                  <a:pt x="4992801" y="3020247"/>
                </a:cubicBezTo>
                <a:cubicBezTo>
                  <a:pt x="4998517" y="3032637"/>
                  <a:pt x="5013148" y="3051512"/>
                  <a:pt x="5014805" y="3065434"/>
                </a:cubicBezTo>
                <a:cubicBezTo>
                  <a:pt x="4998836" y="3057428"/>
                  <a:pt x="5016840" y="3105196"/>
                  <a:pt x="5002733" y="3103777"/>
                </a:cubicBezTo>
                <a:cubicBezTo>
                  <a:pt x="5022381" y="3124610"/>
                  <a:pt x="4997365" y="3128169"/>
                  <a:pt x="5002941" y="3151828"/>
                </a:cubicBezTo>
                <a:cubicBezTo>
                  <a:pt x="5010264" y="3163902"/>
                  <a:pt x="5011356" y="3171780"/>
                  <a:pt x="5002883" y="3180546"/>
                </a:cubicBezTo>
                <a:cubicBezTo>
                  <a:pt x="5038586" y="3236545"/>
                  <a:pt x="5003723" y="3210316"/>
                  <a:pt x="5016711" y="3258677"/>
                </a:cubicBezTo>
                <a:lnTo>
                  <a:pt x="5017918" y="3262610"/>
                </a:lnTo>
                <a:lnTo>
                  <a:pt x="5011672" y="3277179"/>
                </a:lnTo>
                <a:lnTo>
                  <a:pt x="5009344" y="3278130"/>
                </a:lnTo>
                <a:lnTo>
                  <a:pt x="5026770" y="3325671"/>
                </a:lnTo>
                <a:lnTo>
                  <a:pt x="5024571" y="3332072"/>
                </a:lnTo>
                <a:lnTo>
                  <a:pt x="5041705" y="3362948"/>
                </a:lnTo>
                <a:lnTo>
                  <a:pt x="5047477" y="3378959"/>
                </a:lnTo>
                <a:lnTo>
                  <a:pt x="5060758" y="3407057"/>
                </a:lnTo>
                <a:lnTo>
                  <a:pt x="5058968" y="3409825"/>
                </a:lnTo>
                <a:lnTo>
                  <a:pt x="5062667" y="3415218"/>
                </a:lnTo>
                <a:lnTo>
                  <a:pt x="5060928" y="3419880"/>
                </a:lnTo>
                <a:lnTo>
                  <a:pt x="5062923" y="3424545"/>
                </a:lnTo>
                <a:cubicBezTo>
                  <a:pt x="5063537" y="3433967"/>
                  <a:pt x="5063494" y="3466028"/>
                  <a:pt x="5064623" y="3476412"/>
                </a:cubicBezTo>
                <a:lnTo>
                  <a:pt x="5069684" y="3486850"/>
                </a:lnTo>
                <a:lnTo>
                  <a:pt x="5063339" y="3496391"/>
                </a:lnTo>
                <a:lnTo>
                  <a:pt x="5070139" y="3531201"/>
                </a:lnTo>
                <a:lnTo>
                  <a:pt x="5079896" y="3542019"/>
                </a:lnTo>
                <a:lnTo>
                  <a:pt x="5087540" y="3552249"/>
                </a:lnTo>
                <a:lnTo>
                  <a:pt x="5087902" y="3553678"/>
                </a:lnTo>
                <a:lnTo>
                  <a:pt x="5091509" y="3568021"/>
                </a:lnTo>
                <a:lnTo>
                  <a:pt x="5091934" y="3569719"/>
                </a:lnTo>
                <a:lnTo>
                  <a:pt x="5089362" y="3586412"/>
                </a:lnTo>
                <a:lnTo>
                  <a:pt x="5092358" y="3597336"/>
                </a:lnTo>
                <a:lnTo>
                  <a:pt x="5084254" y="3606007"/>
                </a:lnTo>
                <a:cubicBezTo>
                  <a:pt x="5084262" y="3617747"/>
                  <a:pt x="5084273" y="3629488"/>
                  <a:pt x="5084281" y="3641228"/>
                </a:cubicBezTo>
                <a:lnTo>
                  <a:pt x="5091848" y="3653088"/>
                </a:lnTo>
                <a:lnTo>
                  <a:pt x="5097436" y="3664114"/>
                </a:lnTo>
                <a:cubicBezTo>
                  <a:pt x="5097463" y="3664599"/>
                  <a:pt x="5097491" y="3665084"/>
                  <a:pt x="5097518" y="3665569"/>
                </a:cubicBezTo>
                <a:cubicBezTo>
                  <a:pt x="5097915" y="3672776"/>
                  <a:pt x="5096966" y="3688591"/>
                  <a:pt x="5099829" y="3707357"/>
                </a:cubicBezTo>
                <a:cubicBezTo>
                  <a:pt x="5100505" y="3724716"/>
                  <a:pt x="5118078" y="3760234"/>
                  <a:pt x="5114696" y="3778166"/>
                </a:cubicBezTo>
                <a:cubicBezTo>
                  <a:pt x="5141627" y="3845122"/>
                  <a:pt x="5125427" y="3821305"/>
                  <a:pt x="5135379" y="3878222"/>
                </a:cubicBezTo>
                <a:cubicBezTo>
                  <a:pt x="5161519" y="3905047"/>
                  <a:pt x="5125417" y="4015047"/>
                  <a:pt x="5130138" y="4048117"/>
                </a:cubicBezTo>
                <a:cubicBezTo>
                  <a:pt x="5081804" y="4192084"/>
                  <a:pt x="5096262" y="4158987"/>
                  <a:pt x="5090040" y="4219510"/>
                </a:cubicBezTo>
                <a:cubicBezTo>
                  <a:pt x="5104553" y="4280033"/>
                  <a:pt x="5065380" y="4345686"/>
                  <a:pt x="5092812" y="4411258"/>
                </a:cubicBezTo>
                <a:cubicBezTo>
                  <a:pt x="5090630" y="4437329"/>
                  <a:pt x="5083878" y="4473140"/>
                  <a:pt x="5084599" y="4488531"/>
                </a:cubicBezTo>
                <a:cubicBezTo>
                  <a:pt x="5084423" y="4505410"/>
                  <a:pt x="5084248" y="4522289"/>
                  <a:pt x="5084072" y="4539168"/>
                </a:cubicBezTo>
                <a:cubicBezTo>
                  <a:pt x="5072114" y="4567830"/>
                  <a:pt x="5064305" y="4588197"/>
                  <a:pt x="5068936" y="4625153"/>
                </a:cubicBezTo>
                <a:cubicBezTo>
                  <a:pt x="5077433" y="4662889"/>
                  <a:pt x="5065899" y="4679357"/>
                  <a:pt x="5059114" y="4733115"/>
                </a:cubicBezTo>
                <a:cubicBezTo>
                  <a:pt x="5068687" y="4752352"/>
                  <a:pt x="5055370" y="4832308"/>
                  <a:pt x="5037209" y="4844323"/>
                </a:cubicBezTo>
                <a:cubicBezTo>
                  <a:pt x="5033444" y="4857054"/>
                  <a:pt x="5040194" y="4871554"/>
                  <a:pt x="5020638" y="4877992"/>
                </a:cubicBezTo>
                <a:cubicBezTo>
                  <a:pt x="4997151" y="4888353"/>
                  <a:pt x="5034418" y="4931200"/>
                  <a:pt x="5006413" y="4925805"/>
                </a:cubicBezTo>
                <a:cubicBezTo>
                  <a:pt x="5031964" y="4956261"/>
                  <a:pt x="4982840" y="4982633"/>
                  <a:pt x="4971037" y="5009272"/>
                </a:cubicBezTo>
                <a:cubicBezTo>
                  <a:pt x="4973259" y="5034036"/>
                  <a:pt x="4968375" y="5053859"/>
                  <a:pt x="4963105" y="5111369"/>
                </a:cubicBezTo>
                <a:cubicBezTo>
                  <a:pt x="4973224" y="5141336"/>
                  <a:pt x="4937413" y="5161742"/>
                  <a:pt x="4976341" y="5210876"/>
                </a:cubicBezTo>
                <a:cubicBezTo>
                  <a:pt x="4972455" y="5212581"/>
                  <a:pt x="4977054" y="5227501"/>
                  <a:pt x="4980617" y="5269726"/>
                </a:cubicBezTo>
                <a:cubicBezTo>
                  <a:pt x="4984182" y="5311951"/>
                  <a:pt x="4990390" y="5400671"/>
                  <a:pt x="4997733" y="5464225"/>
                </a:cubicBezTo>
                <a:cubicBezTo>
                  <a:pt x="5001765" y="5536542"/>
                  <a:pt x="4990225" y="5517959"/>
                  <a:pt x="5001400" y="5594585"/>
                </a:cubicBezTo>
                <a:cubicBezTo>
                  <a:pt x="4999908" y="5619318"/>
                  <a:pt x="4974042" y="5647975"/>
                  <a:pt x="4983700" y="5667896"/>
                </a:cubicBezTo>
                <a:cubicBezTo>
                  <a:pt x="4976834" y="5696311"/>
                  <a:pt x="4975579" y="5738356"/>
                  <a:pt x="4968506" y="5769225"/>
                </a:cubicBezTo>
                <a:cubicBezTo>
                  <a:pt x="4968926" y="5787258"/>
                  <a:pt x="4969344" y="5805291"/>
                  <a:pt x="4969765" y="5823324"/>
                </a:cubicBezTo>
                <a:cubicBezTo>
                  <a:pt x="4966122" y="5853058"/>
                  <a:pt x="4965608" y="5838948"/>
                  <a:pt x="4966129" y="5862699"/>
                </a:cubicBezTo>
                <a:lnTo>
                  <a:pt x="4970695" y="5906467"/>
                </a:lnTo>
                <a:lnTo>
                  <a:pt x="4991568" y="5939847"/>
                </a:lnTo>
                <a:cubicBezTo>
                  <a:pt x="4998848" y="5955713"/>
                  <a:pt x="4974731" y="5940131"/>
                  <a:pt x="4986815" y="5973994"/>
                </a:cubicBezTo>
                <a:cubicBezTo>
                  <a:pt x="4961187" y="5997051"/>
                  <a:pt x="4983444" y="6032039"/>
                  <a:pt x="4987776" y="6089693"/>
                </a:cubicBezTo>
                <a:lnTo>
                  <a:pt x="4991621" y="6224938"/>
                </a:lnTo>
                <a:cubicBezTo>
                  <a:pt x="4988442" y="6270972"/>
                  <a:pt x="5008962" y="6317522"/>
                  <a:pt x="5017157" y="6370251"/>
                </a:cubicBezTo>
                <a:cubicBezTo>
                  <a:pt x="5025353" y="6422980"/>
                  <a:pt x="5039938" y="6490855"/>
                  <a:pt x="5040797" y="6541313"/>
                </a:cubicBezTo>
                <a:cubicBezTo>
                  <a:pt x="5039898" y="6576319"/>
                  <a:pt x="5031912" y="6591883"/>
                  <a:pt x="5045375" y="6640957"/>
                </a:cubicBezTo>
                <a:cubicBezTo>
                  <a:pt x="5057505" y="6669536"/>
                  <a:pt x="5052276" y="6675394"/>
                  <a:pt x="5058442" y="6705297"/>
                </a:cubicBezTo>
                <a:cubicBezTo>
                  <a:pt x="5057367" y="6727133"/>
                  <a:pt x="5067901" y="6732087"/>
                  <a:pt x="5071125" y="6759582"/>
                </a:cubicBezTo>
                <a:cubicBezTo>
                  <a:pt x="5055614" y="6796071"/>
                  <a:pt x="5051656" y="6769544"/>
                  <a:pt x="5069172" y="6817746"/>
                </a:cubicBezTo>
                <a:cubicBezTo>
                  <a:pt x="5060956" y="6828354"/>
                  <a:pt x="5064525" y="6836369"/>
                  <a:pt x="5072322" y="6843646"/>
                </a:cubicBezTo>
                <a:lnTo>
                  <a:pt x="5091388" y="6857998"/>
                </a:lnTo>
                <a:lnTo>
                  <a:pt x="6096000" y="6857998"/>
                </a:lnTo>
                <a:lnTo>
                  <a:pt x="6096000" y="6858000"/>
                </a:lnTo>
                <a:lnTo>
                  <a:pt x="0" y="6858000"/>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p:cNvSpPr>
            <a:spLocks noGrp="1"/>
          </p:cNvSpPr>
          <p:nvPr>
            <p:ph type="title"/>
          </p:nvPr>
        </p:nvSpPr>
        <p:spPr>
          <a:xfrm>
            <a:off x="536101" y="56433"/>
            <a:ext cx="8071798" cy="1330839"/>
          </a:xfrm>
        </p:spPr>
        <p:txBody>
          <a:bodyPr>
            <a:normAutofit/>
          </a:bodyPr>
          <a:lstStyle/>
          <a:p>
            <a:pPr algn="l">
              <a:lnSpc>
                <a:spcPct val="90000"/>
              </a:lnSpc>
            </a:pPr>
            <a:r>
              <a:rPr lang="en-US" sz="1400" b="1" dirty="0">
                <a:latin typeface="Calibri"/>
              </a:rPr>
              <a:t>Q2 - </a:t>
            </a:r>
            <a:r>
              <a:rPr lang="en-US" sz="1400" b="1" dirty="0"/>
              <a:t>Which channel performed the best/worst in each country in 2024? </a:t>
            </a:r>
            <a:br>
              <a:rPr lang="en-US" sz="1400" b="1" dirty="0"/>
            </a:br>
            <a:br>
              <a:rPr lang="en-US" sz="2000" b="1" dirty="0">
                <a:latin typeface="Calibri"/>
              </a:rPr>
            </a:br>
            <a:r>
              <a:rPr lang="en-US" sz="2000" b="1" dirty="0">
                <a:latin typeface="Calibri"/>
              </a:rPr>
              <a:t>Overall chat has the lowest 7-day recontact rate, and email has the highest recontact rate</a:t>
            </a:r>
          </a:p>
        </p:txBody>
      </p:sp>
      <p:sp>
        <p:nvSpPr>
          <p:cNvPr id="3" name="Content Placeholder 2"/>
          <p:cNvSpPr>
            <a:spLocks noGrp="1"/>
          </p:cNvSpPr>
          <p:nvPr>
            <p:ph idx="1"/>
          </p:nvPr>
        </p:nvSpPr>
        <p:spPr>
          <a:xfrm>
            <a:off x="494769" y="1452683"/>
            <a:ext cx="8377719" cy="3908586"/>
          </a:xfrm>
        </p:spPr>
        <p:txBody>
          <a:bodyPr>
            <a:normAutofit/>
          </a:bodyPr>
          <a:lstStyle/>
          <a:p>
            <a:pPr>
              <a:lnSpc>
                <a:spcPct val="90000"/>
              </a:lnSpc>
              <a:defRPr sz="1800"/>
            </a:pPr>
            <a:r>
              <a:rPr lang="en-US" sz="1400" dirty="0">
                <a:latin typeface="Calibri"/>
              </a:rPr>
              <a:t>Metric: 7-day recontact rate on interactions marked as resolving (lower = better).</a:t>
            </a:r>
          </a:p>
          <a:p>
            <a:pPr>
              <a:lnSpc>
                <a:spcPct val="90000"/>
              </a:lnSpc>
              <a:defRPr sz="1800"/>
            </a:pPr>
            <a:r>
              <a:rPr lang="en-US" sz="1400" dirty="0">
                <a:latin typeface="Calibri"/>
              </a:rPr>
              <a:t>Best-performing channel: Overall, chat has the lowest 7-day recontact rate in most markets – around 27–36% in BE/CH/IE – indicating better first-contact resolution. The only exception is NL, where chat shows a high recontact rate (~49%), but volumes are tiny compared to email/call, so it is treated as an outlier / data-quality issue rather than a true signal. </a:t>
            </a:r>
          </a:p>
          <a:p>
            <a:pPr>
              <a:lnSpc>
                <a:spcPct val="90000"/>
              </a:lnSpc>
              <a:defRPr sz="1800"/>
            </a:pPr>
            <a:r>
              <a:rPr lang="en-US" sz="1400" dirty="0">
                <a:latin typeface="Calibri"/>
              </a:rPr>
              <a:t>Worst-performing channel: Across all four countries, email consistently has the highest 7-day recontact rate (≈46–54%), meaning customers are most likely to come back again after an email interaction. That makes email the weakest channel on resolution quality and the main candidate for optimization or volume reduction.</a:t>
            </a:r>
          </a:p>
        </p:txBody>
      </p:sp>
      <p:graphicFrame>
        <p:nvGraphicFramePr>
          <p:cNvPr id="7" name="Chart 6">
            <a:extLst>
              <a:ext uri="{FF2B5EF4-FFF2-40B4-BE49-F238E27FC236}">
                <a16:creationId xmlns:a16="http://schemas.microsoft.com/office/drawing/2014/main" id="{65E82994-2E60-D95F-E36F-527D0691A097}"/>
              </a:ext>
            </a:extLst>
          </p:cNvPr>
          <p:cNvGraphicFramePr>
            <a:graphicFrameLocks/>
          </p:cNvGraphicFramePr>
          <p:nvPr>
            <p:extLst>
              <p:ext uri="{D42A27DB-BD31-4B8C-83A1-F6EECF244321}">
                <p14:modId xmlns:p14="http://schemas.microsoft.com/office/powerpoint/2010/main" val="2269399496"/>
              </p:ext>
            </p:extLst>
          </p:nvPr>
        </p:nvGraphicFramePr>
        <p:xfrm>
          <a:off x="205028" y="3429000"/>
          <a:ext cx="8733943" cy="3267363"/>
        </p:xfrm>
        <a:graphic>
          <a:graphicData uri="http://schemas.openxmlformats.org/drawingml/2006/chart">
            <c:chart xmlns:c="http://schemas.openxmlformats.org/drawingml/2006/chart" xmlns:r="http://schemas.openxmlformats.org/officeDocument/2006/relationships" r:id="rId2"/>
          </a:graphicData>
        </a:graphic>
      </p:graphicFrame>
      <p:cxnSp>
        <p:nvCxnSpPr>
          <p:cNvPr id="11" name="Straight Connector 10">
            <a:extLst>
              <a:ext uri="{FF2B5EF4-FFF2-40B4-BE49-F238E27FC236}">
                <a16:creationId xmlns:a16="http://schemas.microsoft.com/office/drawing/2014/main" id="{F2D524CA-4EC4-F642-5A01-B8E5A8096CF4}"/>
              </a:ext>
            </a:extLst>
          </p:cNvPr>
          <p:cNvCxnSpPr/>
          <p:nvPr/>
        </p:nvCxnSpPr>
        <p:spPr>
          <a:xfrm flipV="1">
            <a:off x="2599765" y="3603812"/>
            <a:ext cx="0" cy="2330823"/>
          </a:xfrm>
          <a:prstGeom prst="line">
            <a:avLst/>
          </a:prstGeom>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EDEAE612-234D-B2E1-FBD9-DDAD6FE3CB48}"/>
              </a:ext>
            </a:extLst>
          </p:cNvPr>
          <p:cNvCxnSpPr/>
          <p:nvPr/>
        </p:nvCxnSpPr>
        <p:spPr>
          <a:xfrm flipV="1">
            <a:off x="4571999" y="3665407"/>
            <a:ext cx="0" cy="2330823"/>
          </a:xfrm>
          <a:prstGeom prst="line">
            <a:avLst/>
          </a:prstGeom>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296A6201-A9F4-FC1D-40EF-F22819FBA932}"/>
              </a:ext>
            </a:extLst>
          </p:cNvPr>
          <p:cNvCxnSpPr/>
          <p:nvPr/>
        </p:nvCxnSpPr>
        <p:spPr>
          <a:xfrm flipV="1">
            <a:off x="6571130" y="3621741"/>
            <a:ext cx="0" cy="2330823"/>
          </a:xfrm>
          <a:prstGeom prst="line">
            <a:avLst/>
          </a:prstGeom>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131BAD53-4E89-4F62-BBB7-26359763ED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Freeform: Shape 22">
            <a:extLst>
              <a:ext uri="{FF2B5EF4-FFF2-40B4-BE49-F238E27FC236}">
                <a16:creationId xmlns:a16="http://schemas.microsoft.com/office/drawing/2014/main" id="{62756DA2-40EB-4C6F-B962-5822FFB54F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240078" cy="6858000"/>
          </a:xfrm>
          <a:custGeom>
            <a:avLst/>
            <a:gdLst>
              <a:gd name="connsiteX0" fmla="*/ 0 w 6096000"/>
              <a:gd name="connsiteY0" fmla="*/ 0 h 6858000"/>
              <a:gd name="connsiteX1" fmla="*/ 5567517 w 6096000"/>
              <a:gd name="connsiteY1" fmla="*/ 0 h 6858000"/>
              <a:gd name="connsiteX2" fmla="*/ 5566938 w 6096000"/>
              <a:gd name="connsiteY2" fmla="*/ 1705 h 6858000"/>
              <a:gd name="connsiteX3" fmla="*/ 5551594 w 6096000"/>
              <a:gd name="connsiteY3" fmla="*/ 17287 h 6858000"/>
              <a:gd name="connsiteX4" fmla="*/ 5545641 w 6096000"/>
              <a:gd name="connsiteY4" fmla="*/ 130336 h 6858000"/>
              <a:gd name="connsiteX5" fmla="*/ 5538289 w 6096000"/>
              <a:gd name="connsiteY5" fmla="*/ 187093 h 6858000"/>
              <a:gd name="connsiteX6" fmla="*/ 5545790 w 6096000"/>
              <a:gd name="connsiteY6" fmla="*/ 265704 h 6858000"/>
              <a:gd name="connsiteX7" fmla="*/ 5542313 w 6096000"/>
              <a:gd name="connsiteY7" fmla="*/ 354566 h 6858000"/>
              <a:gd name="connsiteX8" fmla="*/ 5524126 w 6096000"/>
              <a:gd name="connsiteY8" fmla="*/ 472000 h 6858000"/>
              <a:gd name="connsiteX9" fmla="*/ 5522170 w 6096000"/>
              <a:gd name="connsiteY9" fmla="*/ 473782 h 6858000"/>
              <a:gd name="connsiteX10" fmla="*/ 5521798 w 6096000"/>
              <a:gd name="connsiteY10" fmla="*/ 491380 h 6858000"/>
              <a:gd name="connsiteX11" fmla="*/ 5536419 w 6096000"/>
              <a:gd name="connsiteY11" fmla="*/ 531675 h 6858000"/>
              <a:gd name="connsiteX12" fmla="*/ 5533435 w 6096000"/>
              <a:gd name="connsiteY12" fmla="*/ 536015 h 6858000"/>
              <a:gd name="connsiteX13" fmla="*/ 5538088 w 6096000"/>
              <a:gd name="connsiteY13" fmla="*/ 572092 h 6858000"/>
              <a:gd name="connsiteX14" fmla="*/ 5536061 w 6096000"/>
              <a:gd name="connsiteY14" fmla="*/ 572511 h 6858000"/>
              <a:gd name="connsiteX15" fmla="*/ 5528218 w 6096000"/>
              <a:gd name="connsiteY15" fmla="*/ 582332 h 6858000"/>
              <a:gd name="connsiteX16" fmla="*/ 5518011 w 6096000"/>
              <a:gd name="connsiteY16" fmla="*/ 601285 h 6858000"/>
              <a:gd name="connsiteX17" fmla="*/ 5473174 w 6096000"/>
              <a:gd name="connsiteY17" fmla="*/ 681608 h 6858000"/>
              <a:gd name="connsiteX18" fmla="*/ 5472963 w 6096000"/>
              <a:gd name="connsiteY18" fmla="*/ 689151 h 6858000"/>
              <a:gd name="connsiteX19" fmla="*/ 5472485 w 6096000"/>
              <a:gd name="connsiteY19" fmla="*/ 689289 h 6858000"/>
              <a:gd name="connsiteX20" fmla="*/ 5471326 w 6096000"/>
              <a:gd name="connsiteY20" fmla="*/ 697222 h 6858000"/>
              <a:gd name="connsiteX21" fmla="*/ 5472164 w 6096000"/>
              <a:gd name="connsiteY21" fmla="*/ 717531 h 6858000"/>
              <a:gd name="connsiteX22" fmla="*/ 5468891 w 6096000"/>
              <a:gd name="connsiteY22" fmla="*/ 722494 h 6858000"/>
              <a:gd name="connsiteX23" fmla="*/ 5463081 w 6096000"/>
              <a:gd name="connsiteY23" fmla="*/ 724368 h 6858000"/>
              <a:gd name="connsiteX24" fmla="*/ 5446981 w 6096000"/>
              <a:gd name="connsiteY24" fmla="*/ 752692 h 6858000"/>
              <a:gd name="connsiteX25" fmla="*/ 5417190 w 6096000"/>
              <a:gd name="connsiteY25" fmla="*/ 816346 h 6858000"/>
              <a:gd name="connsiteX26" fmla="*/ 5388958 w 6096000"/>
              <a:gd name="connsiteY26" fmla="*/ 889417 h 6858000"/>
              <a:gd name="connsiteX27" fmla="*/ 5307044 w 6096000"/>
              <a:gd name="connsiteY27" fmla="*/ 1063288 h 6858000"/>
              <a:gd name="connsiteX28" fmla="*/ 5303837 w 6096000"/>
              <a:gd name="connsiteY28" fmla="*/ 1157176 h 6858000"/>
              <a:gd name="connsiteX29" fmla="*/ 5286494 w 6096000"/>
              <a:gd name="connsiteY29" fmla="*/ 1210776 h 6858000"/>
              <a:gd name="connsiteX30" fmla="*/ 5282463 w 6096000"/>
              <a:gd name="connsiteY30" fmla="*/ 1301993 h 6858000"/>
              <a:gd name="connsiteX31" fmla="*/ 5252235 w 6096000"/>
              <a:gd name="connsiteY31" fmla="*/ 1360879 h 6858000"/>
              <a:gd name="connsiteX32" fmla="*/ 5244497 w 6096000"/>
              <a:gd name="connsiteY32" fmla="*/ 1404045 h 6858000"/>
              <a:gd name="connsiteX33" fmla="*/ 5223823 w 6096000"/>
              <a:gd name="connsiteY33" fmla="*/ 1429568 h 6858000"/>
              <a:gd name="connsiteX34" fmla="*/ 5224851 w 6096000"/>
              <a:gd name="connsiteY34" fmla="*/ 1430305 h 6858000"/>
              <a:gd name="connsiteX35" fmla="*/ 5212394 w 6096000"/>
              <a:gd name="connsiteY35" fmla="*/ 1463304 h 6858000"/>
              <a:gd name="connsiteX36" fmla="*/ 5209958 w 6096000"/>
              <a:gd name="connsiteY36" fmla="*/ 1514846 h 6858000"/>
              <a:gd name="connsiteX37" fmla="*/ 5206417 w 6096000"/>
              <a:gd name="connsiteY37" fmla="*/ 1519731 h 6858000"/>
              <a:gd name="connsiteX38" fmla="*/ 5206640 w 6096000"/>
              <a:gd name="connsiteY38" fmla="*/ 1519929 h 6858000"/>
              <a:gd name="connsiteX39" fmla="*/ 5207632 w 6096000"/>
              <a:gd name="connsiteY39" fmla="*/ 1546022 h 6858000"/>
              <a:gd name="connsiteX40" fmla="*/ 5212030 w 6096000"/>
              <a:gd name="connsiteY40" fmla="*/ 1578752 h 6858000"/>
              <a:gd name="connsiteX41" fmla="*/ 5203533 w 6096000"/>
              <a:gd name="connsiteY41" fmla="*/ 1647555 h 6858000"/>
              <a:gd name="connsiteX42" fmla="*/ 5190877 w 6096000"/>
              <a:gd name="connsiteY42" fmla="*/ 1715685 h 6858000"/>
              <a:gd name="connsiteX43" fmla="*/ 5184235 w 6096000"/>
              <a:gd name="connsiteY43" fmla="*/ 1740358 h 6858000"/>
              <a:gd name="connsiteX44" fmla="*/ 5181475 w 6096000"/>
              <a:gd name="connsiteY44" fmla="*/ 1784314 h 6858000"/>
              <a:gd name="connsiteX45" fmla="*/ 5185845 w 6096000"/>
              <a:gd name="connsiteY45" fmla="*/ 1804434 h 6858000"/>
              <a:gd name="connsiteX46" fmla="*/ 5185068 w 6096000"/>
              <a:gd name="connsiteY46" fmla="*/ 1805316 h 6858000"/>
              <a:gd name="connsiteX47" fmla="*/ 5188593 w 6096000"/>
              <a:gd name="connsiteY47" fmla="*/ 1807109 h 6858000"/>
              <a:gd name="connsiteX48" fmla="*/ 5185920 w 6096000"/>
              <a:gd name="connsiteY48" fmla="*/ 1821003 h 6858000"/>
              <a:gd name="connsiteX49" fmla="*/ 5183543 w 6096000"/>
              <a:gd name="connsiteY49" fmla="*/ 1824832 h 6858000"/>
              <a:gd name="connsiteX50" fmla="*/ 5182235 w 6096000"/>
              <a:gd name="connsiteY50" fmla="*/ 1830429 h 6858000"/>
              <a:gd name="connsiteX51" fmla="*/ 5182525 w 6096000"/>
              <a:gd name="connsiteY51" fmla="*/ 1830569 h 6858000"/>
              <a:gd name="connsiteX52" fmla="*/ 5180663 w 6096000"/>
              <a:gd name="connsiteY52" fmla="*/ 1835810 h 6858000"/>
              <a:gd name="connsiteX53" fmla="*/ 5167452 w 6096000"/>
              <a:gd name="connsiteY53" fmla="*/ 1861483 h 6858000"/>
              <a:gd name="connsiteX54" fmla="*/ 5174266 w 6096000"/>
              <a:gd name="connsiteY54" fmla="*/ 1892417 h 6858000"/>
              <a:gd name="connsiteX55" fmla="*/ 5189262 w 6096000"/>
              <a:gd name="connsiteY55" fmla="*/ 1895114 h 6858000"/>
              <a:gd name="connsiteX56" fmla="*/ 5187100 w 6096000"/>
              <a:gd name="connsiteY56" fmla="*/ 1899379 h 6858000"/>
              <a:gd name="connsiteX57" fmla="*/ 5180471 w 6096000"/>
              <a:gd name="connsiteY57" fmla="*/ 1907867 h 6858000"/>
              <a:gd name="connsiteX58" fmla="*/ 5181361 w 6096000"/>
              <a:gd name="connsiteY58" fmla="*/ 1910265 h 6858000"/>
              <a:gd name="connsiteX59" fmla="*/ 5178268 w 6096000"/>
              <a:gd name="connsiteY59" fmla="*/ 1935584 h 6858000"/>
              <a:gd name="connsiteX60" fmla="*/ 5183619 w 6096000"/>
              <a:gd name="connsiteY60" fmla="*/ 1942021 h 6858000"/>
              <a:gd name="connsiteX61" fmla="*/ 5184480 w 6096000"/>
              <a:gd name="connsiteY61" fmla="*/ 1945112 h 6858000"/>
              <a:gd name="connsiteX62" fmla="*/ 5172776 w 6096000"/>
              <a:gd name="connsiteY62" fmla="*/ 1961162 h 6858000"/>
              <a:gd name="connsiteX63" fmla="*/ 5168513 w 6096000"/>
              <a:gd name="connsiteY63" fmla="*/ 1969445 h 6858000"/>
              <a:gd name="connsiteX64" fmla="*/ 5126597 w 6096000"/>
              <a:gd name="connsiteY64" fmla="*/ 2024270 h 6858000"/>
              <a:gd name="connsiteX65" fmla="*/ 5119528 w 6096000"/>
              <a:gd name="connsiteY65" fmla="*/ 2107942 h 6858000"/>
              <a:gd name="connsiteX66" fmla="*/ 5110356 w 6096000"/>
              <a:gd name="connsiteY66" fmla="*/ 2193455 h 6858000"/>
              <a:gd name="connsiteX67" fmla="*/ 5104992 w 6096000"/>
              <a:gd name="connsiteY67" fmla="*/ 2260088 h 6858000"/>
              <a:gd name="connsiteX68" fmla="*/ 5059439 w 6096000"/>
              <a:gd name="connsiteY68" fmla="*/ 2335735 h 6858000"/>
              <a:gd name="connsiteX69" fmla="*/ 5022061 w 6096000"/>
              <a:gd name="connsiteY69" fmla="*/ 2408995 h 6858000"/>
              <a:gd name="connsiteX70" fmla="*/ 5022253 w 6096000"/>
              <a:gd name="connsiteY70" fmla="*/ 2445869 h 6858000"/>
              <a:gd name="connsiteX71" fmla="*/ 5011426 w 6096000"/>
              <a:gd name="connsiteY71" fmla="*/ 2496499 h 6858000"/>
              <a:gd name="connsiteX72" fmla="*/ 4994224 w 6096000"/>
              <a:gd name="connsiteY72" fmla="*/ 2549900 h 6858000"/>
              <a:gd name="connsiteX73" fmla="*/ 4995245 w 6096000"/>
              <a:gd name="connsiteY73" fmla="*/ 2596456 h 6858000"/>
              <a:gd name="connsiteX74" fmla="*/ 4988570 w 6096000"/>
              <a:gd name="connsiteY74" fmla="*/ 2606088 h 6858000"/>
              <a:gd name="connsiteX75" fmla="*/ 4988371 w 6096000"/>
              <a:gd name="connsiteY75" fmla="*/ 2635351 h 6858000"/>
              <a:gd name="connsiteX76" fmla="*/ 4983212 w 6096000"/>
              <a:gd name="connsiteY76" fmla="*/ 2665666 h 6858000"/>
              <a:gd name="connsiteX77" fmla="*/ 4968234 w 6096000"/>
              <a:gd name="connsiteY77" fmla="*/ 2715895 h 6858000"/>
              <a:gd name="connsiteX78" fmla="*/ 4975888 w 6096000"/>
              <a:gd name="connsiteY78" fmla="*/ 2725052 h 6858000"/>
              <a:gd name="connsiteX79" fmla="*/ 4980195 w 6096000"/>
              <a:gd name="connsiteY79" fmla="*/ 2726489 h 6858000"/>
              <a:gd name="connsiteX80" fmla="*/ 4976218 w 6096000"/>
              <a:gd name="connsiteY80" fmla="*/ 2740278 h 6858000"/>
              <a:gd name="connsiteX81" fmla="*/ 4980571 w 6096000"/>
              <a:gd name="connsiteY81" fmla="*/ 2751112 h 6858000"/>
              <a:gd name="connsiteX82" fmla="*/ 4973893 w 6096000"/>
              <a:gd name="connsiteY82" fmla="*/ 2760208 h 6858000"/>
              <a:gd name="connsiteX83" fmla="*/ 4979005 w 6096000"/>
              <a:gd name="connsiteY83" fmla="*/ 2790136 h 6858000"/>
              <a:gd name="connsiteX84" fmla="*/ 4986137 w 6096000"/>
              <a:gd name="connsiteY84" fmla="*/ 2804183 h 6858000"/>
              <a:gd name="connsiteX85" fmla="*/ 4986175 w 6096000"/>
              <a:gd name="connsiteY85" fmla="*/ 2825860 h 6858000"/>
              <a:gd name="connsiteX86" fmla="*/ 4993936 w 6096000"/>
              <a:gd name="connsiteY86" fmla="*/ 2911749 h 6858000"/>
              <a:gd name="connsiteX87" fmla="*/ 4992563 w 6096000"/>
              <a:gd name="connsiteY87" fmla="*/ 2977278 h 6858000"/>
              <a:gd name="connsiteX88" fmla="*/ 4980516 w 6096000"/>
              <a:gd name="connsiteY88" fmla="*/ 2991092 h 6858000"/>
              <a:gd name="connsiteX89" fmla="*/ 4992801 w 6096000"/>
              <a:gd name="connsiteY89" fmla="*/ 3020247 h 6858000"/>
              <a:gd name="connsiteX90" fmla="*/ 5014805 w 6096000"/>
              <a:gd name="connsiteY90" fmla="*/ 3065434 h 6858000"/>
              <a:gd name="connsiteX91" fmla="*/ 5002733 w 6096000"/>
              <a:gd name="connsiteY91" fmla="*/ 3103777 h 6858000"/>
              <a:gd name="connsiteX92" fmla="*/ 5002941 w 6096000"/>
              <a:gd name="connsiteY92" fmla="*/ 3151828 h 6858000"/>
              <a:gd name="connsiteX93" fmla="*/ 5002883 w 6096000"/>
              <a:gd name="connsiteY93" fmla="*/ 3180546 h 6858000"/>
              <a:gd name="connsiteX94" fmla="*/ 5016711 w 6096000"/>
              <a:gd name="connsiteY94" fmla="*/ 3258677 h 6858000"/>
              <a:gd name="connsiteX95" fmla="*/ 5017918 w 6096000"/>
              <a:gd name="connsiteY95" fmla="*/ 3262610 h 6858000"/>
              <a:gd name="connsiteX96" fmla="*/ 5011672 w 6096000"/>
              <a:gd name="connsiteY96" fmla="*/ 3277179 h 6858000"/>
              <a:gd name="connsiteX97" fmla="*/ 5009344 w 6096000"/>
              <a:gd name="connsiteY97" fmla="*/ 3278130 h 6858000"/>
              <a:gd name="connsiteX98" fmla="*/ 5026770 w 6096000"/>
              <a:gd name="connsiteY98" fmla="*/ 3325671 h 6858000"/>
              <a:gd name="connsiteX99" fmla="*/ 5024571 w 6096000"/>
              <a:gd name="connsiteY99" fmla="*/ 3332072 h 6858000"/>
              <a:gd name="connsiteX100" fmla="*/ 5041705 w 6096000"/>
              <a:gd name="connsiteY100" fmla="*/ 3362948 h 6858000"/>
              <a:gd name="connsiteX101" fmla="*/ 5047477 w 6096000"/>
              <a:gd name="connsiteY101" fmla="*/ 3378959 h 6858000"/>
              <a:gd name="connsiteX102" fmla="*/ 5060758 w 6096000"/>
              <a:gd name="connsiteY102" fmla="*/ 3407057 h 6858000"/>
              <a:gd name="connsiteX103" fmla="*/ 5058968 w 6096000"/>
              <a:gd name="connsiteY103" fmla="*/ 3409825 h 6858000"/>
              <a:gd name="connsiteX104" fmla="*/ 5062667 w 6096000"/>
              <a:gd name="connsiteY104" fmla="*/ 3415218 h 6858000"/>
              <a:gd name="connsiteX105" fmla="*/ 5060928 w 6096000"/>
              <a:gd name="connsiteY105" fmla="*/ 3419880 h 6858000"/>
              <a:gd name="connsiteX106" fmla="*/ 5062923 w 6096000"/>
              <a:gd name="connsiteY106" fmla="*/ 3424545 h 6858000"/>
              <a:gd name="connsiteX107" fmla="*/ 5064623 w 6096000"/>
              <a:gd name="connsiteY107" fmla="*/ 3476412 h 6858000"/>
              <a:gd name="connsiteX108" fmla="*/ 5069684 w 6096000"/>
              <a:gd name="connsiteY108" fmla="*/ 3486850 h 6858000"/>
              <a:gd name="connsiteX109" fmla="*/ 5063339 w 6096000"/>
              <a:gd name="connsiteY109" fmla="*/ 3496391 h 6858000"/>
              <a:gd name="connsiteX110" fmla="*/ 5070139 w 6096000"/>
              <a:gd name="connsiteY110" fmla="*/ 3531201 h 6858000"/>
              <a:gd name="connsiteX111" fmla="*/ 5079896 w 6096000"/>
              <a:gd name="connsiteY111" fmla="*/ 3542019 h 6858000"/>
              <a:gd name="connsiteX112" fmla="*/ 5087540 w 6096000"/>
              <a:gd name="connsiteY112" fmla="*/ 3552249 h 6858000"/>
              <a:gd name="connsiteX113" fmla="*/ 5087902 w 6096000"/>
              <a:gd name="connsiteY113" fmla="*/ 3553678 h 6858000"/>
              <a:gd name="connsiteX114" fmla="*/ 5091509 w 6096000"/>
              <a:gd name="connsiteY114" fmla="*/ 3568021 h 6858000"/>
              <a:gd name="connsiteX115" fmla="*/ 5091934 w 6096000"/>
              <a:gd name="connsiteY115" fmla="*/ 3569719 h 6858000"/>
              <a:gd name="connsiteX116" fmla="*/ 5089362 w 6096000"/>
              <a:gd name="connsiteY116" fmla="*/ 3586412 h 6858000"/>
              <a:gd name="connsiteX117" fmla="*/ 5092358 w 6096000"/>
              <a:gd name="connsiteY117" fmla="*/ 3597336 h 6858000"/>
              <a:gd name="connsiteX118" fmla="*/ 5084254 w 6096000"/>
              <a:gd name="connsiteY118" fmla="*/ 3606007 h 6858000"/>
              <a:gd name="connsiteX119" fmla="*/ 5084281 w 6096000"/>
              <a:gd name="connsiteY119" fmla="*/ 3641228 h 6858000"/>
              <a:gd name="connsiteX120" fmla="*/ 5091848 w 6096000"/>
              <a:gd name="connsiteY120" fmla="*/ 3653088 h 6858000"/>
              <a:gd name="connsiteX121" fmla="*/ 5097436 w 6096000"/>
              <a:gd name="connsiteY121" fmla="*/ 3664114 h 6858000"/>
              <a:gd name="connsiteX122" fmla="*/ 5097518 w 6096000"/>
              <a:gd name="connsiteY122" fmla="*/ 3665569 h 6858000"/>
              <a:gd name="connsiteX123" fmla="*/ 5099829 w 6096000"/>
              <a:gd name="connsiteY123" fmla="*/ 3707357 h 6858000"/>
              <a:gd name="connsiteX124" fmla="*/ 5114696 w 6096000"/>
              <a:gd name="connsiteY124" fmla="*/ 3778166 h 6858000"/>
              <a:gd name="connsiteX125" fmla="*/ 5135379 w 6096000"/>
              <a:gd name="connsiteY125" fmla="*/ 3878222 h 6858000"/>
              <a:gd name="connsiteX126" fmla="*/ 5130138 w 6096000"/>
              <a:gd name="connsiteY126" fmla="*/ 4048117 h 6858000"/>
              <a:gd name="connsiteX127" fmla="*/ 5090040 w 6096000"/>
              <a:gd name="connsiteY127" fmla="*/ 4219510 h 6858000"/>
              <a:gd name="connsiteX128" fmla="*/ 5092812 w 6096000"/>
              <a:gd name="connsiteY128" fmla="*/ 4411258 h 6858000"/>
              <a:gd name="connsiteX129" fmla="*/ 5084599 w 6096000"/>
              <a:gd name="connsiteY129" fmla="*/ 4488531 h 6858000"/>
              <a:gd name="connsiteX130" fmla="*/ 5084072 w 6096000"/>
              <a:gd name="connsiteY130" fmla="*/ 4539168 h 6858000"/>
              <a:gd name="connsiteX131" fmla="*/ 5068936 w 6096000"/>
              <a:gd name="connsiteY131" fmla="*/ 4625153 h 6858000"/>
              <a:gd name="connsiteX132" fmla="*/ 5059114 w 6096000"/>
              <a:gd name="connsiteY132" fmla="*/ 4733115 h 6858000"/>
              <a:gd name="connsiteX133" fmla="*/ 5037209 w 6096000"/>
              <a:gd name="connsiteY133" fmla="*/ 4844323 h 6858000"/>
              <a:gd name="connsiteX134" fmla="*/ 5020638 w 6096000"/>
              <a:gd name="connsiteY134" fmla="*/ 4877992 h 6858000"/>
              <a:gd name="connsiteX135" fmla="*/ 5006413 w 6096000"/>
              <a:gd name="connsiteY135" fmla="*/ 4925805 h 6858000"/>
              <a:gd name="connsiteX136" fmla="*/ 4971037 w 6096000"/>
              <a:gd name="connsiteY136" fmla="*/ 5009272 h 6858000"/>
              <a:gd name="connsiteX137" fmla="*/ 4963105 w 6096000"/>
              <a:gd name="connsiteY137" fmla="*/ 5111369 h 6858000"/>
              <a:gd name="connsiteX138" fmla="*/ 4976341 w 6096000"/>
              <a:gd name="connsiteY138" fmla="*/ 5210876 h 6858000"/>
              <a:gd name="connsiteX139" fmla="*/ 4980617 w 6096000"/>
              <a:gd name="connsiteY139" fmla="*/ 5269726 h 6858000"/>
              <a:gd name="connsiteX140" fmla="*/ 4997733 w 6096000"/>
              <a:gd name="connsiteY140" fmla="*/ 5464225 h 6858000"/>
              <a:gd name="connsiteX141" fmla="*/ 5001400 w 6096000"/>
              <a:gd name="connsiteY141" fmla="*/ 5594585 h 6858000"/>
              <a:gd name="connsiteX142" fmla="*/ 4983700 w 6096000"/>
              <a:gd name="connsiteY142" fmla="*/ 5667896 h 6858000"/>
              <a:gd name="connsiteX143" fmla="*/ 4968506 w 6096000"/>
              <a:gd name="connsiteY143" fmla="*/ 5769225 h 6858000"/>
              <a:gd name="connsiteX144" fmla="*/ 4969765 w 6096000"/>
              <a:gd name="connsiteY144" fmla="*/ 5823324 h 6858000"/>
              <a:gd name="connsiteX145" fmla="*/ 4966129 w 6096000"/>
              <a:gd name="connsiteY145" fmla="*/ 5862699 h 6858000"/>
              <a:gd name="connsiteX146" fmla="*/ 4970695 w 6096000"/>
              <a:gd name="connsiteY146" fmla="*/ 5906467 h 6858000"/>
              <a:gd name="connsiteX147" fmla="*/ 4991568 w 6096000"/>
              <a:gd name="connsiteY147" fmla="*/ 5939847 h 6858000"/>
              <a:gd name="connsiteX148" fmla="*/ 4986815 w 6096000"/>
              <a:gd name="connsiteY148" fmla="*/ 5973994 h 6858000"/>
              <a:gd name="connsiteX149" fmla="*/ 4987776 w 6096000"/>
              <a:gd name="connsiteY149" fmla="*/ 6089693 h 6858000"/>
              <a:gd name="connsiteX150" fmla="*/ 4991621 w 6096000"/>
              <a:gd name="connsiteY150" fmla="*/ 6224938 h 6858000"/>
              <a:gd name="connsiteX151" fmla="*/ 5017157 w 6096000"/>
              <a:gd name="connsiteY151" fmla="*/ 6370251 h 6858000"/>
              <a:gd name="connsiteX152" fmla="*/ 5040797 w 6096000"/>
              <a:gd name="connsiteY152" fmla="*/ 6541313 h 6858000"/>
              <a:gd name="connsiteX153" fmla="*/ 5045375 w 6096000"/>
              <a:gd name="connsiteY153" fmla="*/ 6640957 h 6858000"/>
              <a:gd name="connsiteX154" fmla="*/ 5058442 w 6096000"/>
              <a:gd name="connsiteY154" fmla="*/ 6705297 h 6858000"/>
              <a:gd name="connsiteX155" fmla="*/ 5071125 w 6096000"/>
              <a:gd name="connsiteY155" fmla="*/ 6759582 h 6858000"/>
              <a:gd name="connsiteX156" fmla="*/ 5069172 w 6096000"/>
              <a:gd name="connsiteY156" fmla="*/ 6817746 h 6858000"/>
              <a:gd name="connsiteX157" fmla="*/ 5072322 w 6096000"/>
              <a:gd name="connsiteY157" fmla="*/ 6843646 h 6858000"/>
              <a:gd name="connsiteX158" fmla="*/ 5091388 w 6096000"/>
              <a:gd name="connsiteY158" fmla="*/ 6857998 h 6858000"/>
              <a:gd name="connsiteX159" fmla="*/ 6096000 w 6096000"/>
              <a:gd name="connsiteY159" fmla="*/ 6857998 h 6858000"/>
              <a:gd name="connsiteX160" fmla="*/ 6096000 w 6096000"/>
              <a:gd name="connsiteY160" fmla="*/ 6858000 h 6858000"/>
              <a:gd name="connsiteX161" fmla="*/ 0 w 6096000"/>
              <a:gd name="connsiteY161"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Lst>
            <a:rect l="l" t="t" r="r" b="b"/>
            <a:pathLst>
              <a:path w="6096000" h="6858000">
                <a:moveTo>
                  <a:pt x="0" y="0"/>
                </a:moveTo>
                <a:lnTo>
                  <a:pt x="5567517" y="0"/>
                </a:lnTo>
                <a:lnTo>
                  <a:pt x="5566938" y="1705"/>
                </a:lnTo>
                <a:cubicBezTo>
                  <a:pt x="5563126" y="8440"/>
                  <a:pt x="5558112" y="13784"/>
                  <a:pt x="5551594" y="17287"/>
                </a:cubicBezTo>
                <a:cubicBezTo>
                  <a:pt x="5562364" y="82036"/>
                  <a:pt x="5510349" y="69804"/>
                  <a:pt x="5545641" y="130336"/>
                </a:cubicBezTo>
                <a:cubicBezTo>
                  <a:pt x="5526953" y="117589"/>
                  <a:pt x="5536978" y="162458"/>
                  <a:pt x="5538289" y="187093"/>
                </a:cubicBezTo>
                <a:cubicBezTo>
                  <a:pt x="5536205" y="226511"/>
                  <a:pt x="5545722" y="205530"/>
                  <a:pt x="5545790" y="265704"/>
                </a:cubicBezTo>
                <a:cubicBezTo>
                  <a:pt x="5542296" y="317533"/>
                  <a:pt x="5543813" y="325288"/>
                  <a:pt x="5542313" y="354566"/>
                </a:cubicBezTo>
                <a:lnTo>
                  <a:pt x="5524126" y="472000"/>
                </a:lnTo>
                <a:lnTo>
                  <a:pt x="5522170" y="473782"/>
                </a:lnTo>
                <a:cubicBezTo>
                  <a:pt x="5517847" y="482008"/>
                  <a:pt x="5518682" y="487340"/>
                  <a:pt x="5521798" y="491380"/>
                </a:cubicBezTo>
                <a:lnTo>
                  <a:pt x="5536419" y="531675"/>
                </a:lnTo>
                <a:lnTo>
                  <a:pt x="5533435" y="536015"/>
                </a:lnTo>
                <a:lnTo>
                  <a:pt x="5538088" y="572092"/>
                </a:lnTo>
                <a:lnTo>
                  <a:pt x="5536061" y="572511"/>
                </a:lnTo>
                <a:cubicBezTo>
                  <a:pt x="5531611" y="574271"/>
                  <a:pt x="5528529" y="577121"/>
                  <a:pt x="5528218" y="582332"/>
                </a:cubicBezTo>
                <a:cubicBezTo>
                  <a:pt x="5498002" y="573171"/>
                  <a:pt x="5516262" y="585107"/>
                  <a:pt x="5518011" y="601285"/>
                </a:cubicBezTo>
                <a:cubicBezTo>
                  <a:pt x="5508838" y="617831"/>
                  <a:pt x="5480684" y="666964"/>
                  <a:pt x="5473174" y="681608"/>
                </a:cubicBezTo>
                <a:cubicBezTo>
                  <a:pt x="5473102" y="684122"/>
                  <a:pt x="5473033" y="686637"/>
                  <a:pt x="5472963" y="689151"/>
                </a:cubicBezTo>
                <a:lnTo>
                  <a:pt x="5472485" y="689289"/>
                </a:lnTo>
                <a:cubicBezTo>
                  <a:pt x="5471434" y="690905"/>
                  <a:pt x="5470986" y="693376"/>
                  <a:pt x="5471326" y="697222"/>
                </a:cubicBezTo>
                <a:cubicBezTo>
                  <a:pt x="5471606" y="703992"/>
                  <a:pt x="5471884" y="710761"/>
                  <a:pt x="5472164" y="717531"/>
                </a:cubicBezTo>
                <a:lnTo>
                  <a:pt x="5468891" y="722494"/>
                </a:lnTo>
                <a:lnTo>
                  <a:pt x="5463081" y="724368"/>
                </a:lnTo>
                <a:lnTo>
                  <a:pt x="5446981" y="752692"/>
                </a:lnTo>
                <a:cubicBezTo>
                  <a:pt x="5454691" y="764380"/>
                  <a:pt x="5422719" y="808083"/>
                  <a:pt x="5417190" y="816346"/>
                </a:cubicBezTo>
                <a:lnTo>
                  <a:pt x="5388958" y="889417"/>
                </a:lnTo>
                <a:cubicBezTo>
                  <a:pt x="5320491" y="969963"/>
                  <a:pt x="5321907" y="1005331"/>
                  <a:pt x="5307044" y="1063288"/>
                </a:cubicBezTo>
                <a:cubicBezTo>
                  <a:pt x="5313332" y="1111028"/>
                  <a:pt x="5317096" y="1110140"/>
                  <a:pt x="5303837" y="1157176"/>
                </a:cubicBezTo>
                <a:cubicBezTo>
                  <a:pt x="5301103" y="1192124"/>
                  <a:pt x="5301884" y="1197232"/>
                  <a:pt x="5286494" y="1210776"/>
                </a:cubicBezTo>
                <a:lnTo>
                  <a:pt x="5282463" y="1301993"/>
                </a:lnTo>
                <a:lnTo>
                  <a:pt x="5252235" y="1360879"/>
                </a:lnTo>
                <a:lnTo>
                  <a:pt x="5244497" y="1404045"/>
                </a:lnTo>
                <a:lnTo>
                  <a:pt x="5223823" y="1429568"/>
                </a:lnTo>
                <a:lnTo>
                  <a:pt x="5224851" y="1430305"/>
                </a:lnTo>
                <a:cubicBezTo>
                  <a:pt x="5226697" y="1432466"/>
                  <a:pt x="5214738" y="1459891"/>
                  <a:pt x="5212394" y="1463304"/>
                </a:cubicBezTo>
                <a:cubicBezTo>
                  <a:pt x="5209912" y="1477394"/>
                  <a:pt x="5213027" y="1501295"/>
                  <a:pt x="5209958" y="1514846"/>
                </a:cubicBezTo>
                <a:lnTo>
                  <a:pt x="5206417" y="1519731"/>
                </a:lnTo>
                <a:lnTo>
                  <a:pt x="5206640" y="1519929"/>
                </a:lnTo>
                <a:cubicBezTo>
                  <a:pt x="5206490" y="1521210"/>
                  <a:pt x="5209710" y="1543635"/>
                  <a:pt x="5207632" y="1546022"/>
                </a:cubicBezTo>
                <a:lnTo>
                  <a:pt x="5212030" y="1578752"/>
                </a:lnTo>
                <a:cubicBezTo>
                  <a:pt x="5206147" y="1605585"/>
                  <a:pt x="5226381" y="1622803"/>
                  <a:pt x="5203533" y="1647555"/>
                </a:cubicBezTo>
                <a:cubicBezTo>
                  <a:pt x="5198128" y="1672675"/>
                  <a:pt x="5203213" y="1694404"/>
                  <a:pt x="5190877" y="1715685"/>
                </a:cubicBezTo>
                <a:cubicBezTo>
                  <a:pt x="5196815" y="1724301"/>
                  <a:pt x="5198098" y="1732435"/>
                  <a:pt x="5184235" y="1740358"/>
                </a:cubicBezTo>
                <a:cubicBezTo>
                  <a:pt x="5182625" y="1763793"/>
                  <a:pt x="5198368" y="1769422"/>
                  <a:pt x="5181475" y="1784314"/>
                </a:cubicBezTo>
                <a:cubicBezTo>
                  <a:pt x="5205987" y="1797417"/>
                  <a:pt x="5195246" y="1798221"/>
                  <a:pt x="5185845" y="1804434"/>
                </a:cubicBezTo>
                <a:lnTo>
                  <a:pt x="5185068" y="1805316"/>
                </a:lnTo>
                <a:lnTo>
                  <a:pt x="5188593" y="1807109"/>
                </a:lnTo>
                <a:lnTo>
                  <a:pt x="5185920" y="1821003"/>
                </a:lnTo>
                <a:lnTo>
                  <a:pt x="5183543" y="1824832"/>
                </a:lnTo>
                <a:cubicBezTo>
                  <a:pt x="5182284" y="1827468"/>
                  <a:pt x="5181937" y="1829219"/>
                  <a:pt x="5182235" y="1830429"/>
                </a:cubicBezTo>
                <a:lnTo>
                  <a:pt x="5182525" y="1830569"/>
                </a:lnTo>
                <a:lnTo>
                  <a:pt x="5180663" y="1835810"/>
                </a:lnTo>
                <a:cubicBezTo>
                  <a:pt x="5176779" y="1844665"/>
                  <a:pt x="5172297" y="1853278"/>
                  <a:pt x="5167452" y="1861483"/>
                </a:cubicBezTo>
                <a:cubicBezTo>
                  <a:pt x="5179827" y="1866643"/>
                  <a:pt x="5166788" y="1884999"/>
                  <a:pt x="5174266" y="1892417"/>
                </a:cubicBezTo>
                <a:lnTo>
                  <a:pt x="5189262" y="1895114"/>
                </a:lnTo>
                <a:lnTo>
                  <a:pt x="5187100" y="1899379"/>
                </a:lnTo>
                <a:lnTo>
                  <a:pt x="5180471" y="1907867"/>
                </a:lnTo>
                <a:cubicBezTo>
                  <a:pt x="5179609" y="1909162"/>
                  <a:pt x="5179647" y="1909994"/>
                  <a:pt x="5181361" y="1910265"/>
                </a:cubicBezTo>
                <a:cubicBezTo>
                  <a:pt x="5180995" y="1914884"/>
                  <a:pt x="5177893" y="1930292"/>
                  <a:pt x="5178268" y="1935584"/>
                </a:cubicBezTo>
                <a:lnTo>
                  <a:pt x="5183619" y="1942021"/>
                </a:lnTo>
                <a:lnTo>
                  <a:pt x="5184480" y="1945112"/>
                </a:lnTo>
                <a:lnTo>
                  <a:pt x="5172776" y="1961162"/>
                </a:lnTo>
                <a:lnTo>
                  <a:pt x="5168513" y="1969445"/>
                </a:lnTo>
                <a:lnTo>
                  <a:pt x="5126597" y="2024270"/>
                </a:lnTo>
                <a:lnTo>
                  <a:pt x="5119528" y="2107942"/>
                </a:lnTo>
                <a:cubicBezTo>
                  <a:pt x="5089290" y="2138038"/>
                  <a:pt x="5110415" y="2159228"/>
                  <a:pt x="5110356" y="2193455"/>
                </a:cubicBezTo>
                <a:cubicBezTo>
                  <a:pt x="5101302" y="2220953"/>
                  <a:pt x="5110381" y="2224200"/>
                  <a:pt x="5104992" y="2260088"/>
                </a:cubicBezTo>
                <a:cubicBezTo>
                  <a:pt x="5096504" y="2291744"/>
                  <a:pt x="5078225" y="2299003"/>
                  <a:pt x="5059439" y="2335735"/>
                </a:cubicBezTo>
                <a:cubicBezTo>
                  <a:pt x="5029465" y="2329020"/>
                  <a:pt x="5058046" y="2407546"/>
                  <a:pt x="5022061" y="2408995"/>
                </a:cubicBezTo>
                <a:cubicBezTo>
                  <a:pt x="5023289" y="2413465"/>
                  <a:pt x="5019654" y="2441580"/>
                  <a:pt x="5022253" y="2445869"/>
                </a:cubicBezTo>
                <a:cubicBezTo>
                  <a:pt x="5022440" y="2449625"/>
                  <a:pt x="5011241" y="2492743"/>
                  <a:pt x="5011426" y="2496499"/>
                </a:cubicBezTo>
                <a:lnTo>
                  <a:pt x="4994224" y="2549900"/>
                </a:lnTo>
                <a:cubicBezTo>
                  <a:pt x="4992353" y="2564757"/>
                  <a:pt x="4998952" y="2582253"/>
                  <a:pt x="4995245" y="2596456"/>
                </a:cubicBezTo>
                <a:lnTo>
                  <a:pt x="4988570" y="2606088"/>
                </a:lnTo>
                <a:cubicBezTo>
                  <a:pt x="4988504" y="2615842"/>
                  <a:pt x="4988436" y="2625597"/>
                  <a:pt x="4988371" y="2635351"/>
                </a:cubicBezTo>
                <a:lnTo>
                  <a:pt x="4983212" y="2665666"/>
                </a:lnTo>
                <a:lnTo>
                  <a:pt x="4968234" y="2715895"/>
                </a:lnTo>
                <a:lnTo>
                  <a:pt x="4975888" y="2725052"/>
                </a:lnTo>
                <a:lnTo>
                  <a:pt x="4980195" y="2726489"/>
                </a:lnTo>
                <a:lnTo>
                  <a:pt x="4976218" y="2740278"/>
                </a:lnTo>
                <a:lnTo>
                  <a:pt x="4980571" y="2751112"/>
                </a:lnTo>
                <a:lnTo>
                  <a:pt x="4973893" y="2760208"/>
                </a:lnTo>
                <a:lnTo>
                  <a:pt x="4979005" y="2790136"/>
                </a:lnTo>
                <a:lnTo>
                  <a:pt x="4986137" y="2804183"/>
                </a:lnTo>
                <a:cubicBezTo>
                  <a:pt x="4986150" y="2811409"/>
                  <a:pt x="4986162" y="2818634"/>
                  <a:pt x="4986175" y="2825860"/>
                </a:cubicBezTo>
                <a:cubicBezTo>
                  <a:pt x="4987474" y="2843788"/>
                  <a:pt x="4992871" y="2886513"/>
                  <a:pt x="4993936" y="2911749"/>
                </a:cubicBezTo>
                <a:cubicBezTo>
                  <a:pt x="4993313" y="2946689"/>
                  <a:pt x="4980300" y="2954448"/>
                  <a:pt x="4992563" y="2977278"/>
                </a:cubicBezTo>
                <a:cubicBezTo>
                  <a:pt x="4985688" y="2983455"/>
                  <a:pt x="4982051" y="2987749"/>
                  <a:pt x="4980516" y="2991092"/>
                </a:cubicBezTo>
                <a:cubicBezTo>
                  <a:pt x="4975910" y="3001119"/>
                  <a:pt x="4990216" y="3002537"/>
                  <a:pt x="4992801" y="3020247"/>
                </a:cubicBezTo>
                <a:cubicBezTo>
                  <a:pt x="4998517" y="3032637"/>
                  <a:pt x="5013148" y="3051512"/>
                  <a:pt x="5014805" y="3065434"/>
                </a:cubicBezTo>
                <a:cubicBezTo>
                  <a:pt x="4998836" y="3057428"/>
                  <a:pt x="5016840" y="3105196"/>
                  <a:pt x="5002733" y="3103777"/>
                </a:cubicBezTo>
                <a:cubicBezTo>
                  <a:pt x="5022381" y="3124610"/>
                  <a:pt x="4997365" y="3128169"/>
                  <a:pt x="5002941" y="3151828"/>
                </a:cubicBezTo>
                <a:cubicBezTo>
                  <a:pt x="5010264" y="3163902"/>
                  <a:pt x="5011356" y="3171780"/>
                  <a:pt x="5002883" y="3180546"/>
                </a:cubicBezTo>
                <a:cubicBezTo>
                  <a:pt x="5038586" y="3236545"/>
                  <a:pt x="5003723" y="3210316"/>
                  <a:pt x="5016711" y="3258677"/>
                </a:cubicBezTo>
                <a:lnTo>
                  <a:pt x="5017918" y="3262610"/>
                </a:lnTo>
                <a:lnTo>
                  <a:pt x="5011672" y="3277179"/>
                </a:lnTo>
                <a:lnTo>
                  <a:pt x="5009344" y="3278130"/>
                </a:lnTo>
                <a:lnTo>
                  <a:pt x="5026770" y="3325671"/>
                </a:lnTo>
                <a:lnTo>
                  <a:pt x="5024571" y="3332072"/>
                </a:lnTo>
                <a:lnTo>
                  <a:pt x="5041705" y="3362948"/>
                </a:lnTo>
                <a:lnTo>
                  <a:pt x="5047477" y="3378959"/>
                </a:lnTo>
                <a:lnTo>
                  <a:pt x="5060758" y="3407057"/>
                </a:lnTo>
                <a:lnTo>
                  <a:pt x="5058968" y="3409825"/>
                </a:lnTo>
                <a:lnTo>
                  <a:pt x="5062667" y="3415218"/>
                </a:lnTo>
                <a:lnTo>
                  <a:pt x="5060928" y="3419880"/>
                </a:lnTo>
                <a:lnTo>
                  <a:pt x="5062923" y="3424545"/>
                </a:lnTo>
                <a:cubicBezTo>
                  <a:pt x="5063537" y="3433967"/>
                  <a:pt x="5063494" y="3466028"/>
                  <a:pt x="5064623" y="3476412"/>
                </a:cubicBezTo>
                <a:lnTo>
                  <a:pt x="5069684" y="3486850"/>
                </a:lnTo>
                <a:lnTo>
                  <a:pt x="5063339" y="3496391"/>
                </a:lnTo>
                <a:lnTo>
                  <a:pt x="5070139" y="3531201"/>
                </a:lnTo>
                <a:lnTo>
                  <a:pt x="5079896" y="3542019"/>
                </a:lnTo>
                <a:lnTo>
                  <a:pt x="5087540" y="3552249"/>
                </a:lnTo>
                <a:lnTo>
                  <a:pt x="5087902" y="3553678"/>
                </a:lnTo>
                <a:lnTo>
                  <a:pt x="5091509" y="3568021"/>
                </a:lnTo>
                <a:lnTo>
                  <a:pt x="5091934" y="3569719"/>
                </a:lnTo>
                <a:lnTo>
                  <a:pt x="5089362" y="3586412"/>
                </a:lnTo>
                <a:lnTo>
                  <a:pt x="5092358" y="3597336"/>
                </a:lnTo>
                <a:lnTo>
                  <a:pt x="5084254" y="3606007"/>
                </a:lnTo>
                <a:cubicBezTo>
                  <a:pt x="5084262" y="3617747"/>
                  <a:pt x="5084273" y="3629488"/>
                  <a:pt x="5084281" y="3641228"/>
                </a:cubicBezTo>
                <a:lnTo>
                  <a:pt x="5091848" y="3653088"/>
                </a:lnTo>
                <a:lnTo>
                  <a:pt x="5097436" y="3664114"/>
                </a:lnTo>
                <a:cubicBezTo>
                  <a:pt x="5097463" y="3664599"/>
                  <a:pt x="5097491" y="3665084"/>
                  <a:pt x="5097518" y="3665569"/>
                </a:cubicBezTo>
                <a:cubicBezTo>
                  <a:pt x="5097915" y="3672776"/>
                  <a:pt x="5096966" y="3688591"/>
                  <a:pt x="5099829" y="3707357"/>
                </a:cubicBezTo>
                <a:cubicBezTo>
                  <a:pt x="5100505" y="3724716"/>
                  <a:pt x="5118078" y="3760234"/>
                  <a:pt x="5114696" y="3778166"/>
                </a:cubicBezTo>
                <a:cubicBezTo>
                  <a:pt x="5141627" y="3845122"/>
                  <a:pt x="5125427" y="3821305"/>
                  <a:pt x="5135379" y="3878222"/>
                </a:cubicBezTo>
                <a:cubicBezTo>
                  <a:pt x="5161519" y="3905047"/>
                  <a:pt x="5125417" y="4015047"/>
                  <a:pt x="5130138" y="4048117"/>
                </a:cubicBezTo>
                <a:cubicBezTo>
                  <a:pt x="5081804" y="4192084"/>
                  <a:pt x="5096262" y="4158987"/>
                  <a:pt x="5090040" y="4219510"/>
                </a:cubicBezTo>
                <a:cubicBezTo>
                  <a:pt x="5104553" y="4280033"/>
                  <a:pt x="5065380" y="4345686"/>
                  <a:pt x="5092812" y="4411258"/>
                </a:cubicBezTo>
                <a:cubicBezTo>
                  <a:pt x="5090630" y="4437329"/>
                  <a:pt x="5083878" y="4473140"/>
                  <a:pt x="5084599" y="4488531"/>
                </a:cubicBezTo>
                <a:cubicBezTo>
                  <a:pt x="5084423" y="4505410"/>
                  <a:pt x="5084248" y="4522289"/>
                  <a:pt x="5084072" y="4539168"/>
                </a:cubicBezTo>
                <a:cubicBezTo>
                  <a:pt x="5072114" y="4567830"/>
                  <a:pt x="5064305" y="4588197"/>
                  <a:pt x="5068936" y="4625153"/>
                </a:cubicBezTo>
                <a:cubicBezTo>
                  <a:pt x="5077433" y="4662889"/>
                  <a:pt x="5065899" y="4679357"/>
                  <a:pt x="5059114" y="4733115"/>
                </a:cubicBezTo>
                <a:cubicBezTo>
                  <a:pt x="5068687" y="4752352"/>
                  <a:pt x="5055370" y="4832308"/>
                  <a:pt x="5037209" y="4844323"/>
                </a:cubicBezTo>
                <a:cubicBezTo>
                  <a:pt x="5033444" y="4857054"/>
                  <a:pt x="5040194" y="4871554"/>
                  <a:pt x="5020638" y="4877992"/>
                </a:cubicBezTo>
                <a:cubicBezTo>
                  <a:pt x="4997151" y="4888353"/>
                  <a:pt x="5034418" y="4931200"/>
                  <a:pt x="5006413" y="4925805"/>
                </a:cubicBezTo>
                <a:cubicBezTo>
                  <a:pt x="5031964" y="4956261"/>
                  <a:pt x="4982840" y="4982633"/>
                  <a:pt x="4971037" y="5009272"/>
                </a:cubicBezTo>
                <a:cubicBezTo>
                  <a:pt x="4973259" y="5034036"/>
                  <a:pt x="4968375" y="5053859"/>
                  <a:pt x="4963105" y="5111369"/>
                </a:cubicBezTo>
                <a:cubicBezTo>
                  <a:pt x="4973224" y="5141336"/>
                  <a:pt x="4937413" y="5161742"/>
                  <a:pt x="4976341" y="5210876"/>
                </a:cubicBezTo>
                <a:cubicBezTo>
                  <a:pt x="4972455" y="5212581"/>
                  <a:pt x="4977054" y="5227501"/>
                  <a:pt x="4980617" y="5269726"/>
                </a:cubicBezTo>
                <a:cubicBezTo>
                  <a:pt x="4984182" y="5311951"/>
                  <a:pt x="4990390" y="5400671"/>
                  <a:pt x="4997733" y="5464225"/>
                </a:cubicBezTo>
                <a:cubicBezTo>
                  <a:pt x="5001765" y="5536542"/>
                  <a:pt x="4990225" y="5517959"/>
                  <a:pt x="5001400" y="5594585"/>
                </a:cubicBezTo>
                <a:cubicBezTo>
                  <a:pt x="4999908" y="5619318"/>
                  <a:pt x="4974042" y="5647975"/>
                  <a:pt x="4983700" y="5667896"/>
                </a:cubicBezTo>
                <a:cubicBezTo>
                  <a:pt x="4976834" y="5696311"/>
                  <a:pt x="4975579" y="5738356"/>
                  <a:pt x="4968506" y="5769225"/>
                </a:cubicBezTo>
                <a:cubicBezTo>
                  <a:pt x="4968926" y="5787258"/>
                  <a:pt x="4969344" y="5805291"/>
                  <a:pt x="4969765" y="5823324"/>
                </a:cubicBezTo>
                <a:cubicBezTo>
                  <a:pt x="4966122" y="5853058"/>
                  <a:pt x="4965608" y="5838948"/>
                  <a:pt x="4966129" y="5862699"/>
                </a:cubicBezTo>
                <a:lnTo>
                  <a:pt x="4970695" y="5906467"/>
                </a:lnTo>
                <a:lnTo>
                  <a:pt x="4991568" y="5939847"/>
                </a:lnTo>
                <a:cubicBezTo>
                  <a:pt x="4998848" y="5955713"/>
                  <a:pt x="4974731" y="5940131"/>
                  <a:pt x="4986815" y="5973994"/>
                </a:cubicBezTo>
                <a:cubicBezTo>
                  <a:pt x="4961187" y="5997051"/>
                  <a:pt x="4983444" y="6032039"/>
                  <a:pt x="4987776" y="6089693"/>
                </a:cubicBezTo>
                <a:lnTo>
                  <a:pt x="4991621" y="6224938"/>
                </a:lnTo>
                <a:cubicBezTo>
                  <a:pt x="4988442" y="6270972"/>
                  <a:pt x="5008962" y="6317522"/>
                  <a:pt x="5017157" y="6370251"/>
                </a:cubicBezTo>
                <a:cubicBezTo>
                  <a:pt x="5025353" y="6422980"/>
                  <a:pt x="5039938" y="6490855"/>
                  <a:pt x="5040797" y="6541313"/>
                </a:cubicBezTo>
                <a:cubicBezTo>
                  <a:pt x="5039898" y="6576319"/>
                  <a:pt x="5031912" y="6591883"/>
                  <a:pt x="5045375" y="6640957"/>
                </a:cubicBezTo>
                <a:cubicBezTo>
                  <a:pt x="5057505" y="6669536"/>
                  <a:pt x="5052276" y="6675394"/>
                  <a:pt x="5058442" y="6705297"/>
                </a:cubicBezTo>
                <a:cubicBezTo>
                  <a:pt x="5057367" y="6727133"/>
                  <a:pt x="5067901" y="6732087"/>
                  <a:pt x="5071125" y="6759582"/>
                </a:cubicBezTo>
                <a:cubicBezTo>
                  <a:pt x="5055614" y="6796071"/>
                  <a:pt x="5051656" y="6769544"/>
                  <a:pt x="5069172" y="6817746"/>
                </a:cubicBezTo>
                <a:cubicBezTo>
                  <a:pt x="5060956" y="6828354"/>
                  <a:pt x="5064525" y="6836369"/>
                  <a:pt x="5072322" y="6843646"/>
                </a:cubicBezTo>
                <a:lnTo>
                  <a:pt x="5091388" y="6857998"/>
                </a:lnTo>
                <a:lnTo>
                  <a:pt x="6096000" y="6857998"/>
                </a:lnTo>
                <a:lnTo>
                  <a:pt x="6096000" y="6858000"/>
                </a:lnTo>
                <a:lnTo>
                  <a:pt x="0" y="6858000"/>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p:cNvSpPr>
            <a:spLocks noGrp="1"/>
          </p:cNvSpPr>
          <p:nvPr>
            <p:ph type="title"/>
          </p:nvPr>
        </p:nvSpPr>
        <p:spPr>
          <a:xfrm>
            <a:off x="193815" y="661916"/>
            <a:ext cx="8654350" cy="1330839"/>
          </a:xfrm>
        </p:spPr>
        <p:txBody>
          <a:bodyPr>
            <a:noAutofit/>
          </a:bodyPr>
          <a:lstStyle/>
          <a:p>
            <a:pPr>
              <a:lnSpc>
                <a:spcPct val="90000"/>
              </a:lnSpc>
            </a:pPr>
            <a:r>
              <a:rPr lang="en-US" sz="1400" b="1" dirty="0">
                <a:latin typeface="Calibri"/>
              </a:rPr>
              <a:t>Q3 – </a:t>
            </a:r>
            <a:r>
              <a:rPr lang="en-US" sz="1400" b="1" dirty="0"/>
              <a:t>Which Agent Company performed the best?</a:t>
            </a:r>
            <a:br>
              <a:rPr lang="en-US" sz="1400" b="1" dirty="0"/>
            </a:br>
            <a:br>
              <a:rPr lang="en-US" sz="2000" b="1" dirty="0">
                <a:latin typeface="Calibri"/>
              </a:rPr>
            </a:br>
            <a:r>
              <a:rPr lang="en-US" sz="2000" b="1" dirty="0"/>
              <a:t>COMPANY_3 delivers the lowest 7-day recontact rate, while COMPANY_1 has the highest recontact rate on the largest volume</a:t>
            </a:r>
            <a:endParaRPr lang="en-US" sz="2000" b="1" dirty="0">
              <a:latin typeface="Calibri"/>
            </a:endParaRPr>
          </a:p>
        </p:txBody>
      </p:sp>
      <p:sp>
        <p:nvSpPr>
          <p:cNvPr id="3" name="Content Placeholder 2"/>
          <p:cNvSpPr>
            <a:spLocks noGrp="1"/>
          </p:cNvSpPr>
          <p:nvPr>
            <p:ph idx="1"/>
          </p:nvPr>
        </p:nvSpPr>
        <p:spPr>
          <a:xfrm>
            <a:off x="0" y="2187388"/>
            <a:ext cx="3176729" cy="4670612"/>
          </a:xfrm>
        </p:spPr>
        <p:txBody>
          <a:bodyPr>
            <a:normAutofit/>
          </a:bodyPr>
          <a:lstStyle/>
          <a:p>
            <a:pPr>
              <a:lnSpc>
                <a:spcPct val="90000"/>
              </a:lnSpc>
              <a:defRPr sz="1800"/>
            </a:pPr>
            <a:r>
              <a:rPr lang="en-US" sz="1400" b="1" dirty="0">
                <a:latin typeface="Calibri"/>
              </a:rPr>
              <a:t>Metric: 7-day recontact rate on resolving interactions by agent company.</a:t>
            </a:r>
          </a:p>
          <a:p>
            <a:pPr>
              <a:lnSpc>
                <a:spcPct val="90000"/>
              </a:lnSpc>
              <a:defRPr sz="1800"/>
            </a:pPr>
            <a:r>
              <a:rPr lang="en-US" sz="1400" dirty="0">
                <a:latin typeface="Calibri"/>
              </a:rPr>
              <a:t>COMPANY_3 shows the lowest recontact rate overall → best performance on keeping issues resolved.</a:t>
            </a:r>
          </a:p>
          <a:p>
            <a:pPr>
              <a:lnSpc>
                <a:spcPct val="90000"/>
              </a:lnSpc>
              <a:defRPr sz="1800"/>
            </a:pPr>
            <a:r>
              <a:rPr lang="en-US" sz="1400" dirty="0">
                <a:latin typeface="Calibri"/>
              </a:rPr>
              <a:t>COMPANY_1 is mid-range; COMPANY_2 has the highest recontact rates → opportunity for coaching and process review.</a:t>
            </a:r>
          </a:p>
          <a:p>
            <a:pPr>
              <a:lnSpc>
                <a:spcPct val="90000"/>
              </a:lnSpc>
              <a:defRPr sz="1800"/>
            </a:pPr>
            <a:r>
              <a:rPr lang="en-US" sz="1400" dirty="0">
                <a:latin typeface="Calibri"/>
              </a:rPr>
              <a:t>Next steps: Deep-dive COMPANY_2 by product and channel to identify systematic issues.</a:t>
            </a:r>
          </a:p>
        </p:txBody>
      </p:sp>
      <p:graphicFrame>
        <p:nvGraphicFramePr>
          <p:cNvPr id="4" name="Chart 3">
            <a:extLst>
              <a:ext uri="{FF2B5EF4-FFF2-40B4-BE49-F238E27FC236}">
                <a16:creationId xmlns:a16="http://schemas.microsoft.com/office/drawing/2014/main" id="{AFD1F67C-CF4A-620B-D344-98903A3DBD6C}"/>
              </a:ext>
            </a:extLst>
          </p:cNvPr>
          <p:cNvGraphicFramePr>
            <a:graphicFrameLocks/>
          </p:cNvGraphicFramePr>
          <p:nvPr>
            <p:extLst>
              <p:ext uri="{D42A27DB-BD31-4B8C-83A1-F6EECF244321}">
                <p14:modId xmlns:p14="http://schemas.microsoft.com/office/powerpoint/2010/main" val="2023714215"/>
              </p:ext>
            </p:extLst>
          </p:nvPr>
        </p:nvGraphicFramePr>
        <p:xfrm>
          <a:off x="3585881" y="2187388"/>
          <a:ext cx="5441577" cy="4032437"/>
        </p:xfrm>
        <a:graphic>
          <a:graphicData uri="http://schemas.openxmlformats.org/drawingml/2006/chart">
            <c:chart xmlns:c="http://schemas.openxmlformats.org/drawingml/2006/chart" xmlns:r="http://schemas.openxmlformats.org/officeDocument/2006/relationships" r:id="rId2"/>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Freeform: Shape 22">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8824632"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p:cNvSpPr>
            <a:spLocks noGrp="1"/>
          </p:cNvSpPr>
          <p:nvPr>
            <p:ph type="title"/>
          </p:nvPr>
        </p:nvSpPr>
        <p:spPr>
          <a:xfrm>
            <a:off x="852775" y="365496"/>
            <a:ext cx="7044316" cy="1330841"/>
          </a:xfrm>
        </p:spPr>
        <p:txBody>
          <a:bodyPr>
            <a:normAutofit fontScale="90000"/>
          </a:bodyPr>
          <a:lstStyle/>
          <a:p>
            <a:pPr>
              <a:defRPr sz="1800"/>
            </a:pPr>
            <a:r>
              <a:rPr lang="en-US" sz="1600" b="1" dirty="0"/>
              <a:t>Q4 -What percentage of merchants contacted multiple times, and which products were most frequently recontacted?</a:t>
            </a:r>
            <a:br>
              <a:rPr lang="en-US" sz="2000" b="1" dirty="0"/>
            </a:br>
            <a:br>
              <a:rPr lang="en-US" sz="2000" b="1" dirty="0"/>
            </a:br>
            <a:r>
              <a:rPr lang="en-US" sz="2200" b="1" dirty="0"/>
              <a:t>~50% of merchants contact support more than once in the year; product with highest repeat contacts are Profile, Hardware and Misc.</a:t>
            </a:r>
            <a:endParaRPr lang="en-US" sz="2000" b="1" dirty="0"/>
          </a:p>
        </p:txBody>
      </p:sp>
      <p:sp>
        <p:nvSpPr>
          <p:cNvPr id="3" name="Content Placeholder 2"/>
          <p:cNvSpPr>
            <a:spLocks noGrp="1"/>
          </p:cNvSpPr>
          <p:nvPr>
            <p:ph idx="1"/>
          </p:nvPr>
        </p:nvSpPr>
        <p:spPr>
          <a:xfrm>
            <a:off x="649949" y="2058067"/>
            <a:ext cx="2365554" cy="3917773"/>
          </a:xfrm>
        </p:spPr>
        <p:txBody>
          <a:bodyPr>
            <a:normAutofit/>
          </a:bodyPr>
          <a:lstStyle/>
          <a:p>
            <a:pPr>
              <a:defRPr sz="1800"/>
            </a:pPr>
            <a:r>
              <a:rPr lang="en-US" sz="1700" dirty="0">
                <a:latin typeface="Calibri"/>
              </a:rPr>
              <a:t>Some merchants are heavy support users having up to 5 or 10 contacts</a:t>
            </a:r>
          </a:p>
          <a:p>
            <a:pPr>
              <a:defRPr sz="1800"/>
            </a:pPr>
            <a:r>
              <a:rPr lang="en-US" sz="1700" dirty="0">
                <a:latin typeface="Calibri"/>
              </a:rPr>
              <a:t>These product areas are prime candidates for better self-service, clearer communication, and product improvements.</a:t>
            </a:r>
          </a:p>
        </p:txBody>
      </p:sp>
      <p:sp>
        <p:nvSpPr>
          <p:cNvPr id="25" name="Freeform: Shape 24">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4036218" y="6209414"/>
            <a:ext cx="5107781"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aphicFrame>
        <p:nvGraphicFramePr>
          <p:cNvPr id="4" name="Chart 3">
            <a:extLst>
              <a:ext uri="{FF2B5EF4-FFF2-40B4-BE49-F238E27FC236}">
                <a16:creationId xmlns:a16="http://schemas.microsoft.com/office/drawing/2014/main" id="{212AFBDC-E22B-1DA5-C8AC-4CD371944E3F}"/>
              </a:ext>
            </a:extLst>
          </p:cNvPr>
          <p:cNvGraphicFramePr>
            <a:graphicFrameLocks/>
          </p:cNvGraphicFramePr>
          <p:nvPr>
            <p:extLst>
              <p:ext uri="{D42A27DB-BD31-4B8C-83A1-F6EECF244321}">
                <p14:modId xmlns:p14="http://schemas.microsoft.com/office/powerpoint/2010/main" val="2215230846"/>
              </p:ext>
            </p:extLst>
          </p:nvPr>
        </p:nvGraphicFramePr>
        <p:xfrm>
          <a:off x="3334871" y="1983352"/>
          <a:ext cx="5296033" cy="4067205"/>
        </p:xfrm>
        <a:graphic>
          <a:graphicData uri="http://schemas.openxmlformats.org/drawingml/2006/chart">
            <c:chart xmlns:c="http://schemas.openxmlformats.org/drawingml/2006/chart" xmlns:r="http://schemas.openxmlformats.org/officeDocument/2006/relationships" r:id="rId2"/>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955A2079-FA98-4876-80F0-72364A7D2E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3"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28650" y="557188"/>
            <a:ext cx="7886700" cy="1133499"/>
          </a:xfrm>
        </p:spPr>
        <p:txBody>
          <a:bodyPr>
            <a:normAutofit/>
          </a:bodyPr>
          <a:lstStyle/>
          <a:p>
            <a:pPr>
              <a:lnSpc>
                <a:spcPct val="90000"/>
              </a:lnSpc>
            </a:pPr>
            <a:r>
              <a:rPr lang="en-US" sz="1400" b="1" dirty="0">
                <a:latin typeface="Calibri"/>
              </a:rPr>
              <a:t>Q5 – </a:t>
            </a:r>
            <a:r>
              <a:rPr lang="en-US" sz="1400" b="1" dirty="0"/>
              <a:t>How would you associate costs with each channel?</a:t>
            </a:r>
            <a:br>
              <a:rPr lang="en-US" sz="1400" b="1" dirty="0"/>
            </a:br>
            <a:br>
              <a:rPr lang="en-US" sz="1400" b="1" dirty="0"/>
            </a:br>
            <a:r>
              <a:rPr lang="en-US" sz="2000" b="1" dirty="0"/>
              <a:t>Cost allocation per channel methodology</a:t>
            </a:r>
            <a:endParaRPr lang="en-US" sz="1400" b="1" dirty="0">
              <a:latin typeface="Calibri"/>
            </a:endParaRPr>
          </a:p>
        </p:txBody>
      </p:sp>
      <p:graphicFrame>
        <p:nvGraphicFramePr>
          <p:cNvPr id="18" name="Content Placeholder 2">
            <a:extLst>
              <a:ext uri="{FF2B5EF4-FFF2-40B4-BE49-F238E27FC236}">
                <a16:creationId xmlns:a16="http://schemas.microsoft.com/office/drawing/2014/main" id="{15B6546A-11DC-1A17-B2E9-943557792AB0}"/>
              </a:ext>
            </a:extLst>
          </p:cNvPr>
          <p:cNvGraphicFramePr>
            <a:graphicFrameLocks noGrp="1"/>
          </p:cNvGraphicFramePr>
          <p:nvPr>
            <p:ph idx="1"/>
            <p:extLst>
              <p:ext uri="{D42A27DB-BD31-4B8C-83A1-F6EECF244321}">
                <p14:modId xmlns:p14="http://schemas.microsoft.com/office/powerpoint/2010/main" val="4109421679"/>
              </p:ext>
            </p:extLst>
          </p:nvPr>
        </p:nvGraphicFramePr>
        <p:xfrm>
          <a:off x="628650" y="1828800"/>
          <a:ext cx="7886700" cy="435254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3" name="Rectangle 32">
            <a:extLst>
              <a:ext uri="{FF2B5EF4-FFF2-40B4-BE49-F238E27FC236}">
                <a16:creationId xmlns:a16="http://schemas.microsoft.com/office/drawing/2014/main" id="{85F55C16-BC21-49EF-A4FF-C3155BB93B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4"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4686300" y="365125"/>
            <a:ext cx="3829048" cy="1952744"/>
          </a:xfrm>
        </p:spPr>
        <p:txBody>
          <a:bodyPr>
            <a:normAutofit/>
          </a:bodyPr>
          <a:lstStyle/>
          <a:p>
            <a:pPr>
              <a:lnSpc>
                <a:spcPct val="90000"/>
              </a:lnSpc>
            </a:pPr>
            <a:r>
              <a:rPr lang="en-US" sz="1400" b="1" dirty="0"/>
              <a:t>Q5 – How would you associate costs with each channel?</a:t>
            </a:r>
            <a:br>
              <a:rPr lang="en-US" sz="2000" b="1" dirty="0"/>
            </a:br>
            <a:br>
              <a:rPr lang="en-US" sz="2000" b="1" dirty="0"/>
            </a:br>
            <a:r>
              <a:rPr lang="en-US" sz="2000" b="1" dirty="0"/>
              <a:t>Chat channel is the cheapest per interaction  with average cost per interaction being ~</a:t>
            </a:r>
            <a:r>
              <a:rPr lang="en-US" sz="2000" dirty="0"/>
              <a:t>€</a:t>
            </a:r>
            <a:r>
              <a:rPr lang="en-US" sz="2000" b="1" dirty="0"/>
              <a:t>1.72</a:t>
            </a:r>
          </a:p>
        </p:txBody>
      </p:sp>
      <p:sp>
        <p:nvSpPr>
          <p:cNvPr id="34" name="Freeform: Shape 33">
            <a:extLst>
              <a:ext uri="{FF2B5EF4-FFF2-40B4-BE49-F238E27FC236}">
                <a16:creationId xmlns:a16="http://schemas.microsoft.com/office/drawing/2014/main" id="{0C5F069E-AFE6-4825-8945-46F2918A50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4587427" cy="6858000"/>
          </a:xfrm>
          <a:custGeom>
            <a:avLst/>
            <a:gdLst>
              <a:gd name="connsiteX0" fmla="*/ 0 w 6116569"/>
              <a:gd name="connsiteY0" fmla="*/ 0 h 6879321"/>
              <a:gd name="connsiteX1" fmla="*/ 2935851 w 6116569"/>
              <a:gd name="connsiteY1" fmla="*/ 0 h 6879321"/>
              <a:gd name="connsiteX2" fmla="*/ 3238280 w 6116569"/>
              <a:gd name="connsiteY2" fmla="*/ 31980 h 6879321"/>
              <a:gd name="connsiteX3" fmla="*/ 3660541 w 6116569"/>
              <a:gd name="connsiteY3" fmla="*/ 550772 h 6879321"/>
              <a:gd name="connsiteX4" fmla="*/ 3808902 w 6116569"/>
              <a:gd name="connsiteY4" fmla="*/ 589860 h 6879321"/>
              <a:gd name="connsiteX5" fmla="*/ 4413762 w 6116569"/>
              <a:gd name="connsiteY5" fmla="*/ 625393 h 6879321"/>
              <a:gd name="connsiteX6" fmla="*/ 4567830 w 6116569"/>
              <a:gd name="connsiteY6" fmla="*/ 721333 h 6879321"/>
              <a:gd name="connsiteX7" fmla="*/ 4171247 w 6116569"/>
              <a:gd name="connsiteY7" fmla="*/ 792401 h 6879321"/>
              <a:gd name="connsiteX8" fmla="*/ 4376671 w 6116569"/>
              <a:gd name="connsiteY8" fmla="*/ 842148 h 6879321"/>
              <a:gd name="connsiteX9" fmla="*/ 4527887 w 6116569"/>
              <a:gd name="connsiteY9" fmla="*/ 813722 h 6879321"/>
              <a:gd name="connsiteX10" fmla="*/ 4633452 w 6116569"/>
              <a:gd name="connsiteY10" fmla="*/ 799508 h 6879321"/>
              <a:gd name="connsiteX11" fmla="*/ 4947293 w 6116569"/>
              <a:gd name="connsiteY11" fmla="*/ 870576 h 6879321"/>
              <a:gd name="connsiteX12" fmla="*/ 5263988 w 6116569"/>
              <a:gd name="connsiteY12" fmla="*/ 820828 h 6879321"/>
              <a:gd name="connsiteX13" fmla="*/ 5249723 w 6116569"/>
              <a:gd name="connsiteY13" fmla="*/ 895449 h 6879321"/>
              <a:gd name="connsiteX14" fmla="*/ 4744723 w 6116569"/>
              <a:gd name="connsiteY14" fmla="*/ 1197485 h 6879321"/>
              <a:gd name="connsiteX15" fmla="*/ 4767548 w 6116569"/>
              <a:gd name="connsiteY15" fmla="*/ 1346727 h 6879321"/>
              <a:gd name="connsiteX16" fmla="*/ 4539299 w 6116569"/>
              <a:gd name="connsiteY16" fmla="*/ 1421348 h 6879321"/>
              <a:gd name="connsiteX17" fmla="*/ 4607773 w 6116569"/>
              <a:gd name="connsiteY17" fmla="*/ 1485309 h 6879321"/>
              <a:gd name="connsiteX18" fmla="*/ 4579242 w 6116569"/>
              <a:gd name="connsiteY18" fmla="*/ 1535055 h 6879321"/>
              <a:gd name="connsiteX19" fmla="*/ 5278255 w 6116569"/>
              <a:gd name="connsiteY19" fmla="*/ 1609676 h 6879321"/>
              <a:gd name="connsiteX20" fmla="*/ 5771843 w 6116569"/>
              <a:gd name="connsiteY20" fmla="*/ 1630997 h 6879321"/>
              <a:gd name="connsiteX21" fmla="*/ 6105656 w 6116569"/>
              <a:gd name="connsiteY21" fmla="*/ 1748257 h 6879321"/>
              <a:gd name="connsiteX22" fmla="*/ 5691955 w 6116569"/>
              <a:gd name="connsiteY22" fmla="*/ 2167555 h 6879321"/>
              <a:gd name="connsiteX23" fmla="*/ 5475118 w 6116569"/>
              <a:gd name="connsiteY23" fmla="*/ 2348776 h 6879321"/>
              <a:gd name="connsiteX24" fmla="*/ 5826051 w 6116569"/>
              <a:gd name="connsiteY24" fmla="*/ 2291922 h 6879321"/>
              <a:gd name="connsiteX25" fmla="*/ 5552153 w 6116569"/>
              <a:gd name="connsiteY25" fmla="*/ 2597513 h 6879321"/>
              <a:gd name="connsiteX26" fmla="*/ 5603508 w 6116569"/>
              <a:gd name="connsiteY26" fmla="*/ 2647260 h 6879321"/>
              <a:gd name="connsiteX27" fmla="*/ 5700515 w 6116569"/>
              <a:gd name="connsiteY27" fmla="*/ 2679240 h 6879321"/>
              <a:gd name="connsiteX28" fmla="*/ 5246870 w 6116569"/>
              <a:gd name="connsiteY28" fmla="*/ 2888889 h 6879321"/>
              <a:gd name="connsiteX29" fmla="*/ 4836022 w 6116569"/>
              <a:gd name="connsiteY29" fmla="*/ 3169605 h 6879321"/>
              <a:gd name="connsiteX30" fmla="*/ 4736163 w 6116569"/>
              <a:gd name="connsiteY30" fmla="*/ 3233565 h 6879321"/>
              <a:gd name="connsiteX31" fmla="*/ 4853141 w 6116569"/>
              <a:gd name="connsiteY31" fmla="*/ 3233565 h 6879321"/>
              <a:gd name="connsiteX32" fmla="*/ 4944440 w 6116569"/>
              <a:gd name="connsiteY32" fmla="*/ 3226459 h 6879321"/>
              <a:gd name="connsiteX33" fmla="*/ 5109921 w 6116569"/>
              <a:gd name="connsiteY33" fmla="*/ 3283313 h 6879321"/>
              <a:gd name="connsiteX34" fmla="*/ 5694809 w 6116569"/>
              <a:gd name="connsiteY34" fmla="*/ 3141178 h 6879321"/>
              <a:gd name="connsiteX35" fmla="*/ 5566419 w 6116569"/>
              <a:gd name="connsiteY35" fmla="*/ 3301079 h 6879321"/>
              <a:gd name="connsiteX36" fmla="*/ 5415203 w 6116569"/>
              <a:gd name="connsiteY36" fmla="*/ 3397020 h 6879321"/>
              <a:gd name="connsiteX37" fmla="*/ 5612068 w 6116569"/>
              <a:gd name="connsiteY37" fmla="*/ 3432554 h 6879321"/>
              <a:gd name="connsiteX38" fmla="*/ 5206927 w 6116569"/>
              <a:gd name="connsiteY38" fmla="*/ 3599562 h 6879321"/>
              <a:gd name="connsiteX39" fmla="*/ 5301079 w 6116569"/>
              <a:gd name="connsiteY39" fmla="*/ 3723930 h 6879321"/>
              <a:gd name="connsiteX40" fmla="*/ 4507915 w 6116569"/>
              <a:gd name="connsiteY40" fmla="*/ 4306683 h 6879321"/>
              <a:gd name="connsiteX41" fmla="*/ 3982942 w 6116569"/>
              <a:gd name="connsiteY41" fmla="*/ 4587399 h 6879321"/>
              <a:gd name="connsiteX42" fmla="*/ 4185513 w 6116569"/>
              <a:gd name="connsiteY42" fmla="*/ 4541205 h 6879321"/>
              <a:gd name="connsiteX43" fmla="*/ 5212633 w 6116569"/>
              <a:gd name="connsiteY43" fmla="*/ 4455924 h 6879321"/>
              <a:gd name="connsiteX44" fmla="*/ 5312492 w 6116569"/>
              <a:gd name="connsiteY44" fmla="*/ 4473691 h 6879321"/>
              <a:gd name="connsiteX45" fmla="*/ 4596361 w 6116569"/>
              <a:gd name="connsiteY45" fmla="*/ 4818368 h 6879321"/>
              <a:gd name="connsiteX46" fmla="*/ 4873113 w 6116569"/>
              <a:gd name="connsiteY46" fmla="*/ 4885882 h 6879321"/>
              <a:gd name="connsiteX47" fmla="*/ 4935881 w 6116569"/>
              <a:gd name="connsiteY47" fmla="*/ 4914309 h 6879321"/>
              <a:gd name="connsiteX48" fmla="*/ 4873113 w 6116569"/>
              <a:gd name="connsiteY48" fmla="*/ 5003143 h 6879321"/>
              <a:gd name="connsiteX49" fmla="*/ 4721898 w 6116569"/>
              <a:gd name="connsiteY49" fmla="*/ 5095530 h 6879321"/>
              <a:gd name="connsiteX50" fmla="*/ 5132745 w 6116569"/>
              <a:gd name="connsiteY50" fmla="*/ 4949842 h 6879321"/>
              <a:gd name="connsiteX51" fmla="*/ 5101362 w 6116569"/>
              <a:gd name="connsiteY51" fmla="*/ 5081317 h 6879321"/>
              <a:gd name="connsiteX52" fmla="*/ 5138452 w 6116569"/>
              <a:gd name="connsiteY52" fmla="*/ 5198578 h 6879321"/>
              <a:gd name="connsiteX53" fmla="*/ 4904497 w 6116569"/>
              <a:gd name="connsiteY53" fmla="*/ 5362033 h 6879321"/>
              <a:gd name="connsiteX54" fmla="*/ 4579242 w 6116569"/>
              <a:gd name="connsiteY54" fmla="*/ 5674729 h 6879321"/>
              <a:gd name="connsiteX55" fmla="*/ 4253988 w 6116569"/>
              <a:gd name="connsiteY55" fmla="*/ 5884379 h 6879321"/>
              <a:gd name="connsiteX56" fmla="*/ 3985795 w 6116569"/>
              <a:gd name="connsiteY56" fmla="*/ 6069153 h 6879321"/>
              <a:gd name="connsiteX57" fmla="*/ 4231163 w 6116569"/>
              <a:gd name="connsiteY57" fmla="*/ 6030066 h 6879321"/>
              <a:gd name="connsiteX58" fmla="*/ 3814609 w 6116569"/>
              <a:gd name="connsiteY58" fmla="*/ 6317889 h 6879321"/>
              <a:gd name="connsiteX59" fmla="*/ 3751840 w 6116569"/>
              <a:gd name="connsiteY59" fmla="*/ 6339209 h 6879321"/>
              <a:gd name="connsiteX60" fmla="*/ 3089919 w 6116569"/>
              <a:gd name="connsiteY60" fmla="*/ 6563071 h 6879321"/>
              <a:gd name="connsiteX61" fmla="*/ 2961529 w 6116569"/>
              <a:gd name="connsiteY61" fmla="*/ 6662566 h 6879321"/>
              <a:gd name="connsiteX62" fmla="*/ 3107038 w 6116569"/>
              <a:gd name="connsiteY62" fmla="*/ 6673226 h 6879321"/>
              <a:gd name="connsiteX63" fmla="*/ 3594919 w 6116569"/>
              <a:gd name="connsiteY63" fmla="*/ 6591499 h 6879321"/>
              <a:gd name="connsiteX64" fmla="*/ 3261106 w 6116569"/>
              <a:gd name="connsiteY64" fmla="*/ 6726527 h 6879321"/>
              <a:gd name="connsiteX65" fmla="*/ 3620597 w 6116569"/>
              <a:gd name="connsiteY65" fmla="*/ 6740740 h 6879321"/>
              <a:gd name="connsiteX66" fmla="*/ 3703337 w 6116569"/>
              <a:gd name="connsiteY66" fmla="*/ 6826020 h 6879321"/>
              <a:gd name="connsiteX67" fmla="*/ 3689072 w 6116569"/>
              <a:gd name="connsiteY67" fmla="*/ 6879321 h 6879321"/>
              <a:gd name="connsiteX68" fmla="*/ 0 w 6116569"/>
              <a:gd name="connsiteY68" fmla="*/ 6879321 h 68793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6116569" h="6879321">
                <a:moveTo>
                  <a:pt x="0" y="0"/>
                </a:moveTo>
                <a:lnTo>
                  <a:pt x="2935851" y="0"/>
                </a:lnTo>
                <a:cubicBezTo>
                  <a:pt x="3035710" y="10660"/>
                  <a:pt x="3138421" y="17767"/>
                  <a:pt x="3238280" y="31980"/>
                </a:cubicBezTo>
                <a:cubicBezTo>
                  <a:pt x="3817462" y="106602"/>
                  <a:pt x="3127009" y="277163"/>
                  <a:pt x="3660541" y="550772"/>
                </a:cubicBezTo>
                <a:cubicBezTo>
                  <a:pt x="3706191" y="575645"/>
                  <a:pt x="3757546" y="579199"/>
                  <a:pt x="3808902" y="589860"/>
                </a:cubicBezTo>
                <a:cubicBezTo>
                  <a:pt x="4008620" y="625393"/>
                  <a:pt x="4211192" y="618286"/>
                  <a:pt x="4413762" y="625393"/>
                </a:cubicBezTo>
                <a:cubicBezTo>
                  <a:pt x="4465118" y="628946"/>
                  <a:pt x="4525033" y="625393"/>
                  <a:pt x="4567830" y="721333"/>
                </a:cubicBezTo>
                <a:cubicBezTo>
                  <a:pt x="4425175" y="724888"/>
                  <a:pt x="4305344" y="731994"/>
                  <a:pt x="4171247" y="792401"/>
                </a:cubicBezTo>
                <a:cubicBezTo>
                  <a:pt x="4239722" y="859916"/>
                  <a:pt x="4322462" y="795955"/>
                  <a:pt x="4376671" y="842148"/>
                </a:cubicBezTo>
                <a:cubicBezTo>
                  <a:pt x="4428027" y="888342"/>
                  <a:pt x="4470824" y="891896"/>
                  <a:pt x="4527887" y="813722"/>
                </a:cubicBezTo>
                <a:cubicBezTo>
                  <a:pt x="4556417" y="774634"/>
                  <a:pt x="4604920" y="778187"/>
                  <a:pt x="4633452" y="799508"/>
                </a:cubicBezTo>
                <a:cubicBezTo>
                  <a:pt x="4781813" y="913216"/>
                  <a:pt x="4778960" y="909662"/>
                  <a:pt x="4947293" y="870576"/>
                </a:cubicBezTo>
                <a:cubicBezTo>
                  <a:pt x="5055712" y="845701"/>
                  <a:pt x="5166983" y="806615"/>
                  <a:pt x="5263988" y="820828"/>
                </a:cubicBezTo>
                <a:cubicBezTo>
                  <a:pt x="5275401" y="867022"/>
                  <a:pt x="5263988" y="888342"/>
                  <a:pt x="5249723" y="895449"/>
                </a:cubicBezTo>
                <a:cubicBezTo>
                  <a:pt x="5021475" y="1005604"/>
                  <a:pt x="4975825" y="1122864"/>
                  <a:pt x="4744723" y="1197485"/>
                </a:cubicBezTo>
                <a:cubicBezTo>
                  <a:pt x="4724751" y="1268552"/>
                  <a:pt x="4807491" y="1275660"/>
                  <a:pt x="4767548" y="1346727"/>
                </a:cubicBezTo>
                <a:cubicBezTo>
                  <a:pt x="4693367" y="1407134"/>
                  <a:pt x="4610627" y="1346727"/>
                  <a:pt x="4539299" y="1421348"/>
                </a:cubicBezTo>
                <a:cubicBezTo>
                  <a:pt x="4550712" y="1471094"/>
                  <a:pt x="4610627" y="1432008"/>
                  <a:pt x="4607773" y="1485309"/>
                </a:cubicBezTo>
                <a:cubicBezTo>
                  <a:pt x="4604920" y="1517288"/>
                  <a:pt x="4593508" y="1527948"/>
                  <a:pt x="4579242" y="1535055"/>
                </a:cubicBezTo>
                <a:cubicBezTo>
                  <a:pt x="4776107" y="1538608"/>
                  <a:pt x="5383820" y="1574142"/>
                  <a:pt x="5278255" y="1609676"/>
                </a:cubicBezTo>
                <a:cubicBezTo>
                  <a:pt x="5418057" y="1698511"/>
                  <a:pt x="5623481" y="1609676"/>
                  <a:pt x="5771843" y="1630997"/>
                </a:cubicBezTo>
                <a:cubicBezTo>
                  <a:pt x="5925911" y="1652316"/>
                  <a:pt x="6171278" y="1719830"/>
                  <a:pt x="6105656" y="1748257"/>
                </a:cubicBezTo>
                <a:cubicBezTo>
                  <a:pt x="6031475" y="1780238"/>
                  <a:pt x="5766136" y="2146235"/>
                  <a:pt x="5691955" y="2167555"/>
                </a:cubicBezTo>
                <a:cubicBezTo>
                  <a:pt x="5606362" y="2188875"/>
                  <a:pt x="5589243" y="2217302"/>
                  <a:pt x="5475118" y="2348776"/>
                </a:cubicBezTo>
                <a:cubicBezTo>
                  <a:pt x="5398085" y="2437610"/>
                  <a:pt x="5709074" y="2238623"/>
                  <a:pt x="5826051" y="2291922"/>
                </a:cubicBezTo>
                <a:cubicBezTo>
                  <a:pt x="5868848" y="2309690"/>
                  <a:pt x="5552153" y="2554872"/>
                  <a:pt x="5552153" y="2597513"/>
                </a:cubicBezTo>
                <a:cubicBezTo>
                  <a:pt x="5549300" y="2640153"/>
                  <a:pt x="5577831" y="2647260"/>
                  <a:pt x="5603508" y="2647260"/>
                </a:cubicBezTo>
                <a:cubicBezTo>
                  <a:pt x="5660571" y="2647260"/>
                  <a:pt x="5640599" y="2686346"/>
                  <a:pt x="5700515" y="2679240"/>
                </a:cubicBezTo>
                <a:cubicBezTo>
                  <a:pt x="5523622" y="2800055"/>
                  <a:pt x="5418057" y="2778734"/>
                  <a:pt x="5246870" y="2888889"/>
                </a:cubicBezTo>
                <a:cubicBezTo>
                  <a:pt x="5164130" y="2942189"/>
                  <a:pt x="4921615" y="3119857"/>
                  <a:pt x="4836022" y="3169605"/>
                </a:cubicBezTo>
                <a:cubicBezTo>
                  <a:pt x="4801785" y="3187371"/>
                  <a:pt x="4758988" y="3173158"/>
                  <a:pt x="4736163" y="3233565"/>
                </a:cubicBezTo>
                <a:cubicBezTo>
                  <a:pt x="4770400" y="3279759"/>
                  <a:pt x="4816050" y="3254885"/>
                  <a:pt x="4853141" y="3233565"/>
                </a:cubicBezTo>
                <a:cubicBezTo>
                  <a:pt x="4944440" y="3176711"/>
                  <a:pt x="4935881" y="3190925"/>
                  <a:pt x="4944440" y="3226459"/>
                </a:cubicBezTo>
                <a:cubicBezTo>
                  <a:pt x="4972972" y="3350827"/>
                  <a:pt x="5044300" y="3308186"/>
                  <a:pt x="5109921" y="3283313"/>
                </a:cubicBezTo>
                <a:cubicBezTo>
                  <a:pt x="5303932" y="3208692"/>
                  <a:pt x="5500797" y="3215799"/>
                  <a:pt x="5694809" y="3141178"/>
                </a:cubicBezTo>
                <a:cubicBezTo>
                  <a:pt x="5714781" y="3134070"/>
                  <a:pt x="5612068" y="3283313"/>
                  <a:pt x="5566419" y="3301079"/>
                </a:cubicBezTo>
                <a:cubicBezTo>
                  <a:pt x="5515063" y="3322399"/>
                  <a:pt x="5452294" y="3311739"/>
                  <a:pt x="5415203" y="3397020"/>
                </a:cubicBezTo>
                <a:cubicBezTo>
                  <a:pt x="5477972" y="3414787"/>
                  <a:pt x="5552153" y="3372147"/>
                  <a:pt x="5612068" y="3432554"/>
                </a:cubicBezTo>
                <a:cubicBezTo>
                  <a:pt x="5469413" y="3528494"/>
                  <a:pt x="5329610" y="3535601"/>
                  <a:pt x="5206927" y="3599562"/>
                </a:cubicBezTo>
                <a:cubicBezTo>
                  <a:pt x="5192661" y="3706163"/>
                  <a:pt x="5272548" y="3663523"/>
                  <a:pt x="5301079" y="3723930"/>
                </a:cubicBezTo>
                <a:cubicBezTo>
                  <a:pt x="5072830" y="3844745"/>
                  <a:pt x="4564977" y="4232062"/>
                  <a:pt x="4507915" y="4306683"/>
                </a:cubicBezTo>
                <a:cubicBezTo>
                  <a:pt x="4390937" y="4463031"/>
                  <a:pt x="3900202" y="4562525"/>
                  <a:pt x="3982942" y="4587399"/>
                </a:cubicBezTo>
                <a:cubicBezTo>
                  <a:pt x="4051417" y="4608719"/>
                  <a:pt x="4119891" y="4587399"/>
                  <a:pt x="4185513" y="4541205"/>
                </a:cubicBezTo>
                <a:cubicBezTo>
                  <a:pt x="4291078" y="4466584"/>
                  <a:pt x="5010062" y="4523438"/>
                  <a:pt x="5212633" y="4455924"/>
                </a:cubicBezTo>
                <a:cubicBezTo>
                  <a:pt x="5241164" y="4445264"/>
                  <a:pt x="5283960" y="4409730"/>
                  <a:pt x="5312492" y="4473691"/>
                </a:cubicBezTo>
                <a:cubicBezTo>
                  <a:pt x="5098508" y="4704659"/>
                  <a:pt x="4833169" y="4654913"/>
                  <a:pt x="4596361" y="4818368"/>
                </a:cubicBezTo>
                <a:cubicBezTo>
                  <a:pt x="4684807" y="4917861"/>
                  <a:pt x="4776107" y="4907202"/>
                  <a:pt x="4873113" y="4885882"/>
                </a:cubicBezTo>
                <a:cubicBezTo>
                  <a:pt x="4895938" y="4878775"/>
                  <a:pt x="4930175" y="4871668"/>
                  <a:pt x="4935881" y="4914309"/>
                </a:cubicBezTo>
                <a:cubicBezTo>
                  <a:pt x="4941587" y="4967609"/>
                  <a:pt x="4898790" y="4978270"/>
                  <a:pt x="4873113" y="5003143"/>
                </a:cubicBezTo>
                <a:cubicBezTo>
                  <a:pt x="4833169" y="5038676"/>
                  <a:pt x="4773254" y="4999590"/>
                  <a:pt x="4721898" y="5095530"/>
                </a:cubicBezTo>
                <a:cubicBezTo>
                  <a:pt x="4873113" y="5067104"/>
                  <a:pt x="4998650" y="5020910"/>
                  <a:pt x="5132745" y="4949842"/>
                </a:cubicBezTo>
                <a:cubicBezTo>
                  <a:pt x="5121333" y="5006696"/>
                  <a:pt x="5081390" y="5035123"/>
                  <a:pt x="5101362" y="5081317"/>
                </a:cubicBezTo>
                <a:cubicBezTo>
                  <a:pt x="5118480" y="5116850"/>
                  <a:pt x="5164130" y="5131063"/>
                  <a:pt x="5138452" y="5198578"/>
                </a:cubicBezTo>
                <a:cubicBezTo>
                  <a:pt x="5067125" y="5273199"/>
                  <a:pt x="4967265" y="5258986"/>
                  <a:pt x="4904497" y="5362033"/>
                </a:cubicBezTo>
                <a:cubicBezTo>
                  <a:pt x="4818903" y="5507721"/>
                  <a:pt x="4684807" y="5564575"/>
                  <a:pt x="4579242" y="5674729"/>
                </a:cubicBezTo>
                <a:cubicBezTo>
                  <a:pt x="4545005" y="5713816"/>
                  <a:pt x="4313903" y="5841738"/>
                  <a:pt x="4253988" y="5884379"/>
                </a:cubicBezTo>
                <a:cubicBezTo>
                  <a:pt x="4168395" y="5944786"/>
                  <a:pt x="4071389" y="5966106"/>
                  <a:pt x="3985795" y="6069153"/>
                </a:cubicBezTo>
                <a:cubicBezTo>
                  <a:pt x="4065682" y="6086921"/>
                  <a:pt x="4134157" y="5990979"/>
                  <a:pt x="4231163" y="6030066"/>
                </a:cubicBezTo>
                <a:cubicBezTo>
                  <a:pt x="4074242" y="6133114"/>
                  <a:pt x="3931586" y="6182861"/>
                  <a:pt x="3814609" y="6317889"/>
                </a:cubicBezTo>
                <a:cubicBezTo>
                  <a:pt x="3800343" y="6335656"/>
                  <a:pt x="3771812" y="6332102"/>
                  <a:pt x="3751840" y="6339209"/>
                </a:cubicBezTo>
                <a:cubicBezTo>
                  <a:pt x="3529298" y="6406723"/>
                  <a:pt x="3309608" y="6467130"/>
                  <a:pt x="3089919" y="6563071"/>
                </a:cubicBezTo>
                <a:cubicBezTo>
                  <a:pt x="3041416" y="6584392"/>
                  <a:pt x="2955823" y="6595052"/>
                  <a:pt x="2961529" y="6662566"/>
                </a:cubicBezTo>
                <a:cubicBezTo>
                  <a:pt x="2972941" y="6765613"/>
                  <a:pt x="3055681" y="6687439"/>
                  <a:pt x="3107038" y="6673226"/>
                </a:cubicBezTo>
                <a:cubicBezTo>
                  <a:pt x="3269664" y="6634138"/>
                  <a:pt x="3432292" y="6570178"/>
                  <a:pt x="3594919" y="6591499"/>
                </a:cubicBezTo>
                <a:cubicBezTo>
                  <a:pt x="3483648" y="6637693"/>
                  <a:pt x="3372376" y="6680332"/>
                  <a:pt x="3261106" y="6726527"/>
                </a:cubicBezTo>
                <a:cubicBezTo>
                  <a:pt x="3386642" y="6705206"/>
                  <a:pt x="3495061" y="6786934"/>
                  <a:pt x="3620597" y="6740740"/>
                </a:cubicBezTo>
                <a:cubicBezTo>
                  <a:pt x="3660541" y="6726527"/>
                  <a:pt x="3700484" y="6765613"/>
                  <a:pt x="3703337" y="6826020"/>
                </a:cubicBezTo>
                <a:cubicBezTo>
                  <a:pt x="3706191" y="6847340"/>
                  <a:pt x="3700484" y="6865108"/>
                  <a:pt x="3689072" y="6879321"/>
                </a:cubicBezTo>
                <a:lnTo>
                  <a:pt x="0" y="6879321"/>
                </a:lnTo>
                <a:close/>
              </a:path>
            </a:pathLst>
          </a:custGeom>
          <a:solidFill>
            <a:schemeClr val="bg2">
              <a:alpha val="50000"/>
            </a:schemeClr>
          </a:solidFill>
          <a:ln w="32707" cap="flat">
            <a:noFill/>
            <a:prstDash val="solid"/>
            <a:miter/>
          </a:ln>
        </p:spPr>
        <p:txBody>
          <a:bodyPr wrap="square" rtlCol="0" anchor="ctr">
            <a:noAutofit/>
          </a:bodyPr>
          <a:lstStyle/>
          <a:p>
            <a:pPr algn="ctr"/>
            <a:endParaRPr lang="en-US"/>
          </a:p>
        </p:txBody>
      </p:sp>
      <p:sp>
        <p:nvSpPr>
          <p:cNvPr id="3" name="Content Placeholder 2"/>
          <p:cNvSpPr>
            <a:spLocks noGrp="1"/>
          </p:cNvSpPr>
          <p:nvPr>
            <p:ph idx="1"/>
          </p:nvPr>
        </p:nvSpPr>
        <p:spPr>
          <a:xfrm>
            <a:off x="4686300" y="2497257"/>
            <a:ext cx="3829048" cy="3679705"/>
          </a:xfrm>
        </p:spPr>
        <p:txBody>
          <a:bodyPr>
            <a:normAutofit/>
          </a:bodyPr>
          <a:lstStyle/>
          <a:p>
            <a:pPr>
              <a:defRPr sz="1800"/>
            </a:pPr>
            <a:r>
              <a:rPr lang="en-US" sz="1700" b="1" dirty="0">
                <a:latin typeface="Calibri"/>
              </a:rPr>
              <a:t>Email consumes majority of effective agent hours due to long handling times and no concurrency.</a:t>
            </a:r>
          </a:p>
          <a:p>
            <a:pPr>
              <a:defRPr sz="1800"/>
            </a:pPr>
            <a:r>
              <a:rPr lang="en-US" sz="1700" dirty="0">
                <a:latin typeface="Calibri"/>
              </a:rPr>
              <a:t>Chat is the cheapest per interaction, thanks to concurrency.</a:t>
            </a:r>
          </a:p>
          <a:p>
            <a:pPr>
              <a:defRPr sz="1800"/>
            </a:pPr>
            <a:r>
              <a:rPr lang="en-US" sz="1700" dirty="0">
                <a:latin typeface="Calibri"/>
              </a:rPr>
              <a:t>Calls offer a good balance: strong resolution quality at a moderate cost per interaction.</a:t>
            </a:r>
          </a:p>
          <a:p>
            <a:pPr>
              <a:defRPr sz="1800"/>
            </a:pPr>
            <a:r>
              <a:rPr lang="en-US" sz="1700" dirty="0">
                <a:latin typeface="Calibri"/>
              </a:rPr>
              <a:t>Implication: shift simple, repetitive emails into self-service or structured flows; improve chat journeys before scaling.</a:t>
            </a:r>
          </a:p>
        </p:txBody>
      </p:sp>
      <p:graphicFrame>
        <p:nvGraphicFramePr>
          <p:cNvPr id="4" name="Chart 3">
            <a:extLst>
              <a:ext uri="{FF2B5EF4-FFF2-40B4-BE49-F238E27FC236}">
                <a16:creationId xmlns:a16="http://schemas.microsoft.com/office/drawing/2014/main" id="{9881860D-67E3-2782-A1C3-4402795D975C}"/>
              </a:ext>
            </a:extLst>
          </p:cNvPr>
          <p:cNvGraphicFramePr>
            <a:graphicFrameLocks/>
          </p:cNvGraphicFramePr>
          <p:nvPr>
            <p:extLst>
              <p:ext uri="{D42A27DB-BD31-4B8C-83A1-F6EECF244321}">
                <p14:modId xmlns:p14="http://schemas.microsoft.com/office/powerpoint/2010/main" val="3177124633"/>
              </p:ext>
            </p:extLst>
          </p:nvPr>
        </p:nvGraphicFramePr>
        <p:xfrm>
          <a:off x="450850" y="603505"/>
          <a:ext cx="3371342" cy="5444148"/>
        </p:xfrm>
        <a:graphic>
          <a:graphicData uri="http://schemas.openxmlformats.org/drawingml/2006/chart">
            <c:chart xmlns:c="http://schemas.openxmlformats.org/drawingml/2006/chart" xmlns:r="http://schemas.openxmlformats.org/officeDocument/2006/relationships" r:id="rId2"/>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2621</TotalTime>
  <Words>1060</Words>
  <Application>Microsoft Office PowerPoint</Application>
  <PresentationFormat>On-screen Show (4:3)</PresentationFormat>
  <Paragraphs>63</Paragraphs>
  <Slides>11</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Operations Analytics Lead – Case Study Dec’25</vt:lpstr>
      <vt:lpstr>Agenda</vt:lpstr>
      <vt:lpstr>Context &amp; Dataset</vt:lpstr>
      <vt:lpstr>Key Concepts &amp; Definitions</vt:lpstr>
      <vt:lpstr>Executive Summary</vt:lpstr>
      <vt:lpstr>Q1 - The resolution window is 7 days; we would like to optimize this timeframe. Recommend a new one and justify.   A 7-day window already captures the majority of recontacts; longer windows add diminishing returns.</vt:lpstr>
      <vt:lpstr>Q2 - Which channel performed the best/worst in each country in 2024?   Overall chat has the lowest 7-day recontact rate, and email has the highest recontact rate</vt:lpstr>
      <vt:lpstr>Q3 – Which Agent Company performed the best?  COMPANY_3 delivers the lowest 7-day recontact rate, while COMPANY_1 has the highest recontact rate on the largest volume</vt:lpstr>
      <vt:lpstr>Q4 -What percentage of merchants contacted multiple times, and which products were most frequently recontacted?  ~50% of merchants contact support more than once in the year; product with highest repeat contacts are Profile, Hardware and Misc.</vt:lpstr>
      <vt:lpstr>Q5 – How would you associate costs with each channel?  Cost allocation per channel methodology</vt:lpstr>
      <vt:lpstr>Q5 – How would you associate costs with each channel?  Chat channel is the cheapest per interaction  with average cost per interaction being ~€1.72</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Abeer Khan</dc:creator>
  <cp:keywords/>
  <dc:description>generated using python-pptx</dc:description>
  <cp:lastModifiedBy>Abeer Khan</cp:lastModifiedBy>
  <cp:revision>29</cp:revision>
  <dcterms:created xsi:type="dcterms:W3CDTF">2013-01-27T09:14:16Z</dcterms:created>
  <dcterms:modified xsi:type="dcterms:W3CDTF">2025-12-11T20:58:12Z</dcterms:modified>
  <cp:category/>
</cp:coreProperties>
</file>